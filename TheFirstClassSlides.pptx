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Lst>
  <p:sldSz cy="6858000" cx="12192000"/>
  <p:notesSz cx="6858000" cy="9144000"/>
  <p:embeddedFontLst>
    <p:embeddedFont>
      <p:font typeface="IBM Plex Sans"/>
      <p:regular r:id="rId96"/>
      <p:bold r:id="rId97"/>
      <p:italic r:id="rId98"/>
      <p:boldItalic r:id="rId99"/>
    </p:embeddedFont>
    <p:embeddedFont>
      <p:font typeface="Gill Sans"/>
      <p:regular r:id="rId100"/>
      <p:bold r:id="rId10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2" roundtripDataSignature="AMtx7mhVqGu3TJBQQ1kwcdLd+8YlRr0r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102" Type="http://customschemas.google.com/relationships/presentationmetadata" Target="metadata"/><Relationship Id="rId101" Type="http://schemas.openxmlformats.org/officeDocument/2006/relationships/font" Target="fonts/GillSans-bold.fntdata"/><Relationship Id="rId100" Type="http://schemas.openxmlformats.org/officeDocument/2006/relationships/font" Target="fonts/GillSans-regular.fntdata"/><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95" Type="http://schemas.openxmlformats.org/officeDocument/2006/relationships/slide" Target="slides/slide91.xml"/><Relationship Id="rId94" Type="http://schemas.openxmlformats.org/officeDocument/2006/relationships/slide" Target="slides/slide90.xml"/><Relationship Id="rId97" Type="http://schemas.openxmlformats.org/officeDocument/2006/relationships/font" Target="fonts/IBMPlexSans-bold.fntdata"/><Relationship Id="rId96" Type="http://schemas.openxmlformats.org/officeDocument/2006/relationships/font" Target="fonts/IBMPlexSans-regular.fntdata"/><Relationship Id="rId11" Type="http://schemas.openxmlformats.org/officeDocument/2006/relationships/slide" Target="slides/slide7.xml"/><Relationship Id="rId99" Type="http://schemas.openxmlformats.org/officeDocument/2006/relationships/font" Target="fonts/IBMPlexSans-boldItalic.fntdata"/><Relationship Id="rId10" Type="http://schemas.openxmlformats.org/officeDocument/2006/relationships/slide" Target="slides/slide6.xml"/><Relationship Id="rId98" Type="http://schemas.openxmlformats.org/officeDocument/2006/relationships/font" Target="fonts/IBMPlexSans-italic.fntdata"/><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slide" Target="slides/slide89.xml"/><Relationship Id="rId92" Type="http://schemas.openxmlformats.org/officeDocument/2006/relationships/slide" Target="slides/slide8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87" Type="http://schemas.openxmlformats.org/officeDocument/2006/relationships/slide" Target="slides/slide83.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93"/>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0"/>
              <a:buFont typeface="Gill Sans"/>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93"/>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0"/>
              </a:spcBef>
              <a:spcAft>
                <a:spcPts val="0"/>
              </a:spcAft>
              <a:buSzPts val="1800"/>
              <a:buNone/>
              <a:defRPr b="0" sz="180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17" name="Google Shape;17;p93"/>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93"/>
          <p:cNvSpPr txBox="1"/>
          <p:nvPr>
            <p:ph idx="11" type="ftr"/>
          </p:nvPr>
        </p:nvSpPr>
        <p:spPr>
          <a:xfrm>
            <a:off x="2416500" y="329307"/>
            <a:ext cx="4973915"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3"/>
          <p:cNvSpPr txBox="1"/>
          <p:nvPr>
            <p:ph idx="12" type="sldNum"/>
          </p:nvPr>
        </p:nvSpPr>
        <p:spPr>
          <a:xfrm>
            <a:off x="1437664"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0" name="Google Shape;20;p93"/>
          <p:cNvCxnSpPr/>
          <p:nvPr/>
        </p:nvCxnSpPr>
        <p:spPr>
          <a:xfrm>
            <a:off x="2417780" y="3528542"/>
            <a:ext cx="863707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9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4"/>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4" name="Google Shape;24;p94"/>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4"/>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7" name="Google Shape;27;p94"/>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95"/>
          <p:cNvSpPr txBox="1"/>
          <p:nvPr>
            <p:ph type="title"/>
          </p:nvPr>
        </p:nvSpPr>
        <p:spPr>
          <a:xfrm>
            <a:off x="1454239" y="1756130"/>
            <a:ext cx="8643154" cy="1887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95"/>
          <p:cNvSpPr txBox="1"/>
          <p:nvPr>
            <p:ph idx="1" type="body"/>
          </p:nvPr>
        </p:nvSpPr>
        <p:spPr>
          <a:xfrm>
            <a:off x="1454239" y="3806195"/>
            <a:ext cx="8630446"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800"/>
              <a:buNone/>
              <a:defRPr sz="18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31" name="Google Shape;31;p95"/>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5"/>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9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4" name="Google Shape;34;p95"/>
          <p:cNvCxnSpPr/>
          <p:nvPr/>
        </p:nvCxnSpPr>
        <p:spPr>
          <a:xfrm>
            <a:off x="1454239" y="3804985"/>
            <a:ext cx="8630446"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96"/>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96"/>
          <p:cNvSpPr txBox="1"/>
          <p:nvPr>
            <p:ph idx="1" type="body"/>
          </p:nvPr>
        </p:nvSpPr>
        <p:spPr>
          <a:xfrm>
            <a:off x="1447331" y="2010878"/>
            <a:ext cx="4645152" cy="3448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8" name="Google Shape;38;p96"/>
          <p:cNvSpPr txBox="1"/>
          <p:nvPr>
            <p:ph idx="2" type="body"/>
          </p:nvPr>
        </p:nvSpPr>
        <p:spPr>
          <a:xfrm>
            <a:off x="6413771" y="2017343"/>
            <a:ext cx="4645152" cy="3441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9" name="Google Shape;39;p96"/>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96"/>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9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2" name="Google Shape;42;p96"/>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97"/>
          <p:cNvSpPr txBox="1"/>
          <p:nvPr>
            <p:ph type="title"/>
          </p:nvPr>
        </p:nvSpPr>
        <p:spPr>
          <a:xfrm>
            <a:off x="1447191" y="804163"/>
            <a:ext cx="9607661" cy="105631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97"/>
          <p:cNvSpPr txBox="1"/>
          <p:nvPr>
            <p:ph idx="1" type="body"/>
          </p:nvPr>
        </p:nvSpPr>
        <p:spPr>
          <a:xfrm>
            <a:off x="1447191" y="2019549"/>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46" name="Google Shape;46;p97"/>
          <p:cNvSpPr txBox="1"/>
          <p:nvPr>
            <p:ph idx="2" type="body"/>
          </p:nvPr>
        </p:nvSpPr>
        <p:spPr>
          <a:xfrm>
            <a:off x="1447191" y="2824269"/>
            <a:ext cx="4645152" cy="264445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7" name="Google Shape;47;p97"/>
          <p:cNvSpPr txBox="1"/>
          <p:nvPr>
            <p:ph idx="3" type="body"/>
          </p:nvPr>
        </p:nvSpPr>
        <p:spPr>
          <a:xfrm>
            <a:off x="6412362" y="2023003"/>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48" name="Google Shape;48;p97"/>
          <p:cNvSpPr txBox="1"/>
          <p:nvPr>
            <p:ph idx="4" type="body"/>
          </p:nvPr>
        </p:nvSpPr>
        <p:spPr>
          <a:xfrm>
            <a:off x="6412362" y="2821491"/>
            <a:ext cx="4645152" cy="263737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9" name="Google Shape;49;p97"/>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97"/>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9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2" name="Google Shape;52;p97"/>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9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98"/>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8"/>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8" name="Google Shape;58;p98"/>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99"/>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9"/>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100"/>
          <p:cNvSpPr txBox="1"/>
          <p:nvPr>
            <p:ph type="title"/>
          </p:nvPr>
        </p:nvSpPr>
        <p:spPr>
          <a:xfrm>
            <a:off x="1444671" y="798973"/>
            <a:ext cx="3273099" cy="22471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00"/>
          <p:cNvSpPr txBox="1"/>
          <p:nvPr>
            <p:ph idx="1" type="body"/>
          </p:nvPr>
        </p:nvSpPr>
        <p:spPr>
          <a:xfrm>
            <a:off x="5043714" y="798974"/>
            <a:ext cx="6012470" cy="4658826"/>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6" name="Google Shape;66;p100"/>
          <p:cNvSpPr txBox="1"/>
          <p:nvPr>
            <p:ph idx="2" type="body"/>
          </p:nvPr>
        </p:nvSpPr>
        <p:spPr>
          <a:xfrm>
            <a:off x="1444671" y="3205491"/>
            <a:ext cx="3275013" cy="224818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67" name="Google Shape;67;p100"/>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0"/>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0" name="Google Shape;70;p100"/>
          <p:cNvCxnSpPr/>
          <p:nvPr/>
        </p:nvCxnSpPr>
        <p:spPr>
          <a:xfrm>
            <a:off x="1448280" y="3205491"/>
            <a:ext cx="326949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grpSp>
        <p:nvGrpSpPr>
          <p:cNvPr id="72" name="Google Shape;72;p101"/>
          <p:cNvGrpSpPr/>
          <p:nvPr/>
        </p:nvGrpSpPr>
        <p:grpSpPr>
          <a:xfrm>
            <a:off x="7477387" y="482170"/>
            <a:ext cx="4074533" cy="5149101"/>
            <a:chOff x="7477387" y="482170"/>
            <a:chExt cx="4074533" cy="5149101"/>
          </a:xfrm>
        </p:grpSpPr>
        <p:sp>
          <p:nvSpPr>
            <p:cNvPr id="73" name="Google Shape;73;p101"/>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372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01"/>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 name="Google Shape;75;p101"/>
          <p:cNvSpPr txBox="1"/>
          <p:nvPr>
            <p:ph type="title"/>
          </p:nvPr>
        </p:nvSpPr>
        <p:spPr>
          <a:xfrm>
            <a:off x="1451206" y="1129513"/>
            <a:ext cx="5532328" cy="18305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01"/>
          <p:cNvSpPr/>
          <p:nvPr>
            <p:ph idx="2" type="pic"/>
          </p:nvPr>
        </p:nvSpPr>
        <p:spPr>
          <a:xfrm>
            <a:off x="8124389" y="1122542"/>
            <a:ext cx="2791171" cy="3866327"/>
          </a:xfrm>
          <a:prstGeom prst="rect">
            <a:avLst/>
          </a:prstGeom>
          <a:solidFill>
            <a:srgbClr val="D8D8D8"/>
          </a:solidFill>
          <a:ln>
            <a:noFill/>
          </a:ln>
        </p:spPr>
      </p:sp>
      <p:sp>
        <p:nvSpPr>
          <p:cNvPr id="77" name="Google Shape;77;p101"/>
          <p:cNvSpPr txBox="1"/>
          <p:nvPr>
            <p:ph idx="1" type="body"/>
          </p:nvPr>
        </p:nvSpPr>
        <p:spPr>
          <a:xfrm>
            <a:off x="1450329" y="3145992"/>
            <a:ext cx="5524404" cy="20037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8" name="Google Shape;78;p101"/>
          <p:cNvSpPr txBox="1"/>
          <p:nvPr>
            <p:ph idx="10" type="dt"/>
          </p:nvPr>
        </p:nvSpPr>
        <p:spPr>
          <a:xfrm>
            <a:off x="1447382" y="5469856"/>
            <a:ext cx="5527351" cy="32012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1"/>
          <p:cNvSpPr txBox="1"/>
          <p:nvPr>
            <p:ph idx="11" type="ftr"/>
          </p:nvPr>
        </p:nvSpPr>
        <p:spPr>
          <a:xfrm>
            <a:off x="1447382" y="318640"/>
            <a:ext cx="5541004" cy="32093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0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1" name="Google Shape;81;p101"/>
          <p:cNvCxnSpPr/>
          <p:nvPr/>
        </p:nvCxnSpPr>
        <p:spPr>
          <a:xfrm>
            <a:off x="1447382" y="3143605"/>
            <a:ext cx="552735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10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02"/>
          <p:cNvSpPr txBox="1"/>
          <p:nvPr>
            <p:ph idx="1" type="body"/>
          </p:nvPr>
        </p:nvSpPr>
        <p:spPr>
          <a:xfrm rot="5400000">
            <a:off x="4527910" y="-1060599"/>
            <a:ext cx="3450613" cy="96032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85" name="Google Shape;85;p10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0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0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8" name="Google Shape;88;p102"/>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103"/>
          <p:cNvSpPr txBox="1"/>
          <p:nvPr>
            <p:ph type="title"/>
          </p:nvPr>
        </p:nvSpPr>
        <p:spPr>
          <a:xfrm rot="5400000">
            <a:off x="7917038" y="2321047"/>
            <a:ext cx="4659889" cy="16157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03"/>
          <p:cNvSpPr txBox="1"/>
          <p:nvPr>
            <p:ph idx="1" type="body"/>
          </p:nvPr>
        </p:nvSpPr>
        <p:spPr>
          <a:xfrm rot="5400000">
            <a:off x="3029143" y="-785498"/>
            <a:ext cx="4659889" cy="782883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2" name="Google Shape;92;p103"/>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03"/>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0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95" name="Google Shape;95;p103"/>
          <p:cNvCxnSpPr/>
          <p:nvPr/>
        </p:nvCxnSpPr>
        <p:spPr>
          <a:xfrm>
            <a:off x="9439111" y="798973"/>
            <a:ext cx="0" cy="4659889"/>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5F5"/>
            </a:gs>
            <a:gs pos="100000">
              <a:srgbClr val="D0CFCF"/>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92"/>
          <p:cNvSpPr/>
          <p:nvPr/>
        </p:nvSpPr>
        <p:spPr>
          <a:xfrm>
            <a:off x="0" y="2019476"/>
            <a:ext cx="12192000" cy="4105941"/>
          </a:xfrm>
          <a:prstGeom prst="rect">
            <a:avLst/>
          </a:prstGeom>
          <a:gradFill>
            <a:gsLst>
              <a:gs pos="0">
                <a:srgbClr val="E7E6E6">
                  <a:alpha val="0"/>
                </a:srgbClr>
              </a:gs>
              <a:gs pos="100000">
                <a:schemeClr val="lt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 name="Google Shape;7;p92"/>
          <p:cNvPicPr preferRelativeResize="0"/>
          <p:nvPr/>
        </p:nvPicPr>
        <p:blipFill rotWithShape="1">
          <a:blip r:embed="rId1">
            <a:alphaModFix/>
          </a:blip>
          <a:srcRect b="-1538" l="0" r="0" t="1538"/>
          <a:stretch/>
        </p:blipFill>
        <p:spPr>
          <a:xfrm>
            <a:off x="0" y="6126480"/>
            <a:ext cx="12192000" cy="742950"/>
          </a:xfrm>
          <a:prstGeom prst="rect">
            <a:avLst/>
          </a:prstGeom>
          <a:noFill/>
          <a:ln>
            <a:noFill/>
          </a:ln>
        </p:spPr>
      </p:pic>
      <p:sp>
        <p:nvSpPr>
          <p:cNvPr id="8" name="Google Shape;8;p9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Gill Sans"/>
              <a:buNone/>
              <a:defRPr b="0" i="0" sz="3200" u="none" cap="none" strike="noStrik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9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20000"/>
              </a:lnSpc>
              <a:spcBef>
                <a:spcPts val="500"/>
              </a:spcBef>
              <a:spcAft>
                <a:spcPts val="0"/>
              </a:spcAft>
              <a:buClr>
                <a:schemeClr val="accent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Gill Sans"/>
                <a:ea typeface="Gill Sans"/>
                <a:cs typeface="Gill Sans"/>
                <a:sym typeface="Gill Sans"/>
              </a:defRPr>
            </a:lvl3pPr>
            <a:lvl4pPr indent="-317500" lvl="3" marL="1828800" marR="0" rtl="0" algn="l">
              <a:lnSpc>
                <a:spcPct val="120000"/>
              </a:lnSpc>
              <a:spcBef>
                <a:spcPts val="500"/>
              </a:spcBef>
              <a:spcAft>
                <a:spcPts val="0"/>
              </a:spcAft>
              <a:buClr>
                <a:schemeClr val="accent1"/>
              </a:buClr>
              <a:buSzPts val="1400"/>
              <a:buFont typeface="Arial"/>
              <a:buChar char="•"/>
              <a:defRPr b="0" i="0" sz="1400" u="none" cap="none" strike="noStrike">
                <a:solidFill>
                  <a:schemeClr val="dk1"/>
                </a:solidFill>
                <a:latin typeface="Gill Sans"/>
                <a:ea typeface="Gill Sans"/>
                <a:cs typeface="Gill Sans"/>
                <a:sym typeface="Gill Sans"/>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10" name="Google Shape;10;p9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1" name="Google Shape;11;p9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2" name="Google Shape;12;p9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2800" u="none" cap="none" strike="noStrike">
                <a:solidFill>
                  <a:schemeClr val="accent1"/>
                </a:solidFill>
                <a:latin typeface="Gill Sans"/>
                <a:ea typeface="Gill Sans"/>
                <a:cs typeface="Gill Sans"/>
                <a:sym typeface="Gill Sans"/>
              </a:defRPr>
            </a:lvl1pPr>
            <a:lvl2pPr indent="0" lvl="1" marL="0" marR="0" rtl="0" algn="r">
              <a:spcBef>
                <a:spcPts val="0"/>
              </a:spcBef>
              <a:buNone/>
              <a:defRPr b="0" i="0" sz="2800" u="none" cap="none" strike="noStrike">
                <a:solidFill>
                  <a:schemeClr val="accent1"/>
                </a:solidFill>
                <a:latin typeface="Gill Sans"/>
                <a:ea typeface="Gill Sans"/>
                <a:cs typeface="Gill Sans"/>
                <a:sym typeface="Gill Sans"/>
              </a:defRPr>
            </a:lvl2pPr>
            <a:lvl3pPr indent="0" lvl="2" marL="0" marR="0" rtl="0" algn="r">
              <a:spcBef>
                <a:spcPts val="0"/>
              </a:spcBef>
              <a:buNone/>
              <a:defRPr b="0" i="0" sz="2800" u="none" cap="none" strike="noStrike">
                <a:solidFill>
                  <a:schemeClr val="accent1"/>
                </a:solidFill>
                <a:latin typeface="Gill Sans"/>
                <a:ea typeface="Gill Sans"/>
                <a:cs typeface="Gill Sans"/>
                <a:sym typeface="Gill Sans"/>
              </a:defRPr>
            </a:lvl3pPr>
            <a:lvl4pPr indent="0" lvl="3" marL="0" marR="0" rtl="0" algn="r">
              <a:spcBef>
                <a:spcPts val="0"/>
              </a:spcBef>
              <a:buNone/>
              <a:defRPr b="0" i="0" sz="2800" u="none" cap="none" strike="noStrike">
                <a:solidFill>
                  <a:schemeClr val="accent1"/>
                </a:solidFill>
                <a:latin typeface="Gill Sans"/>
                <a:ea typeface="Gill Sans"/>
                <a:cs typeface="Gill Sans"/>
                <a:sym typeface="Gill Sans"/>
              </a:defRPr>
            </a:lvl4pPr>
            <a:lvl5pPr indent="0" lvl="4" marL="0" marR="0" rtl="0" algn="r">
              <a:spcBef>
                <a:spcPts val="0"/>
              </a:spcBef>
              <a:buNone/>
              <a:defRPr b="0" i="0" sz="2800" u="none" cap="none" strike="noStrike">
                <a:solidFill>
                  <a:schemeClr val="accent1"/>
                </a:solidFill>
                <a:latin typeface="Gill Sans"/>
                <a:ea typeface="Gill Sans"/>
                <a:cs typeface="Gill Sans"/>
                <a:sym typeface="Gill Sans"/>
              </a:defRPr>
            </a:lvl5pPr>
            <a:lvl6pPr indent="0" lvl="5" marL="0" marR="0" rtl="0" algn="r">
              <a:spcBef>
                <a:spcPts val="0"/>
              </a:spcBef>
              <a:buNone/>
              <a:defRPr b="0" i="0" sz="2800" u="none" cap="none" strike="noStrike">
                <a:solidFill>
                  <a:schemeClr val="accent1"/>
                </a:solidFill>
                <a:latin typeface="Gill Sans"/>
                <a:ea typeface="Gill Sans"/>
                <a:cs typeface="Gill Sans"/>
                <a:sym typeface="Gill Sans"/>
              </a:defRPr>
            </a:lvl6pPr>
            <a:lvl7pPr indent="0" lvl="6" marL="0" marR="0" rtl="0" algn="r">
              <a:spcBef>
                <a:spcPts val="0"/>
              </a:spcBef>
              <a:buNone/>
              <a:defRPr b="0" i="0" sz="2800" u="none" cap="none" strike="noStrike">
                <a:solidFill>
                  <a:schemeClr val="accent1"/>
                </a:solidFill>
                <a:latin typeface="Gill Sans"/>
                <a:ea typeface="Gill Sans"/>
                <a:cs typeface="Gill Sans"/>
                <a:sym typeface="Gill Sans"/>
              </a:defRPr>
            </a:lvl7pPr>
            <a:lvl8pPr indent="0" lvl="7" marL="0" marR="0" rtl="0" algn="r">
              <a:spcBef>
                <a:spcPts val="0"/>
              </a:spcBef>
              <a:buNone/>
              <a:defRPr b="0" i="0" sz="2800" u="none" cap="none" strike="noStrike">
                <a:solidFill>
                  <a:schemeClr val="accent1"/>
                </a:solidFill>
                <a:latin typeface="Gill Sans"/>
                <a:ea typeface="Gill Sans"/>
                <a:cs typeface="Gill Sans"/>
                <a:sym typeface="Gill Sans"/>
              </a:defRPr>
            </a:lvl8pPr>
            <a:lvl9pPr indent="0" lvl="8" marL="0" marR="0" rtl="0" algn="r">
              <a:spcBef>
                <a:spcPts val="0"/>
              </a:spcBef>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92"/>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colab.research.google.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7.pn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0.pn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0.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huggingface.co/Playground" TargetMode="External"/><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4.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4.png"/><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hyperlink" Target="https://gpt-tokenizer.dev/" TargetMode="External"/><Relationship Id="rId4" Type="http://schemas.openxmlformats.org/officeDocument/2006/relationships/hyperlink" Target="https://platform.openai.com/tokenizer" TargetMode="External"/></Relationships>
</file>

<file path=ppt/slides/_rels/slide51.xml.rels><?xml version="1.0" encoding="UTF-8" standalone="yes"?><Relationships xmlns="http://schemas.openxmlformats.org/package/2006/relationships"><Relationship Id="rId11" Type="http://schemas.openxmlformats.org/officeDocument/2006/relationships/hyperlink" Target="https://huggingface.co/learn/nlp-course/en/chapter2/3" TargetMode="External"/><Relationship Id="rId10" Type="http://schemas.openxmlformats.org/officeDocument/2006/relationships/hyperlink" Target="https://huggingface.co/blog/leaderboard-medicalllm" TargetMode="External"/><Relationship Id="rId13" Type="http://schemas.openxmlformats.org/officeDocument/2006/relationships/hyperlink" Target="https://huggingface.co/docs/transformers/main/en/chat_templating" TargetMode="External"/><Relationship Id="rId12" Type="http://schemas.openxmlformats.org/officeDocument/2006/relationships/hyperlink" Target="https://huggingface.co/learn/nlp-course/en/chapter2/4?fw=pt" TargetMode="External"/><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hyperlink" Target="https://huggingface.co/docs/transformers/main/en/main_classes/pipelines#transformers.TextGenerationPipeline" TargetMode="External"/><Relationship Id="rId4" Type="http://schemas.openxmlformats.org/officeDocument/2006/relationships/hyperlink" Target="https://huggingface.co/meta-llama/Meta-Llama-3-8B-Instruct" TargetMode="External"/><Relationship Id="rId9" Type="http://schemas.openxmlformats.org/officeDocument/2006/relationships/hyperlink" Target="https://huggingface.co/models?pipeline_tag=text-generation&amp;sort=trending" TargetMode="External"/><Relationship Id="rId15" Type="http://schemas.openxmlformats.org/officeDocument/2006/relationships/hyperlink" Target="https://huggingface.co/docs/transformers/en/llm_tutorial" TargetMode="External"/><Relationship Id="rId14" Type="http://schemas.openxmlformats.org/officeDocument/2006/relationships/hyperlink" Target="https://huggingface.co/learn/nlp-course/en/chapter2/4" TargetMode="External"/><Relationship Id="rId5" Type="http://schemas.openxmlformats.org/officeDocument/2006/relationships/hyperlink" Target="https://huggingface.co/models?pipeline_tag=text-generation&amp;sort=trending" TargetMode="External"/><Relationship Id="rId6" Type="http://schemas.openxmlformats.org/officeDocument/2006/relationships/hyperlink" Target="https://huggingface.co/docs/transformers/main/en/conversations#memory-considerations" TargetMode="External"/><Relationship Id="rId7" Type="http://schemas.openxmlformats.org/officeDocument/2006/relationships/hyperlink" Target="https://huggingface.co/spaces/HuggingFaceH4/open_llm_leaderboard" TargetMode="External"/><Relationship Id="rId8" Type="http://schemas.openxmlformats.org/officeDocument/2006/relationships/hyperlink" Target="https://chat.lmsys.org/?leaderboard"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0.png"/><Relationship Id="rId4" Type="http://schemas.openxmlformats.org/officeDocument/2006/relationships/image" Target="../media/image28.png"/><Relationship Id="rId5" Type="http://schemas.openxmlformats.org/officeDocument/2006/relationships/image" Target="../media/image2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4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2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1.png"/><Relationship Id="rId4" Type="http://schemas.openxmlformats.org/officeDocument/2006/relationships/image" Target="../media/image2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5.png"/><Relationship Id="rId4" Type="http://schemas.openxmlformats.org/officeDocument/2006/relationships/image" Target="../media/image32.png"/><Relationship Id="rId5" Type="http://schemas.openxmlformats.org/officeDocument/2006/relationships/image" Target="../media/image3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4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43.png"/><Relationship Id="rId4" Type="http://schemas.openxmlformats.org/officeDocument/2006/relationships/image" Target="../media/image4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5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43.png"/><Relationship Id="rId4" Type="http://schemas.openxmlformats.org/officeDocument/2006/relationships/image" Target="../media/image5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hyperlink" Target="https://huggingface.co/models?pipeline_tag=question-answering&amp;sort=downloads" TargetMode="External"/><Relationship Id="rId4" Type="http://schemas.openxmlformats.org/officeDocument/2006/relationships/image" Target="../media/image4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5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50.png"/><Relationship Id="rId4" Type="http://schemas.openxmlformats.org/officeDocument/2006/relationships/image" Target="../media/image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46.png"/><Relationship Id="rId4" Type="http://schemas.openxmlformats.org/officeDocument/2006/relationships/image" Target="../media/image38.png"/><Relationship Id="rId5" Type="http://schemas.openxmlformats.org/officeDocument/2006/relationships/image" Target="../media/image4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45.png"/><Relationship Id="rId4" Type="http://schemas.openxmlformats.org/officeDocument/2006/relationships/hyperlink" Target="https://cloud.google.com/vertex-ai/generative-ai/docs/learn/prompts/adjust-parameter-values#temperature"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47.png"/><Relationship Id="rId4" Type="http://schemas.openxmlformats.org/officeDocument/2006/relationships/image" Target="../media/image1.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5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5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4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1. WHAT IS AI</a:t>
            </a:r>
            <a:endParaRPr/>
          </a:p>
        </p:txBody>
      </p:sp>
      <p:sp>
        <p:nvSpPr>
          <p:cNvPr id="101" name="Google Shape;101;p1"/>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US"/>
              <a:t>INTELLIGENCE IS IN NUMBERS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AI = ARTIFICIAL INTELLIGENCE</a:t>
            </a:r>
            <a:endParaRPr/>
          </a:p>
        </p:txBody>
      </p:sp>
      <p:sp>
        <p:nvSpPr>
          <p:cNvPr id="107" name="Google Shape;107;p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AI – Artificial Intelligence also known as Machine Learning</a:t>
            </a:r>
            <a:endParaRPr/>
          </a:p>
          <a:p>
            <a:pPr indent="-228600" lvl="1" marL="685800" rtl="0" algn="l">
              <a:lnSpc>
                <a:spcPct val="120000"/>
              </a:lnSpc>
              <a:spcBef>
                <a:spcPts val="500"/>
              </a:spcBef>
              <a:spcAft>
                <a:spcPts val="0"/>
              </a:spcAft>
              <a:buSzPts val="1800"/>
              <a:buChar char="•"/>
            </a:pPr>
            <a:r>
              <a:rPr lang="en-US"/>
              <a:t>Allows machines to see</a:t>
            </a:r>
            <a:endParaRPr/>
          </a:p>
          <a:p>
            <a:pPr indent="-228600" lvl="1" marL="685800" rtl="0" algn="l">
              <a:lnSpc>
                <a:spcPct val="120000"/>
              </a:lnSpc>
              <a:spcBef>
                <a:spcPts val="500"/>
              </a:spcBef>
              <a:spcAft>
                <a:spcPts val="0"/>
              </a:spcAft>
              <a:buSzPts val="1800"/>
              <a:buChar char="•"/>
            </a:pPr>
            <a:r>
              <a:rPr lang="en-US"/>
              <a:t>Allows machines to hear</a:t>
            </a:r>
            <a:endParaRPr/>
          </a:p>
          <a:p>
            <a:pPr indent="-228600" lvl="1" marL="685800" rtl="0" algn="l">
              <a:lnSpc>
                <a:spcPct val="120000"/>
              </a:lnSpc>
              <a:spcBef>
                <a:spcPts val="500"/>
              </a:spcBef>
              <a:spcAft>
                <a:spcPts val="0"/>
              </a:spcAft>
              <a:buSzPts val="1800"/>
              <a:buChar char="•"/>
            </a:pPr>
            <a:r>
              <a:rPr lang="en-US"/>
              <a:t>Allows machines to think</a:t>
            </a:r>
            <a:endParaRPr/>
          </a:p>
          <a:p>
            <a:pPr indent="-228600" lvl="1" marL="685800" rtl="0" algn="l">
              <a:lnSpc>
                <a:spcPct val="120000"/>
              </a:lnSpc>
              <a:spcBef>
                <a:spcPts val="500"/>
              </a:spcBef>
              <a:spcAft>
                <a:spcPts val="0"/>
              </a:spcAft>
              <a:buSzPts val="1800"/>
              <a:buChar char="•"/>
            </a:pPr>
            <a:r>
              <a:rPr lang="en-US"/>
              <a:t>Allows machines to talk</a:t>
            </a:r>
            <a:endParaRPr/>
          </a:p>
          <a:p>
            <a:pPr indent="-228600" lvl="1" marL="685800" rtl="0" algn="l">
              <a:lnSpc>
                <a:spcPct val="120000"/>
              </a:lnSpc>
              <a:spcBef>
                <a:spcPts val="500"/>
              </a:spcBef>
              <a:spcAft>
                <a:spcPts val="0"/>
              </a:spcAft>
              <a:buSzPts val="1800"/>
              <a:buChar char="•"/>
            </a:pPr>
            <a:r>
              <a:rPr lang="en-US"/>
              <a:t>Allows machines to drive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AI KEY CONCEPTS</a:t>
            </a:r>
            <a:endParaRPr/>
          </a:p>
        </p:txBody>
      </p:sp>
      <p:sp>
        <p:nvSpPr>
          <p:cNvPr id="113" name="Google Shape;113;p3"/>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Data</a:t>
            </a:r>
            <a:endParaRPr/>
          </a:p>
          <a:p>
            <a:pPr indent="-228600" lvl="0" marL="228600" rtl="0" algn="l">
              <a:lnSpc>
                <a:spcPct val="120000"/>
              </a:lnSpc>
              <a:spcBef>
                <a:spcPts val="1000"/>
              </a:spcBef>
              <a:spcAft>
                <a:spcPts val="0"/>
              </a:spcAft>
              <a:buSzPts val="2000"/>
              <a:buChar char="•"/>
            </a:pPr>
            <a:r>
              <a:rPr lang="en-US"/>
              <a:t>Model</a:t>
            </a:r>
            <a:endParaRPr/>
          </a:p>
          <a:p>
            <a:pPr indent="-228600" lvl="0" marL="228600" rtl="0" algn="l">
              <a:lnSpc>
                <a:spcPct val="120000"/>
              </a:lnSpc>
              <a:spcBef>
                <a:spcPts val="1000"/>
              </a:spcBef>
              <a:spcAft>
                <a:spcPts val="0"/>
              </a:spcAft>
              <a:buSzPts val="2000"/>
              <a:buChar char="•"/>
            </a:pPr>
            <a:r>
              <a:rPr lang="en-US"/>
              <a:t>Task</a:t>
            </a:r>
            <a:endParaRPr/>
          </a:p>
          <a:p>
            <a:pPr indent="-228600" lvl="0" marL="228600" rtl="0" algn="l">
              <a:lnSpc>
                <a:spcPct val="120000"/>
              </a:lnSpc>
              <a:spcBef>
                <a:spcPts val="1000"/>
              </a:spcBef>
              <a:spcAft>
                <a:spcPts val="0"/>
              </a:spcAft>
              <a:buSzPts val="2000"/>
              <a:buChar char="•"/>
            </a:pPr>
            <a:r>
              <a:rPr lang="en-US"/>
              <a:t>Training</a:t>
            </a:r>
            <a:endParaRPr/>
          </a:p>
          <a:p>
            <a:pPr indent="-228600" lvl="0" marL="228600" rtl="0" algn="l">
              <a:lnSpc>
                <a:spcPct val="120000"/>
              </a:lnSpc>
              <a:spcBef>
                <a:spcPts val="1000"/>
              </a:spcBef>
              <a:spcAft>
                <a:spcPts val="0"/>
              </a:spcAft>
              <a:buSzPts val="2000"/>
              <a:buChar char="•"/>
            </a:pPr>
            <a:r>
              <a:rPr lang="en-US"/>
              <a:t>Inference</a:t>
            </a:r>
            <a:endParaRPr/>
          </a:p>
          <a:p>
            <a:pPr indent="-101600" lvl="0" marL="228600" rtl="0" algn="l">
              <a:lnSpc>
                <a:spcPct val="120000"/>
              </a:lnSpc>
              <a:spcBef>
                <a:spcPts val="1000"/>
              </a:spcBef>
              <a:spcAft>
                <a:spcPts val="0"/>
              </a:spcAft>
              <a:buSzPts val="2000"/>
              <a:buNone/>
            </a:pPr>
            <a:r>
              <a:t/>
            </a:r>
            <a:endParaRPr/>
          </a:p>
        </p:txBody>
      </p:sp>
      <p:grpSp>
        <p:nvGrpSpPr>
          <p:cNvPr id="114" name="Google Shape;114;p3"/>
          <p:cNvGrpSpPr/>
          <p:nvPr/>
        </p:nvGrpSpPr>
        <p:grpSpPr>
          <a:xfrm>
            <a:off x="5379990" y="2016125"/>
            <a:ext cx="1552337" cy="3449637"/>
            <a:chOff x="1578010" y="0"/>
            <a:chExt cx="1552337" cy="3449637"/>
          </a:xfrm>
        </p:grpSpPr>
        <p:sp>
          <p:nvSpPr>
            <p:cNvPr id="115" name="Google Shape;115;p3"/>
            <p:cNvSpPr/>
            <p:nvPr/>
          </p:nvSpPr>
          <p:spPr>
            <a:xfrm>
              <a:off x="1578010" y="0"/>
              <a:ext cx="1552337" cy="862409"/>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txBox="1"/>
            <p:nvPr/>
          </p:nvSpPr>
          <p:spPr>
            <a:xfrm>
              <a:off x="1603269" y="25259"/>
              <a:ext cx="1501819" cy="811891"/>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chemeClr val="lt1"/>
                </a:buClr>
                <a:buSzPts val="2300"/>
                <a:buFont typeface="Gill Sans"/>
                <a:buNone/>
              </a:pPr>
              <a:r>
                <a:rPr b="0" i="0" lang="en-US" sz="2300" u="none" cap="none" strike="noStrike">
                  <a:solidFill>
                    <a:schemeClr val="lt1"/>
                  </a:solidFill>
                  <a:latin typeface="Gill Sans"/>
                  <a:ea typeface="Gill Sans"/>
                  <a:cs typeface="Gill Sans"/>
                  <a:sym typeface="Gill Sans"/>
                </a:rPr>
                <a:t>Training Data</a:t>
              </a:r>
              <a:endParaRPr/>
            </a:p>
          </p:txBody>
        </p:sp>
        <p:sp>
          <p:nvSpPr>
            <p:cNvPr id="117" name="Google Shape;117;p3"/>
            <p:cNvSpPr/>
            <p:nvPr/>
          </p:nvSpPr>
          <p:spPr>
            <a:xfrm rot="5400000">
              <a:off x="2192477" y="883969"/>
              <a:ext cx="323403" cy="388084"/>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txBox="1"/>
            <p:nvPr/>
          </p:nvSpPr>
          <p:spPr>
            <a:xfrm>
              <a:off x="2237754" y="916310"/>
              <a:ext cx="232850" cy="22638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Gill Sans"/>
                <a:buNone/>
              </a:pPr>
              <a:r>
                <a:t/>
              </a:r>
              <a:endParaRPr b="0" i="0" sz="1700" u="none" cap="none" strike="noStrike">
                <a:solidFill>
                  <a:schemeClr val="lt1"/>
                </a:solidFill>
                <a:latin typeface="Gill Sans"/>
                <a:ea typeface="Gill Sans"/>
                <a:cs typeface="Gill Sans"/>
                <a:sym typeface="Gill Sans"/>
              </a:endParaRPr>
            </a:p>
          </p:txBody>
        </p:sp>
        <p:sp>
          <p:nvSpPr>
            <p:cNvPr id="119" name="Google Shape;119;p3"/>
            <p:cNvSpPr/>
            <p:nvPr/>
          </p:nvSpPr>
          <p:spPr>
            <a:xfrm>
              <a:off x="1578010" y="1293614"/>
              <a:ext cx="1552337" cy="862409"/>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txBox="1"/>
            <p:nvPr/>
          </p:nvSpPr>
          <p:spPr>
            <a:xfrm>
              <a:off x="1603269" y="1318873"/>
              <a:ext cx="1501819" cy="811891"/>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chemeClr val="lt1"/>
                </a:buClr>
                <a:buSzPts val="2300"/>
                <a:buFont typeface="Gill Sans"/>
                <a:buNone/>
              </a:pPr>
              <a:r>
                <a:rPr b="0" i="0" lang="en-US" sz="2300" u="none" cap="none" strike="noStrike">
                  <a:solidFill>
                    <a:schemeClr val="lt1"/>
                  </a:solidFill>
                  <a:latin typeface="Gill Sans"/>
                  <a:ea typeface="Gill Sans"/>
                  <a:cs typeface="Gill Sans"/>
                  <a:sym typeface="Gill Sans"/>
                </a:rPr>
                <a:t>Model</a:t>
              </a:r>
              <a:endParaRPr/>
            </a:p>
          </p:txBody>
        </p:sp>
        <p:sp>
          <p:nvSpPr>
            <p:cNvPr id="121" name="Google Shape;121;p3"/>
            <p:cNvSpPr/>
            <p:nvPr/>
          </p:nvSpPr>
          <p:spPr>
            <a:xfrm rot="5400000">
              <a:off x="2192477" y="2177583"/>
              <a:ext cx="323403" cy="388084"/>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txBox="1"/>
            <p:nvPr/>
          </p:nvSpPr>
          <p:spPr>
            <a:xfrm>
              <a:off x="2237754" y="2209924"/>
              <a:ext cx="232850" cy="22638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Gill Sans"/>
                <a:buNone/>
              </a:pPr>
              <a:r>
                <a:t/>
              </a:r>
              <a:endParaRPr b="0" i="0" sz="1700" u="none" cap="none" strike="noStrike">
                <a:solidFill>
                  <a:schemeClr val="lt1"/>
                </a:solidFill>
                <a:latin typeface="Gill Sans"/>
                <a:ea typeface="Gill Sans"/>
                <a:cs typeface="Gill Sans"/>
                <a:sym typeface="Gill Sans"/>
              </a:endParaRPr>
            </a:p>
          </p:txBody>
        </p:sp>
        <p:sp>
          <p:nvSpPr>
            <p:cNvPr id="123" name="Google Shape;123;p3"/>
            <p:cNvSpPr/>
            <p:nvPr/>
          </p:nvSpPr>
          <p:spPr>
            <a:xfrm>
              <a:off x="1578010" y="2587228"/>
              <a:ext cx="1552337" cy="862409"/>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txBox="1"/>
            <p:nvPr/>
          </p:nvSpPr>
          <p:spPr>
            <a:xfrm>
              <a:off x="1603269" y="2612487"/>
              <a:ext cx="1501819" cy="811891"/>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chemeClr val="lt1"/>
                </a:buClr>
                <a:buSzPts val="2300"/>
                <a:buFont typeface="Gill Sans"/>
                <a:buNone/>
              </a:pPr>
              <a:r>
                <a:rPr b="0" i="0" lang="en-US" sz="2300" u="none" cap="none" strike="noStrike">
                  <a:solidFill>
                    <a:schemeClr val="lt1"/>
                  </a:solidFill>
                  <a:latin typeface="Gill Sans"/>
                  <a:ea typeface="Gill Sans"/>
                  <a:cs typeface="Gill Sans"/>
                  <a:sym typeface="Gill Sans"/>
                </a:rPr>
                <a:t>Result</a:t>
              </a:r>
              <a:endParaRPr/>
            </a:p>
          </p:txBody>
        </p:sp>
      </p:grpSp>
      <p:sp>
        <p:nvSpPr>
          <p:cNvPr id="125" name="Google Shape;125;p3"/>
          <p:cNvSpPr txBox="1"/>
          <p:nvPr/>
        </p:nvSpPr>
        <p:spPr>
          <a:xfrm>
            <a:off x="5462337" y="5775158"/>
            <a:ext cx="9156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Gill Sans"/>
                <a:ea typeface="Gill Sans"/>
                <a:cs typeface="Gill Sans"/>
                <a:sym typeface="Gill Sans"/>
              </a:rPr>
              <a:t>Training</a:t>
            </a:r>
            <a:endParaRPr/>
          </a:p>
        </p:txBody>
      </p:sp>
      <p:grpSp>
        <p:nvGrpSpPr>
          <p:cNvPr id="126" name="Google Shape;126;p3"/>
          <p:cNvGrpSpPr/>
          <p:nvPr/>
        </p:nvGrpSpPr>
        <p:grpSpPr>
          <a:xfrm>
            <a:off x="9081705" y="2016126"/>
            <a:ext cx="1552337" cy="862409"/>
            <a:chOff x="1578010" y="0"/>
            <a:chExt cx="1552337" cy="862409"/>
          </a:xfrm>
        </p:grpSpPr>
        <p:sp>
          <p:nvSpPr>
            <p:cNvPr id="127" name="Google Shape;127;p3"/>
            <p:cNvSpPr/>
            <p:nvPr/>
          </p:nvSpPr>
          <p:spPr>
            <a:xfrm>
              <a:off x="1578010" y="0"/>
              <a:ext cx="1552337" cy="862409"/>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28" name="Google Shape;128;p3"/>
            <p:cNvSpPr txBox="1"/>
            <p:nvPr/>
          </p:nvSpPr>
          <p:spPr>
            <a:xfrm>
              <a:off x="1603269" y="25259"/>
              <a:ext cx="1501819" cy="811891"/>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chemeClr val="lt1"/>
                </a:buClr>
                <a:buSzPts val="2300"/>
                <a:buFont typeface="Gill Sans"/>
                <a:buNone/>
              </a:pPr>
              <a:r>
                <a:rPr lang="en-US" sz="2300">
                  <a:solidFill>
                    <a:schemeClr val="lt1"/>
                  </a:solidFill>
                  <a:latin typeface="Gill Sans"/>
                  <a:ea typeface="Gill Sans"/>
                  <a:cs typeface="Gill Sans"/>
                  <a:sym typeface="Gill Sans"/>
                </a:rPr>
                <a:t>Data</a:t>
              </a:r>
              <a:endParaRPr/>
            </a:p>
          </p:txBody>
        </p:sp>
      </p:grpSp>
      <p:grpSp>
        <p:nvGrpSpPr>
          <p:cNvPr id="129" name="Google Shape;129;p3"/>
          <p:cNvGrpSpPr/>
          <p:nvPr/>
        </p:nvGrpSpPr>
        <p:grpSpPr>
          <a:xfrm>
            <a:off x="9663832" y="2932435"/>
            <a:ext cx="388084" cy="323403"/>
            <a:chOff x="2160137" y="916310"/>
            <a:chExt cx="388084" cy="323403"/>
          </a:xfrm>
        </p:grpSpPr>
        <p:sp>
          <p:nvSpPr>
            <p:cNvPr id="130" name="Google Shape;130;p3"/>
            <p:cNvSpPr/>
            <p:nvPr/>
          </p:nvSpPr>
          <p:spPr>
            <a:xfrm rot="5400000">
              <a:off x="2192477" y="883969"/>
              <a:ext cx="323403" cy="388084"/>
            </a:xfrm>
            <a:prstGeom prst="rightArrow">
              <a:avLst>
                <a:gd fmla="val 60000" name="adj1"/>
                <a:gd fmla="val 50000" name="adj2"/>
              </a:avLst>
            </a:prstGeom>
            <a:solidFill>
              <a:srgbClr val="ABBA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31" name="Google Shape;131;p3"/>
            <p:cNvSpPr txBox="1"/>
            <p:nvPr/>
          </p:nvSpPr>
          <p:spPr>
            <a:xfrm>
              <a:off x="2237754" y="916310"/>
              <a:ext cx="232850" cy="22638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Gill Sans"/>
                <a:buNone/>
              </a:pPr>
              <a:r>
                <a:t/>
              </a:r>
              <a:endParaRPr sz="1700">
                <a:solidFill>
                  <a:schemeClr val="lt1"/>
                </a:solidFill>
                <a:latin typeface="Gill Sans"/>
                <a:ea typeface="Gill Sans"/>
                <a:cs typeface="Gill Sans"/>
                <a:sym typeface="Gill Sans"/>
              </a:endParaRPr>
            </a:p>
          </p:txBody>
        </p:sp>
      </p:grpSp>
      <p:grpSp>
        <p:nvGrpSpPr>
          <p:cNvPr id="132" name="Google Shape;132;p3"/>
          <p:cNvGrpSpPr/>
          <p:nvPr/>
        </p:nvGrpSpPr>
        <p:grpSpPr>
          <a:xfrm>
            <a:off x="9081705" y="3309740"/>
            <a:ext cx="1552337" cy="862409"/>
            <a:chOff x="1578010" y="1293614"/>
            <a:chExt cx="1552337" cy="862409"/>
          </a:xfrm>
        </p:grpSpPr>
        <p:sp>
          <p:nvSpPr>
            <p:cNvPr id="133" name="Google Shape;133;p3"/>
            <p:cNvSpPr/>
            <p:nvPr/>
          </p:nvSpPr>
          <p:spPr>
            <a:xfrm>
              <a:off x="1578010" y="1293614"/>
              <a:ext cx="1552337" cy="862409"/>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34" name="Google Shape;134;p3"/>
            <p:cNvSpPr txBox="1"/>
            <p:nvPr/>
          </p:nvSpPr>
          <p:spPr>
            <a:xfrm>
              <a:off x="1603269" y="1318873"/>
              <a:ext cx="1501819" cy="811891"/>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chemeClr val="lt1"/>
                </a:buClr>
                <a:buSzPts val="2300"/>
                <a:buFont typeface="Gill Sans"/>
                <a:buNone/>
              </a:pPr>
              <a:r>
                <a:rPr lang="en-US" sz="2300">
                  <a:solidFill>
                    <a:schemeClr val="lt1"/>
                  </a:solidFill>
                  <a:latin typeface="Gill Sans"/>
                  <a:ea typeface="Gill Sans"/>
                  <a:cs typeface="Gill Sans"/>
                  <a:sym typeface="Gill Sans"/>
                </a:rPr>
                <a:t>Model</a:t>
              </a:r>
              <a:endParaRPr/>
            </a:p>
          </p:txBody>
        </p:sp>
      </p:grpSp>
      <p:grpSp>
        <p:nvGrpSpPr>
          <p:cNvPr id="135" name="Google Shape;135;p3"/>
          <p:cNvGrpSpPr/>
          <p:nvPr/>
        </p:nvGrpSpPr>
        <p:grpSpPr>
          <a:xfrm>
            <a:off x="9663832" y="4226049"/>
            <a:ext cx="388084" cy="323403"/>
            <a:chOff x="2160137" y="2209924"/>
            <a:chExt cx="388084" cy="323403"/>
          </a:xfrm>
        </p:grpSpPr>
        <p:sp>
          <p:nvSpPr>
            <p:cNvPr id="136" name="Google Shape;136;p3"/>
            <p:cNvSpPr/>
            <p:nvPr/>
          </p:nvSpPr>
          <p:spPr>
            <a:xfrm rot="5400000">
              <a:off x="2192477" y="2177583"/>
              <a:ext cx="323403" cy="388084"/>
            </a:xfrm>
            <a:prstGeom prst="rightArrow">
              <a:avLst>
                <a:gd fmla="val 60000" name="adj1"/>
                <a:gd fmla="val 50000" name="adj2"/>
              </a:avLst>
            </a:prstGeom>
            <a:solidFill>
              <a:srgbClr val="ABBA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37" name="Google Shape;137;p3"/>
            <p:cNvSpPr txBox="1"/>
            <p:nvPr/>
          </p:nvSpPr>
          <p:spPr>
            <a:xfrm>
              <a:off x="2237754" y="2209924"/>
              <a:ext cx="232850" cy="22638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Gill Sans"/>
                <a:buNone/>
              </a:pPr>
              <a:r>
                <a:t/>
              </a:r>
              <a:endParaRPr sz="1700">
                <a:solidFill>
                  <a:schemeClr val="lt1"/>
                </a:solidFill>
                <a:latin typeface="Gill Sans"/>
                <a:ea typeface="Gill Sans"/>
                <a:cs typeface="Gill Sans"/>
                <a:sym typeface="Gill Sans"/>
              </a:endParaRPr>
            </a:p>
          </p:txBody>
        </p:sp>
      </p:grpSp>
      <p:grpSp>
        <p:nvGrpSpPr>
          <p:cNvPr id="138" name="Google Shape;138;p3"/>
          <p:cNvGrpSpPr/>
          <p:nvPr/>
        </p:nvGrpSpPr>
        <p:grpSpPr>
          <a:xfrm>
            <a:off x="9081705" y="4603354"/>
            <a:ext cx="1552337" cy="862409"/>
            <a:chOff x="1578010" y="2587228"/>
            <a:chExt cx="1552337" cy="862409"/>
          </a:xfrm>
        </p:grpSpPr>
        <p:sp>
          <p:nvSpPr>
            <p:cNvPr id="139" name="Google Shape;139;p3"/>
            <p:cNvSpPr/>
            <p:nvPr/>
          </p:nvSpPr>
          <p:spPr>
            <a:xfrm>
              <a:off x="1578010" y="2587228"/>
              <a:ext cx="1552337" cy="862409"/>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0" name="Google Shape;140;p3"/>
            <p:cNvSpPr txBox="1"/>
            <p:nvPr/>
          </p:nvSpPr>
          <p:spPr>
            <a:xfrm>
              <a:off x="1603269" y="2612487"/>
              <a:ext cx="1501819" cy="811891"/>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chemeClr val="lt1"/>
                </a:buClr>
                <a:buSzPts val="2300"/>
                <a:buFont typeface="Gill Sans"/>
                <a:buNone/>
              </a:pPr>
              <a:r>
                <a:rPr lang="en-US" sz="2300">
                  <a:solidFill>
                    <a:schemeClr val="lt1"/>
                  </a:solidFill>
                  <a:latin typeface="Gill Sans"/>
                  <a:ea typeface="Gill Sans"/>
                  <a:cs typeface="Gill Sans"/>
                  <a:sym typeface="Gill Sans"/>
                </a:rPr>
                <a:t>Result</a:t>
              </a:r>
              <a:endParaRPr/>
            </a:p>
          </p:txBody>
        </p:sp>
      </p:grpSp>
      <p:sp>
        <p:nvSpPr>
          <p:cNvPr id="141" name="Google Shape;141;p3"/>
          <p:cNvSpPr txBox="1"/>
          <p:nvPr/>
        </p:nvSpPr>
        <p:spPr>
          <a:xfrm>
            <a:off x="9312442" y="5590492"/>
            <a:ext cx="10482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Inference</a:t>
            </a:r>
            <a:endParaRPr/>
          </a:p>
        </p:txBody>
      </p:sp>
      <p:sp>
        <p:nvSpPr>
          <p:cNvPr id="142" name="Google Shape;142;p3"/>
          <p:cNvSpPr/>
          <p:nvPr/>
        </p:nvSpPr>
        <p:spPr>
          <a:xfrm>
            <a:off x="5366085" y="2414337"/>
            <a:ext cx="3144254" cy="2620221"/>
          </a:xfrm>
          <a:prstGeom prst="arc">
            <a:avLst>
              <a:gd fmla="val 16200000" name="adj1"/>
              <a:gd fmla="val 5180872" name="adj2"/>
            </a:avLst>
          </a:prstGeom>
          <a:noFill/>
          <a:ln cap="flat" cmpd="sng" w="9525">
            <a:solidFill>
              <a:schemeClr val="accent1"/>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43" name="Google Shape;143;p3"/>
          <p:cNvSpPr/>
          <p:nvPr/>
        </p:nvSpPr>
        <p:spPr>
          <a:xfrm rot="10800000">
            <a:off x="3890210" y="2413755"/>
            <a:ext cx="3144254" cy="2620221"/>
          </a:xfrm>
          <a:prstGeom prst="arc">
            <a:avLst>
              <a:gd fmla="val 16200000" name="adj1"/>
              <a:gd fmla="val 5180872" name="adj2"/>
            </a:avLst>
          </a:prstGeom>
          <a:noFill/>
          <a:ln cap="flat" cmpd="sng" w="9525">
            <a:solidFill>
              <a:schemeClr val="accent1"/>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WHAT IS A MODEL? </a:t>
            </a:r>
            <a:endParaRPr/>
          </a:p>
        </p:txBody>
      </p:sp>
      <p:sp>
        <p:nvSpPr>
          <p:cNvPr id="149" name="Google Shape;149;p4"/>
          <p:cNvSpPr txBox="1"/>
          <p:nvPr>
            <p:ph idx="1" type="body"/>
          </p:nvPr>
        </p:nvSpPr>
        <p:spPr>
          <a:xfrm>
            <a:off x="814867" y="2041086"/>
            <a:ext cx="5769836" cy="133706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SzPts val="2000"/>
              <a:buChar char="•"/>
            </a:pPr>
            <a:r>
              <a:rPr lang="en-US"/>
              <a:t>If A gives 2 Bananas to B, B gives 4 Apples to A</a:t>
            </a:r>
            <a:endParaRPr/>
          </a:p>
          <a:p>
            <a:pPr indent="-228600" lvl="0" marL="228600" rtl="0" algn="l">
              <a:lnSpc>
                <a:spcPct val="120000"/>
              </a:lnSpc>
              <a:spcBef>
                <a:spcPts val="1000"/>
              </a:spcBef>
              <a:spcAft>
                <a:spcPts val="0"/>
              </a:spcAft>
              <a:buSzPts val="2000"/>
              <a:buChar char="•"/>
            </a:pPr>
            <a:r>
              <a:rPr lang="en-US"/>
              <a:t>If A gives 3 Bananas to B, B gives 6 Apples to A</a:t>
            </a:r>
            <a:endParaRPr/>
          </a:p>
          <a:p>
            <a:pPr indent="-101600" lvl="0" marL="228600" rtl="0" algn="l">
              <a:lnSpc>
                <a:spcPct val="120000"/>
              </a:lnSpc>
              <a:spcBef>
                <a:spcPts val="1000"/>
              </a:spcBef>
              <a:spcAft>
                <a:spcPts val="0"/>
              </a:spcAft>
              <a:buSzPts val="2000"/>
              <a:buNone/>
            </a:pPr>
            <a:r>
              <a:t/>
            </a:r>
            <a:endParaRPr/>
          </a:p>
        </p:txBody>
      </p:sp>
      <p:sp>
        <p:nvSpPr>
          <p:cNvPr id="150" name="Google Shape;150;p4"/>
          <p:cNvSpPr txBox="1"/>
          <p:nvPr/>
        </p:nvSpPr>
        <p:spPr>
          <a:xfrm>
            <a:off x="9303845" y="2419007"/>
            <a:ext cx="9941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Y= W*X</a:t>
            </a:r>
            <a:endParaRPr/>
          </a:p>
        </p:txBody>
      </p:sp>
      <p:sp>
        <p:nvSpPr>
          <p:cNvPr id="151" name="Google Shape;151;p4"/>
          <p:cNvSpPr txBox="1"/>
          <p:nvPr/>
        </p:nvSpPr>
        <p:spPr>
          <a:xfrm>
            <a:off x="804672" y="3429000"/>
            <a:ext cx="6350313" cy="1337068"/>
          </a:xfrm>
          <a:prstGeom prst="rect">
            <a:avLst/>
          </a:prstGeom>
          <a:noFill/>
          <a:ln>
            <a:noFill/>
          </a:ln>
        </p:spPr>
        <p:txBody>
          <a:bodyPr anchorCtr="0" anchor="t" bIns="45700" lIns="91425" spcFirstLastPara="1" rIns="91425" wrap="square" tIns="45700">
            <a:normAutofit fontScale="85000"/>
          </a:bodyPr>
          <a:lstStyle/>
          <a:p>
            <a:pPr indent="-228600" lvl="0" marL="228600" marR="0" rtl="0" algn="l">
              <a:lnSpc>
                <a:spcPct val="120000"/>
              </a:lnSpc>
              <a:spcBef>
                <a:spcPts val="0"/>
              </a:spcBef>
              <a:spcAft>
                <a:spcPts val="0"/>
              </a:spcAft>
              <a:buClr>
                <a:schemeClr val="accent1"/>
              </a:buClr>
              <a:buSzPct val="100000"/>
              <a:buFont typeface="Arial"/>
              <a:buChar char="•"/>
            </a:pPr>
            <a:r>
              <a:rPr lang="en-US" sz="2000">
                <a:solidFill>
                  <a:schemeClr val="dk1"/>
                </a:solidFill>
                <a:latin typeface="Gill Sans"/>
                <a:ea typeface="Gill Sans"/>
                <a:cs typeface="Gill Sans"/>
                <a:sym typeface="Gill Sans"/>
              </a:rPr>
              <a:t>If A gives 2 </a:t>
            </a:r>
            <a:r>
              <a:rPr lang="en-US" sz="2000">
                <a:solidFill>
                  <a:schemeClr val="dk1"/>
                </a:solidFill>
                <a:latin typeface="Gill Sans"/>
                <a:ea typeface="Gill Sans"/>
                <a:cs typeface="Gill Sans"/>
                <a:sym typeface="Gill Sans"/>
              </a:rPr>
              <a:t>Bananas</a:t>
            </a:r>
            <a:r>
              <a:rPr lang="en-US" sz="2000">
                <a:solidFill>
                  <a:schemeClr val="dk1"/>
                </a:solidFill>
                <a:latin typeface="Gill Sans"/>
                <a:ea typeface="Gill Sans"/>
                <a:cs typeface="Gill Sans"/>
                <a:sym typeface="Gill Sans"/>
              </a:rPr>
              <a:t>, and 2 Apples to B, B gives 4 Oranges to A</a:t>
            </a:r>
            <a:endParaRPr/>
          </a:p>
          <a:p>
            <a:pPr indent="-228600" lvl="0" marL="228600" marR="0" rtl="0" algn="l">
              <a:lnSpc>
                <a:spcPct val="120000"/>
              </a:lnSpc>
              <a:spcBef>
                <a:spcPts val="1000"/>
              </a:spcBef>
              <a:spcAft>
                <a:spcPts val="0"/>
              </a:spcAft>
              <a:buClr>
                <a:schemeClr val="accent1"/>
              </a:buClr>
              <a:buSzPct val="100000"/>
              <a:buFont typeface="Arial"/>
              <a:buChar char="•"/>
            </a:pPr>
            <a:r>
              <a:rPr lang="en-US" sz="2000">
                <a:solidFill>
                  <a:schemeClr val="dk1"/>
                </a:solidFill>
                <a:latin typeface="Gill Sans"/>
                <a:ea typeface="Gill Sans"/>
                <a:cs typeface="Gill Sans"/>
                <a:sym typeface="Gill Sans"/>
              </a:rPr>
              <a:t>If A gives 1 Bananas, and 3 Apples to B, B gives 4 Oranges to A</a:t>
            </a:r>
            <a:endParaRPr/>
          </a:p>
          <a:p>
            <a:pPr indent="-120650" lvl="0" marL="228600" marR="0" rtl="0" algn="l">
              <a:lnSpc>
                <a:spcPct val="120000"/>
              </a:lnSpc>
              <a:spcBef>
                <a:spcPts val="1000"/>
              </a:spcBef>
              <a:spcAft>
                <a:spcPts val="0"/>
              </a:spcAft>
              <a:buClr>
                <a:schemeClr val="accent1"/>
              </a:buClr>
              <a:buSzPct val="100000"/>
              <a:buFont typeface="Arial"/>
              <a:buNone/>
            </a:pPr>
            <a:r>
              <a:t/>
            </a:r>
            <a:endParaRPr sz="2000">
              <a:solidFill>
                <a:schemeClr val="dk1"/>
              </a:solidFill>
              <a:latin typeface="Gill Sans"/>
              <a:ea typeface="Gill Sans"/>
              <a:cs typeface="Gill Sans"/>
              <a:sym typeface="Gill Sans"/>
            </a:endParaRPr>
          </a:p>
        </p:txBody>
      </p:sp>
      <p:sp>
        <p:nvSpPr>
          <p:cNvPr id="152" name="Google Shape;152;p4"/>
          <p:cNvSpPr txBox="1"/>
          <p:nvPr/>
        </p:nvSpPr>
        <p:spPr>
          <a:xfrm>
            <a:off x="7297571" y="2004873"/>
            <a:ext cx="10454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X=2, Y=4</a:t>
            </a:r>
            <a:endParaRPr/>
          </a:p>
        </p:txBody>
      </p:sp>
      <p:sp>
        <p:nvSpPr>
          <p:cNvPr id="153" name="Google Shape;153;p4"/>
          <p:cNvSpPr txBox="1"/>
          <p:nvPr/>
        </p:nvSpPr>
        <p:spPr>
          <a:xfrm>
            <a:off x="7297571" y="2622030"/>
            <a:ext cx="10454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X=3, Y=6</a:t>
            </a:r>
            <a:endParaRPr/>
          </a:p>
        </p:txBody>
      </p:sp>
      <p:sp>
        <p:nvSpPr>
          <p:cNvPr id="154" name="Google Shape;154;p4"/>
          <p:cNvSpPr txBox="1"/>
          <p:nvPr/>
        </p:nvSpPr>
        <p:spPr>
          <a:xfrm>
            <a:off x="11170188" y="2105583"/>
            <a:ext cx="6367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W=?</a:t>
            </a:r>
            <a:endParaRPr/>
          </a:p>
        </p:txBody>
      </p:sp>
      <p:sp>
        <p:nvSpPr>
          <p:cNvPr id="155" name="Google Shape;155;p4"/>
          <p:cNvSpPr txBox="1"/>
          <p:nvPr/>
        </p:nvSpPr>
        <p:spPr>
          <a:xfrm>
            <a:off x="7297571" y="3579445"/>
            <a:ext cx="18463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X1=2, X2=2, Y=4 </a:t>
            </a:r>
            <a:endParaRPr/>
          </a:p>
        </p:txBody>
      </p:sp>
      <p:sp>
        <p:nvSpPr>
          <p:cNvPr id="156" name="Google Shape;156;p4"/>
          <p:cNvSpPr txBox="1"/>
          <p:nvPr/>
        </p:nvSpPr>
        <p:spPr>
          <a:xfrm>
            <a:off x="7297571" y="4011936"/>
            <a:ext cx="18463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X1=1, X2=3, Y=4 </a:t>
            </a:r>
            <a:endParaRPr/>
          </a:p>
        </p:txBody>
      </p:sp>
      <p:sp>
        <p:nvSpPr>
          <p:cNvPr id="157" name="Google Shape;157;p4"/>
          <p:cNvSpPr txBox="1"/>
          <p:nvPr/>
        </p:nvSpPr>
        <p:spPr>
          <a:xfrm>
            <a:off x="9143910" y="3798053"/>
            <a:ext cx="20906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Y=W1*X1+ W2*X2</a:t>
            </a:r>
            <a:endParaRPr/>
          </a:p>
        </p:txBody>
      </p:sp>
      <p:sp>
        <p:nvSpPr>
          <p:cNvPr id="158" name="Google Shape;158;p4"/>
          <p:cNvSpPr txBox="1"/>
          <p:nvPr/>
        </p:nvSpPr>
        <p:spPr>
          <a:xfrm>
            <a:off x="11234547" y="3625611"/>
            <a:ext cx="75212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W1=?</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W2=?</a:t>
            </a:r>
            <a:endParaRPr/>
          </a:p>
        </p:txBody>
      </p:sp>
      <p:sp>
        <p:nvSpPr>
          <p:cNvPr id="159" name="Google Shape;159;p4"/>
          <p:cNvSpPr txBox="1"/>
          <p:nvPr/>
        </p:nvSpPr>
        <p:spPr>
          <a:xfrm>
            <a:off x="5039439" y="4958491"/>
            <a:ext cx="31189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Suppose you are playing a game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SUPPOSE YOU ARE PLAYING A GAME</a:t>
            </a:r>
            <a:endParaRPr/>
          </a:p>
        </p:txBody>
      </p:sp>
      <p:sp>
        <p:nvSpPr>
          <p:cNvPr id="165" name="Google Shape;165;p5"/>
          <p:cNvSpPr txBox="1"/>
          <p:nvPr/>
        </p:nvSpPr>
        <p:spPr>
          <a:xfrm>
            <a:off x="1554427" y="2119805"/>
            <a:ext cx="8824403" cy="133706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20000"/>
              </a:lnSpc>
              <a:spcBef>
                <a:spcPts val="0"/>
              </a:spcBef>
              <a:spcAft>
                <a:spcPts val="0"/>
              </a:spcAft>
              <a:buClr>
                <a:schemeClr val="accent1"/>
              </a:buClr>
              <a:buSzPts val="2000"/>
              <a:buFont typeface="Arial"/>
              <a:buChar char="•"/>
            </a:pPr>
            <a:r>
              <a:rPr lang="en-US" sz="2000">
                <a:solidFill>
                  <a:schemeClr val="dk1"/>
                </a:solidFill>
                <a:latin typeface="Gill Sans"/>
                <a:ea typeface="Gill Sans"/>
                <a:cs typeface="Gill Sans"/>
                <a:sym typeface="Gill Sans"/>
              </a:rPr>
              <a:t>If A gives 2 Banana’s, 2 Apples, and 2 Oranges to B, B gives 12 Peaches to A</a:t>
            </a:r>
            <a:endParaRPr/>
          </a:p>
          <a:p>
            <a:pPr indent="-228600" lvl="0" marL="228600" marR="0" rtl="0" algn="l">
              <a:lnSpc>
                <a:spcPct val="120000"/>
              </a:lnSpc>
              <a:spcBef>
                <a:spcPts val="1000"/>
              </a:spcBef>
              <a:spcAft>
                <a:spcPts val="0"/>
              </a:spcAft>
              <a:buClr>
                <a:schemeClr val="accent1"/>
              </a:buClr>
              <a:buSzPts val="2000"/>
              <a:buFont typeface="Arial"/>
              <a:buChar char="•"/>
            </a:pPr>
            <a:r>
              <a:rPr lang="en-US" sz="2000">
                <a:solidFill>
                  <a:schemeClr val="dk1"/>
                </a:solidFill>
                <a:latin typeface="Gill Sans"/>
                <a:ea typeface="Gill Sans"/>
                <a:cs typeface="Gill Sans"/>
                <a:sym typeface="Gill Sans"/>
              </a:rPr>
              <a:t>If A gives 1 Banana’s, 3 Apples, and 2 Oranges to B, B gives 12 Peaches to A</a:t>
            </a:r>
            <a:endParaRPr/>
          </a:p>
          <a:p>
            <a:pPr indent="-101600" lvl="0" marL="228600" marR="0" rtl="0" algn="l">
              <a:lnSpc>
                <a:spcPct val="120000"/>
              </a:lnSpc>
              <a:spcBef>
                <a:spcPts val="1000"/>
              </a:spcBef>
              <a:spcAft>
                <a:spcPts val="0"/>
              </a:spcAft>
              <a:buClr>
                <a:schemeClr val="accent1"/>
              </a:buClr>
              <a:buSzPts val="2000"/>
              <a:buFont typeface="Arial"/>
              <a:buNone/>
            </a:pPr>
            <a:r>
              <a:t/>
            </a:r>
            <a:endParaRPr sz="2000">
              <a:solidFill>
                <a:schemeClr val="dk1"/>
              </a:solidFill>
              <a:latin typeface="Gill Sans"/>
              <a:ea typeface="Gill Sans"/>
              <a:cs typeface="Gill Sans"/>
              <a:sym typeface="Gill Sans"/>
            </a:endParaRPr>
          </a:p>
        </p:txBody>
      </p:sp>
      <p:sp>
        <p:nvSpPr>
          <p:cNvPr id="166" name="Google Shape;166;p5"/>
          <p:cNvSpPr txBox="1"/>
          <p:nvPr/>
        </p:nvSpPr>
        <p:spPr>
          <a:xfrm>
            <a:off x="5108059" y="3880570"/>
            <a:ext cx="17171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Write equations</a:t>
            </a:r>
            <a:endParaRPr/>
          </a:p>
        </p:txBody>
      </p:sp>
      <p:sp>
        <p:nvSpPr>
          <p:cNvPr id="167" name="Google Shape;167;p5"/>
          <p:cNvSpPr txBox="1"/>
          <p:nvPr/>
        </p:nvSpPr>
        <p:spPr>
          <a:xfrm>
            <a:off x="5215362" y="4673599"/>
            <a:ext cx="1288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Solve for 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W DEFINES THE MODEL</a:t>
            </a:r>
            <a:endParaRPr/>
          </a:p>
        </p:txBody>
      </p:sp>
      <p:sp>
        <p:nvSpPr>
          <p:cNvPr id="173" name="Google Shape;173;p6"/>
          <p:cNvSpPr txBox="1"/>
          <p:nvPr/>
        </p:nvSpPr>
        <p:spPr>
          <a:xfrm>
            <a:off x="5352686" y="1977657"/>
            <a:ext cx="193193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Gill Sans"/>
                <a:ea typeface="Gill Sans"/>
                <a:cs typeface="Gill Sans"/>
                <a:sym typeface="Gill Sans"/>
              </a:rPr>
              <a:t>Y = W*X</a:t>
            </a:r>
            <a:endParaRPr/>
          </a:p>
        </p:txBody>
      </p:sp>
      <p:sp>
        <p:nvSpPr>
          <p:cNvPr id="174" name="Google Shape;174;p6"/>
          <p:cNvSpPr txBox="1"/>
          <p:nvPr/>
        </p:nvSpPr>
        <p:spPr>
          <a:xfrm>
            <a:off x="2297723" y="3071446"/>
            <a:ext cx="11496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Y= output</a:t>
            </a:r>
            <a:endParaRPr/>
          </a:p>
        </p:txBody>
      </p:sp>
      <p:sp>
        <p:nvSpPr>
          <p:cNvPr id="175" name="Google Shape;175;p6"/>
          <p:cNvSpPr txBox="1"/>
          <p:nvPr/>
        </p:nvSpPr>
        <p:spPr>
          <a:xfrm>
            <a:off x="5681784" y="3056765"/>
            <a:ext cx="10278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X= Input</a:t>
            </a:r>
            <a:endParaRPr/>
          </a:p>
        </p:txBody>
      </p:sp>
      <p:sp>
        <p:nvSpPr>
          <p:cNvPr id="176" name="Google Shape;176;p6"/>
          <p:cNvSpPr txBox="1"/>
          <p:nvPr/>
        </p:nvSpPr>
        <p:spPr>
          <a:xfrm>
            <a:off x="8378092" y="3087077"/>
            <a:ext cx="16738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W= Intelligence</a:t>
            </a:r>
            <a:endParaRPr/>
          </a:p>
        </p:txBody>
      </p:sp>
      <p:sp>
        <p:nvSpPr>
          <p:cNvPr id="177" name="Google Shape;177;p6"/>
          <p:cNvSpPr txBox="1"/>
          <p:nvPr/>
        </p:nvSpPr>
        <p:spPr>
          <a:xfrm>
            <a:off x="2332003" y="3941857"/>
            <a:ext cx="9925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X= Data</a:t>
            </a:r>
            <a:endParaRPr/>
          </a:p>
        </p:txBody>
      </p:sp>
      <p:sp>
        <p:nvSpPr>
          <p:cNvPr id="178" name="Google Shape;178;p6"/>
          <p:cNvSpPr txBox="1"/>
          <p:nvPr/>
        </p:nvSpPr>
        <p:spPr>
          <a:xfrm>
            <a:off x="4829908" y="4040554"/>
            <a:ext cx="21194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Y= Expected Results</a:t>
            </a:r>
            <a:endParaRPr/>
          </a:p>
        </p:txBody>
      </p:sp>
      <p:sp>
        <p:nvSpPr>
          <p:cNvPr id="179" name="Google Shape;179;p6"/>
          <p:cNvSpPr txBox="1"/>
          <p:nvPr/>
        </p:nvSpPr>
        <p:spPr>
          <a:xfrm>
            <a:off x="8464062" y="4126523"/>
            <a:ext cx="14191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W = Weights</a:t>
            </a:r>
            <a:endParaRPr/>
          </a:p>
        </p:txBody>
      </p:sp>
      <p:sp>
        <p:nvSpPr>
          <p:cNvPr id="180" name="Google Shape;180;p6"/>
          <p:cNvSpPr txBox="1"/>
          <p:nvPr/>
        </p:nvSpPr>
        <p:spPr>
          <a:xfrm>
            <a:off x="2258646" y="5025292"/>
            <a:ext cx="35494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X= Text, Image, Speech, Table data…</a:t>
            </a:r>
            <a:endParaRPr/>
          </a:p>
        </p:txBody>
      </p:sp>
      <p:sp>
        <p:nvSpPr>
          <p:cNvPr id="181" name="Google Shape;181;p6"/>
          <p:cNvSpPr txBox="1"/>
          <p:nvPr/>
        </p:nvSpPr>
        <p:spPr>
          <a:xfrm>
            <a:off x="6195706" y="5024343"/>
            <a:ext cx="430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Y= expected output (word, image, story, …)</a:t>
            </a:r>
            <a:endParaRPr/>
          </a:p>
        </p:txBody>
      </p:sp>
      <p:sp>
        <p:nvSpPr>
          <p:cNvPr id="182" name="Google Shape;182;p6"/>
          <p:cNvSpPr txBox="1"/>
          <p:nvPr/>
        </p:nvSpPr>
        <p:spPr>
          <a:xfrm>
            <a:off x="4251032" y="5552831"/>
            <a:ext cx="338124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X, Y and W are all HUGE matrices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COMPLICATED MODELS HAVE BILLIONS OF WEIGHTS</a:t>
            </a:r>
            <a:endParaRPr/>
          </a:p>
        </p:txBody>
      </p:sp>
      <p:sp>
        <p:nvSpPr>
          <p:cNvPr id="188" name="Google Shape;188;p7"/>
          <p:cNvSpPr txBox="1"/>
          <p:nvPr/>
        </p:nvSpPr>
        <p:spPr>
          <a:xfrm>
            <a:off x="2646062" y="2243173"/>
            <a:ext cx="291938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Gill Sans"/>
                <a:ea typeface="Gill Sans"/>
                <a:cs typeface="Gill Sans"/>
                <a:sym typeface="Gill Sans"/>
              </a:rPr>
              <a:t>Y1 = W*X + b</a:t>
            </a:r>
            <a:endParaRPr/>
          </a:p>
        </p:txBody>
      </p:sp>
      <p:sp>
        <p:nvSpPr>
          <p:cNvPr id="189" name="Google Shape;189;p7"/>
          <p:cNvSpPr txBox="1"/>
          <p:nvPr/>
        </p:nvSpPr>
        <p:spPr>
          <a:xfrm>
            <a:off x="2646061" y="3322166"/>
            <a:ext cx="386195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Gill Sans"/>
                <a:ea typeface="Gill Sans"/>
                <a:cs typeface="Gill Sans"/>
                <a:sym typeface="Gill Sans"/>
              </a:rPr>
              <a:t>Y2 = W1*(Y1) + b1</a:t>
            </a:r>
            <a:endParaRPr/>
          </a:p>
        </p:txBody>
      </p:sp>
      <p:sp>
        <p:nvSpPr>
          <p:cNvPr id="190" name="Google Shape;190;p7"/>
          <p:cNvSpPr txBox="1"/>
          <p:nvPr/>
        </p:nvSpPr>
        <p:spPr>
          <a:xfrm>
            <a:off x="2646061" y="4142078"/>
            <a:ext cx="386195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Gill Sans"/>
                <a:ea typeface="Gill Sans"/>
                <a:cs typeface="Gill Sans"/>
                <a:sym typeface="Gill Sans"/>
              </a:rPr>
              <a:t>Y3 = W2*(Y2) + b2</a:t>
            </a:r>
            <a:endParaRPr/>
          </a:p>
        </p:txBody>
      </p:sp>
      <p:sp>
        <p:nvSpPr>
          <p:cNvPr id="191" name="Google Shape;191;p7"/>
          <p:cNvSpPr txBox="1"/>
          <p:nvPr/>
        </p:nvSpPr>
        <p:spPr>
          <a:xfrm>
            <a:off x="3675888" y="4855464"/>
            <a:ext cx="6463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t>
            </a:r>
            <a:endParaRPr/>
          </a:p>
        </p:txBody>
      </p:sp>
      <p:sp>
        <p:nvSpPr>
          <p:cNvPr id="192" name="Google Shape;192;p7"/>
          <p:cNvSpPr txBox="1"/>
          <p:nvPr/>
        </p:nvSpPr>
        <p:spPr>
          <a:xfrm>
            <a:off x="2646060" y="5224796"/>
            <a:ext cx="386195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Gill Sans"/>
                <a:ea typeface="Gill Sans"/>
                <a:cs typeface="Gill Sans"/>
                <a:sym typeface="Gill Sans"/>
              </a:rPr>
              <a:t>Yn = Wn*(Yn) + bn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AI LEARNS</a:t>
            </a:r>
            <a:endParaRPr/>
          </a:p>
        </p:txBody>
      </p:sp>
      <p:sp>
        <p:nvSpPr>
          <p:cNvPr id="198" name="Google Shape;198;p8"/>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Algorithm has two parts</a:t>
            </a:r>
            <a:endParaRPr/>
          </a:p>
          <a:p>
            <a:pPr indent="-228600" lvl="1" marL="685800" rtl="0" algn="l">
              <a:lnSpc>
                <a:spcPct val="120000"/>
              </a:lnSpc>
              <a:spcBef>
                <a:spcPts val="500"/>
              </a:spcBef>
              <a:spcAft>
                <a:spcPts val="0"/>
              </a:spcAft>
              <a:buSzPts val="1800"/>
              <a:buChar char="•"/>
            </a:pPr>
            <a:r>
              <a:rPr lang="en-US"/>
              <a:t>Training</a:t>
            </a:r>
            <a:endParaRPr/>
          </a:p>
          <a:p>
            <a:pPr indent="-228600" lvl="1" marL="685800" rtl="0" algn="l">
              <a:lnSpc>
                <a:spcPct val="120000"/>
              </a:lnSpc>
              <a:spcBef>
                <a:spcPts val="500"/>
              </a:spcBef>
              <a:spcAft>
                <a:spcPts val="0"/>
              </a:spcAft>
              <a:buSzPts val="1800"/>
              <a:buChar char="•"/>
            </a:pPr>
            <a:r>
              <a:rPr lang="en-US"/>
              <a:t>Inferencing</a:t>
            </a:r>
            <a:endParaRPr/>
          </a:p>
          <a:p>
            <a:pPr indent="-228600" lvl="0" marL="228600" rtl="0" algn="l">
              <a:lnSpc>
                <a:spcPct val="120000"/>
              </a:lnSpc>
              <a:spcBef>
                <a:spcPts val="1000"/>
              </a:spcBef>
              <a:spcAft>
                <a:spcPts val="0"/>
              </a:spcAft>
              <a:buSzPts val="2000"/>
              <a:buChar char="•"/>
            </a:pPr>
            <a:r>
              <a:rPr lang="en-US"/>
              <a:t>Training teaches</a:t>
            </a:r>
            <a:endParaRPr/>
          </a:p>
          <a:p>
            <a:pPr indent="-228600" lvl="0" marL="228600" rtl="0" algn="l">
              <a:lnSpc>
                <a:spcPct val="120000"/>
              </a:lnSpc>
              <a:spcBef>
                <a:spcPts val="1000"/>
              </a:spcBef>
              <a:spcAft>
                <a:spcPts val="0"/>
              </a:spcAft>
              <a:buSzPts val="2000"/>
              <a:buChar char="•"/>
            </a:pPr>
            <a:r>
              <a:rPr lang="en-US"/>
              <a:t>Inferencing gives results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5F5"/>
            </a:gs>
            <a:gs pos="100000">
              <a:srgbClr val="D0CFCF"/>
            </a:gs>
          </a:gsLst>
          <a:path path="circle">
            <a:fillToRect b="50%" l="50%" r="50%" t="50%"/>
          </a:path>
          <a:tileRect/>
        </a:gradFill>
      </p:bgPr>
    </p:bg>
    <p:spTree>
      <p:nvGrpSpPr>
        <p:cNvPr id="202" name="Shape 202"/>
        <p:cNvGrpSpPr/>
        <p:nvPr/>
      </p:nvGrpSpPr>
      <p:grpSpPr>
        <a:xfrm>
          <a:off x="0" y="0"/>
          <a:ext cx="0" cy="0"/>
          <a:chOff x="0" y="0"/>
          <a:chExt cx="0" cy="0"/>
        </a:xfrm>
      </p:grpSpPr>
      <p:sp>
        <p:nvSpPr>
          <p:cNvPr id="203" name="Google Shape;203;p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DATA REPRESENTATION EXAMPLE</a:t>
            </a:r>
            <a:endParaRPr/>
          </a:p>
        </p:txBody>
      </p:sp>
      <p:sp>
        <p:nvSpPr>
          <p:cNvPr id="204" name="Google Shape;204;p9"/>
          <p:cNvSpPr txBox="1"/>
          <p:nvPr>
            <p:ph idx="1" type="body"/>
          </p:nvPr>
        </p:nvSpPr>
        <p:spPr>
          <a:xfrm>
            <a:off x="1451579" y="2015735"/>
            <a:ext cx="4162555" cy="215557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Zero = no fill</a:t>
            </a:r>
            <a:endParaRPr/>
          </a:p>
          <a:p>
            <a:pPr indent="-228600" lvl="0" marL="228600" rtl="0" algn="l">
              <a:lnSpc>
                <a:spcPct val="120000"/>
              </a:lnSpc>
              <a:spcBef>
                <a:spcPts val="1000"/>
              </a:spcBef>
              <a:spcAft>
                <a:spcPts val="0"/>
              </a:spcAft>
              <a:buSzPts val="2000"/>
              <a:buChar char="•"/>
            </a:pPr>
            <a:r>
              <a:rPr lang="en-US"/>
              <a:t>One = black fill</a:t>
            </a:r>
            <a:endParaRPr/>
          </a:p>
        </p:txBody>
      </p:sp>
      <p:pic>
        <p:nvPicPr>
          <p:cNvPr descr="Game Graphics Learning to Use Bitmaps | Part II - Game Fundamentals Graphics, Sound, Input ..." id="205" name="Google Shape;205;p9"/>
          <p:cNvPicPr preferRelativeResize="0"/>
          <p:nvPr/>
        </p:nvPicPr>
        <p:blipFill rotWithShape="1">
          <a:blip r:embed="rId3">
            <a:alphaModFix/>
          </a:blip>
          <a:srcRect b="0" l="0" r="0" t="0"/>
          <a:stretch/>
        </p:blipFill>
        <p:spPr>
          <a:xfrm>
            <a:off x="6710830" y="2210690"/>
            <a:ext cx="4445000" cy="3060700"/>
          </a:xfrm>
          <a:prstGeom prst="rect">
            <a:avLst/>
          </a:prstGeom>
          <a:noFill/>
          <a:ln>
            <a:noFill/>
          </a:ln>
        </p:spPr>
      </p:pic>
      <p:sp>
        <p:nvSpPr>
          <p:cNvPr id="206" name="Google Shape;206;p9"/>
          <p:cNvSpPr txBox="1"/>
          <p:nvPr/>
        </p:nvSpPr>
        <p:spPr>
          <a:xfrm>
            <a:off x="7212458" y="5443660"/>
            <a:ext cx="31652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Picture is represented as matrix</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AI USES MULTIPLE BITS TO REPRESENT DATA</a:t>
            </a:r>
            <a:endParaRPr/>
          </a:p>
        </p:txBody>
      </p:sp>
      <p:pic>
        <p:nvPicPr>
          <p:cNvPr descr="A picture containing text, photo, man, group&#10;&#10;Description automatically generated" id="212" name="Google Shape;212;p10"/>
          <p:cNvPicPr preferRelativeResize="0"/>
          <p:nvPr>
            <p:ph idx="1" type="body"/>
          </p:nvPr>
        </p:nvPicPr>
        <p:blipFill rotWithShape="1">
          <a:blip r:embed="rId3">
            <a:alphaModFix/>
          </a:blip>
          <a:srcRect b="0" l="0" r="0" t="0"/>
          <a:stretch/>
        </p:blipFill>
        <p:spPr>
          <a:xfrm>
            <a:off x="1583201" y="2077244"/>
            <a:ext cx="8394700" cy="3327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COLOR PICTURE REPRESENTATION USING LARGE NUMBERS</a:t>
            </a:r>
            <a:endParaRPr/>
          </a:p>
        </p:txBody>
      </p:sp>
      <p:pic>
        <p:nvPicPr>
          <p:cNvPr descr="A picture containing grass, photo, horse, riding&#10;&#10;Description automatically generated" id="218" name="Google Shape;218;p11"/>
          <p:cNvPicPr preferRelativeResize="0"/>
          <p:nvPr/>
        </p:nvPicPr>
        <p:blipFill rotWithShape="1">
          <a:blip r:embed="rId3">
            <a:alphaModFix/>
          </a:blip>
          <a:srcRect b="0" l="0" r="0" t="0"/>
          <a:stretch/>
        </p:blipFill>
        <p:spPr>
          <a:xfrm>
            <a:off x="196850" y="2089150"/>
            <a:ext cx="11798300" cy="2679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TEXT REPRESENTED VIA NUMBERS</a:t>
            </a:r>
            <a:endParaRPr/>
          </a:p>
        </p:txBody>
      </p:sp>
      <p:pic>
        <p:nvPicPr>
          <p:cNvPr descr="ASCII – Wikipedie" id="224" name="Google Shape;224;p12"/>
          <p:cNvPicPr preferRelativeResize="0"/>
          <p:nvPr>
            <p:ph idx="1" type="body"/>
          </p:nvPr>
        </p:nvPicPr>
        <p:blipFill rotWithShape="1">
          <a:blip r:embed="rId3">
            <a:alphaModFix/>
          </a:blip>
          <a:srcRect b="0" l="0" r="0" t="0"/>
          <a:stretch/>
        </p:blipFill>
        <p:spPr>
          <a:xfrm>
            <a:off x="1775342" y="2164075"/>
            <a:ext cx="7620000" cy="3009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5F5"/>
            </a:gs>
            <a:gs pos="100000">
              <a:srgbClr val="D0CFCF"/>
            </a:gs>
          </a:gsLst>
          <a:path path="circle">
            <a:fillToRect b="50%" l="50%" r="50%" t="50%"/>
          </a:path>
          <a:tileRect/>
        </a:gradFill>
      </p:bgPr>
    </p:bg>
    <p:spTree>
      <p:nvGrpSpPr>
        <p:cNvPr id="228" name="Shape 228"/>
        <p:cNvGrpSpPr/>
        <p:nvPr/>
      </p:nvGrpSpPr>
      <p:grpSpPr>
        <a:xfrm>
          <a:off x="0" y="0"/>
          <a:ext cx="0" cy="0"/>
          <a:chOff x="0" y="0"/>
          <a:chExt cx="0" cy="0"/>
        </a:xfrm>
      </p:grpSpPr>
      <p:sp>
        <p:nvSpPr>
          <p:cNvPr id="229" name="Google Shape;229;p13"/>
          <p:cNvSpPr/>
          <p:nvPr/>
        </p:nvSpPr>
        <p:spPr>
          <a:xfrm>
            <a:off x="0" y="2019476"/>
            <a:ext cx="12192000" cy="4105941"/>
          </a:xfrm>
          <a:prstGeom prst="rect">
            <a:avLst/>
          </a:prstGeom>
          <a:gradFill>
            <a:gsLst>
              <a:gs pos="0">
                <a:srgbClr val="E7E6E6">
                  <a:alpha val="0"/>
                </a:srgbClr>
              </a:gs>
              <a:gs pos="100000">
                <a:schemeClr val="lt2"/>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id="230" name="Google Shape;230;p13"/>
          <p:cNvPicPr preferRelativeResize="0"/>
          <p:nvPr/>
        </p:nvPicPr>
        <p:blipFill rotWithShape="1">
          <a:blip r:embed="rId3">
            <a:alphaModFix/>
          </a:blip>
          <a:srcRect b="-1538" l="0" r="0" t="1538"/>
          <a:stretch/>
        </p:blipFill>
        <p:spPr>
          <a:xfrm>
            <a:off x="0" y="6126480"/>
            <a:ext cx="12192000" cy="742950"/>
          </a:xfrm>
          <a:prstGeom prst="rect">
            <a:avLst/>
          </a:prstGeom>
          <a:noFill/>
          <a:ln>
            <a:noFill/>
          </a:ln>
        </p:spPr>
      </p:pic>
      <p:cxnSp>
        <p:nvCxnSpPr>
          <p:cNvPr id="231" name="Google Shape;231;p13"/>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cxnSp>
        <p:nvCxnSpPr>
          <p:cNvPr id="232" name="Google Shape;232;p13"/>
          <p:cNvCxnSpPr/>
          <p:nvPr/>
        </p:nvCxnSpPr>
        <p:spPr>
          <a:xfrm>
            <a:off x="2417780" y="3528542"/>
            <a:ext cx="8637072" cy="0"/>
          </a:xfrm>
          <a:prstGeom prst="straightConnector1">
            <a:avLst/>
          </a:prstGeom>
          <a:noFill/>
          <a:ln cap="flat" cmpd="sng" w="31750">
            <a:solidFill>
              <a:schemeClr val="accent1"/>
            </a:solidFill>
            <a:prstDash val="solid"/>
            <a:round/>
            <a:headEnd len="sm" w="sm" type="none"/>
            <a:tailEnd len="sm" w="sm" type="none"/>
          </a:ln>
        </p:spPr>
      </p:cxnSp>
      <p:sp>
        <p:nvSpPr>
          <p:cNvPr id="233" name="Google Shape;233;p13"/>
          <p:cNvSpPr/>
          <p:nvPr/>
        </p:nvSpPr>
        <p:spPr>
          <a:xfrm>
            <a:off x="2" y="0"/>
            <a:ext cx="12191695" cy="6858000"/>
          </a:xfrm>
          <a:prstGeom prst="rect">
            <a:avLst/>
          </a:prstGeom>
          <a:gradFill>
            <a:gsLst>
              <a:gs pos="0">
                <a:srgbClr val="F5F5F5"/>
              </a:gs>
              <a:gs pos="100000">
                <a:srgbClr val="D0CFC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4" name="Google Shape;234;p13"/>
          <p:cNvSpPr/>
          <p:nvPr/>
        </p:nvSpPr>
        <p:spPr>
          <a:xfrm>
            <a:off x="0" y="2019476"/>
            <a:ext cx="12192000" cy="4105941"/>
          </a:xfrm>
          <a:prstGeom prst="rect">
            <a:avLst/>
          </a:prstGeom>
          <a:gradFill>
            <a:gsLst>
              <a:gs pos="0">
                <a:srgbClr val="E7E6E6">
                  <a:alpha val="0"/>
                </a:srgbClr>
              </a:gs>
              <a:gs pos="100000">
                <a:schemeClr val="lt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5" name="Google Shape;235;p13"/>
          <p:cNvSpPr txBox="1"/>
          <p:nvPr>
            <p:ph type="title"/>
          </p:nvPr>
        </p:nvSpPr>
        <p:spPr>
          <a:xfrm>
            <a:off x="659301" y="1474969"/>
            <a:ext cx="2823919" cy="1868760"/>
          </a:xfrm>
          <a:prstGeom prst="rect">
            <a:avLst/>
          </a:prstGeom>
          <a:noFill/>
          <a:ln>
            <a:noFill/>
          </a:ln>
        </p:spPr>
        <p:txBody>
          <a:bodyPr anchorCtr="0" anchor="b" bIns="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Gill Sans"/>
              <a:buNone/>
            </a:pPr>
            <a:r>
              <a:rPr lang="en-US" sz="3600"/>
              <a:t>SPEECH REPRESENTED VIA NUMBERS</a:t>
            </a:r>
            <a:endParaRPr/>
          </a:p>
        </p:txBody>
      </p:sp>
      <p:cxnSp>
        <p:nvCxnSpPr>
          <p:cNvPr id="236" name="Google Shape;236;p13"/>
          <p:cNvCxnSpPr/>
          <p:nvPr/>
        </p:nvCxnSpPr>
        <p:spPr>
          <a:xfrm>
            <a:off x="659301" y="3528543"/>
            <a:ext cx="2823919" cy="0"/>
          </a:xfrm>
          <a:prstGeom prst="straightConnector1">
            <a:avLst/>
          </a:prstGeom>
          <a:noFill/>
          <a:ln cap="flat" cmpd="sng" w="31750">
            <a:solidFill>
              <a:schemeClr val="accent1"/>
            </a:solidFill>
            <a:prstDash val="solid"/>
            <a:round/>
            <a:headEnd len="sm" w="sm" type="none"/>
            <a:tailEnd len="sm" w="sm" type="none"/>
          </a:ln>
        </p:spPr>
      </p:cxnSp>
      <p:grpSp>
        <p:nvGrpSpPr>
          <p:cNvPr id="237" name="Google Shape;237;p13"/>
          <p:cNvGrpSpPr/>
          <p:nvPr/>
        </p:nvGrpSpPr>
        <p:grpSpPr>
          <a:xfrm>
            <a:off x="3979389" y="482171"/>
            <a:ext cx="7560115" cy="5149101"/>
            <a:chOff x="3979389" y="482171"/>
            <a:chExt cx="7560115" cy="5149101"/>
          </a:xfrm>
        </p:grpSpPr>
        <p:sp>
          <p:nvSpPr>
            <p:cNvPr id="238" name="Google Shape;238;p13"/>
            <p:cNvSpPr/>
            <p:nvPr/>
          </p:nvSpPr>
          <p:spPr>
            <a:xfrm>
              <a:off x="3979389" y="482171"/>
              <a:ext cx="7560115"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372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9" name="Google Shape;239;p13"/>
            <p:cNvSpPr/>
            <p:nvPr/>
          </p:nvSpPr>
          <p:spPr>
            <a:xfrm>
              <a:off x="4292448" y="812507"/>
              <a:ext cx="692827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240" name="Google Shape;240;p13"/>
          <p:cNvSpPr/>
          <p:nvPr/>
        </p:nvSpPr>
        <p:spPr>
          <a:xfrm>
            <a:off x="4455487" y="977965"/>
            <a:ext cx="6615582" cy="4135339"/>
          </a:xfrm>
          <a:prstGeom prst="rect">
            <a:avLst/>
          </a:prstGeom>
          <a:solidFill>
            <a:schemeClr val="lt1"/>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descr="Deep Learning in Speech Recognition: Encoding - knowledge Transfer" id="241" name="Google Shape;241;p13"/>
          <p:cNvPicPr preferRelativeResize="0"/>
          <p:nvPr>
            <p:ph idx="1" type="body"/>
          </p:nvPr>
        </p:nvPicPr>
        <p:blipFill rotWithShape="1">
          <a:blip r:embed="rId4">
            <a:alphaModFix/>
          </a:blip>
          <a:srcRect b="0" l="0" r="0" t="0"/>
          <a:stretch/>
        </p:blipFill>
        <p:spPr>
          <a:xfrm>
            <a:off x="4675122" y="1116345"/>
            <a:ext cx="6169423" cy="3866172"/>
          </a:xfrm>
          <a:prstGeom prst="rect">
            <a:avLst/>
          </a:prstGeom>
          <a:noFill/>
          <a:ln>
            <a:noFill/>
          </a:ln>
        </p:spPr>
      </p:pic>
      <p:pic>
        <p:nvPicPr>
          <p:cNvPr id="242" name="Google Shape;242;p13"/>
          <p:cNvPicPr preferRelativeResize="0"/>
          <p:nvPr/>
        </p:nvPicPr>
        <p:blipFill rotWithShape="1">
          <a:blip r:embed="rId3">
            <a:alphaModFix/>
          </a:blip>
          <a:srcRect b="-1538" l="0" r="0" t="1538"/>
          <a:stretch/>
        </p:blipFill>
        <p:spPr>
          <a:xfrm>
            <a:off x="0" y="6126480"/>
            <a:ext cx="12192000" cy="742950"/>
          </a:xfrm>
          <a:prstGeom prst="rect">
            <a:avLst/>
          </a:prstGeom>
          <a:noFill/>
          <a:ln>
            <a:noFill/>
          </a:ln>
        </p:spPr>
      </p:pic>
      <p:cxnSp>
        <p:nvCxnSpPr>
          <p:cNvPr id="243" name="Google Shape;243;p13"/>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SPEECH ENCODING</a:t>
            </a:r>
            <a:endParaRPr/>
          </a:p>
        </p:txBody>
      </p:sp>
      <p:sp>
        <p:nvSpPr>
          <p:cNvPr id="249" name="Google Shape;249;p14"/>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pic>
        <p:nvPicPr>
          <p:cNvPr descr="Freesound - &quot;Hello Crescendo&quot; by unfa" id="250" name="Google Shape;250;p14"/>
          <p:cNvPicPr preferRelativeResize="0"/>
          <p:nvPr/>
        </p:nvPicPr>
        <p:blipFill rotWithShape="1">
          <a:blip r:embed="rId3">
            <a:alphaModFix/>
          </a:blip>
          <a:srcRect b="0" l="0" r="0" t="0"/>
          <a:stretch/>
        </p:blipFill>
        <p:spPr>
          <a:xfrm>
            <a:off x="381000" y="1391655"/>
            <a:ext cx="11430000" cy="2552700"/>
          </a:xfrm>
          <a:prstGeom prst="rect">
            <a:avLst/>
          </a:prstGeom>
          <a:noFill/>
          <a:ln>
            <a:noFill/>
          </a:ln>
        </p:spPr>
      </p:pic>
      <p:pic>
        <p:nvPicPr>
          <p:cNvPr descr="Freesound - &quot;Hello - samples.mp3&quot; by Roses1401" id="251" name="Google Shape;251;p14"/>
          <p:cNvPicPr preferRelativeResize="0"/>
          <p:nvPr/>
        </p:nvPicPr>
        <p:blipFill rotWithShape="1">
          <a:blip r:embed="rId4">
            <a:alphaModFix/>
          </a:blip>
          <a:srcRect b="0" l="0" r="0" t="0"/>
          <a:stretch/>
        </p:blipFill>
        <p:spPr>
          <a:xfrm>
            <a:off x="381000" y="3500781"/>
            <a:ext cx="11430000" cy="2552700"/>
          </a:xfrm>
          <a:prstGeom prst="rect">
            <a:avLst/>
          </a:prstGeom>
          <a:noFill/>
          <a:ln>
            <a:noFill/>
          </a:ln>
        </p:spPr>
      </p:pic>
      <p:sp>
        <p:nvSpPr>
          <p:cNvPr id="252" name="Google Shape;252;p14"/>
          <p:cNvSpPr txBox="1"/>
          <p:nvPr/>
        </p:nvSpPr>
        <p:spPr>
          <a:xfrm>
            <a:off x="4815610" y="3316115"/>
            <a:ext cx="28752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Gill Sans"/>
                <a:ea typeface="Gill Sans"/>
                <a:cs typeface="Gill Sans"/>
                <a:sym typeface="Gill Sans"/>
              </a:rPr>
              <a:t>Fast Fourier Transform (FFT)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SUMMARY</a:t>
            </a:r>
            <a:endParaRPr/>
          </a:p>
        </p:txBody>
      </p:sp>
      <p:sp>
        <p:nvSpPr>
          <p:cNvPr id="258" name="Google Shape;258;p15"/>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Computers must read data to become intelligent</a:t>
            </a:r>
            <a:endParaRPr/>
          </a:p>
          <a:p>
            <a:pPr indent="-228600" lvl="0" marL="228600" rtl="0" algn="l">
              <a:lnSpc>
                <a:spcPct val="120000"/>
              </a:lnSpc>
              <a:spcBef>
                <a:spcPts val="1000"/>
              </a:spcBef>
              <a:spcAft>
                <a:spcPts val="0"/>
              </a:spcAft>
              <a:buSzPts val="2000"/>
              <a:buChar char="•"/>
            </a:pPr>
            <a:r>
              <a:rPr lang="en-US"/>
              <a:t>For AI, all the data must be numbers</a:t>
            </a:r>
            <a:endParaRPr/>
          </a:p>
          <a:p>
            <a:pPr indent="-228600" lvl="0" marL="228600" rtl="0" algn="l">
              <a:lnSpc>
                <a:spcPct val="120000"/>
              </a:lnSpc>
              <a:spcBef>
                <a:spcPts val="1000"/>
              </a:spcBef>
              <a:spcAft>
                <a:spcPts val="0"/>
              </a:spcAft>
              <a:buSzPts val="2000"/>
              <a:buChar char="•"/>
            </a:pPr>
            <a:r>
              <a:rPr lang="en-US"/>
              <a:t>Data represents text, image, speech …</a:t>
            </a:r>
            <a:endParaRPr/>
          </a:p>
          <a:p>
            <a:pPr indent="-228600" lvl="0" marL="228600" rtl="0" algn="l">
              <a:lnSpc>
                <a:spcPct val="120000"/>
              </a:lnSpc>
              <a:spcBef>
                <a:spcPts val="1000"/>
              </a:spcBef>
              <a:spcAft>
                <a:spcPts val="0"/>
              </a:spcAft>
              <a:buSzPts val="2000"/>
              <a:buChar char="•"/>
            </a:pPr>
            <a:r>
              <a:rPr lang="en-US"/>
              <a:t>There are different encoding schemes that determine how the data is represented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BRING UP GOOGLE COLAB</a:t>
            </a:r>
            <a:endParaRPr/>
          </a:p>
        </p:txBody>
      </p:sp>
      <p:sp>
        <p:nvSpPr>
          <p:cNvPr id="264" name="Google Shape;264;p16"/>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Goto: </a:t>
            </a:r>
            <a:r>
              <a:rPr lang="en-US" u="sng">
                <a:solidFill>
                  <a:schemeClr val="hlink"/>
                </a:solidFill>
                <a:hlinkClick r:id="rId3"/>
              </a:rPr>
              <a:t>https://colab.research.google.com/</a:t>
            </a:r>
            <a:endParaRPr/>
          </a:p>
          <a:p>
            <a:pPr indent="-228600" lvl="0" marL="228600" rtl="0" algn="l">
              <a:lnSpc>
                <a:spcPct val="120000"/>
              </a:lnSpc>
              <a:spcBef>
                <a:spcPts val="1000"/>
              </a:spcBef>
              <a:spcAft>
                <a:spcPts val="0"/>
              </a:spcAft>
              <a:buSzPts val="2000"/>
              <a:buChar char="•"/>
            </a:pPr>
            <a:r>
              <a:rPr lang="en-US"/>
              <a:t>Login using your name</a:t>
            </a:r>
            <a:endParaRPr/>
          </a:p>
          <a:p>
            <a:pPr indent="-228600" lvl="0" marL="228600" rtl="0" algn="l">
              <a:lnSpc>
                <a:spcPct val="120000"/>
              </a:lnSpc>
              <a:spcBef>
                <a:spcPts val="1000"/>
              </a:spcBef>
              <a:spcAft>
                <a:spcPts val="0"/>
              </a:spcAft>
              <a:buSzPts val="2000"/>
              <a:buChar char="•"/>
            </a:pPr>
            <a:r>
              <a:rPr lang="en-US"/>
              <a:t>Click on +Code</a:t>
            </a:r>
            <a:endParaRPr/>
          </a:p>
          <a:p>
            <a:pPr indent="-228600" lvl="0" marL="228600" rtl="0" algn="l">
              <a:lnSpc>
                <a:spcPct val="120000"/>
              </a:lnSpc>
              <a:spcBef>
                <a:spcPts val="1000"/>
              </a:spcBef>
              <a:spcAft>
                <a:spcPts val="0"/>
              </a:spcAft>
              <a:buSzPts val="2000"/>
              <a:buChar char="•"/>
            </a:pPr>
            <a:r>
              <a:rPr lang="en-US"/>
              <a:t>Type print (“hello world”)</a:t>
            </a:r>
            <a:endParaRPr/>
          </a:p>
          <a:p>
            <a:pPr indent="-228600" lvl="0" marL="228600" rtl="0" algn="l">
              <a:lnSpc>
                <a:spcPct val="120000"/>
              </a:lnSpc>
              <a:spcBef>
                <a:spcPts val="1000"/>
              </a:spcBef>
              <a:spcAft>
                <a:spcPts val="0"/>
              </a:spcAft>
              <a:buSzPts val="2000"/>
              <a:buChar char="•"/>
            </a:pPr>
            <a:r>
              <a:rPr lang="en-US"/>
              <a:t>Click Play button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7"/>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ill Sans"/>
              <a:buNone/>
            </a:pPr>
            <a:r>
              <a:rPr lang="en-US" sz="4400"/>
              <a:t>HOW IS AI DIFFERENT FROM PROGRAMMING?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MEME FLYING ON THE INTERNET</a:t>
            </a:r>
            <a:endParaRPr/>
          </a:p>
        </p:txBody>
      </p:sp>
      <p:pic>
        <p:nvPicPr>
          <p:cNvPr descr="A collage of images of human brain and brain&#10;&#10;AI-generated content may be incorrect." id="275" name="Google Shape;275;p18"/>
          <p:cNvPicPr preferRelativeResize="0"/>
          <p:nvPr>
            <p:ph idx="1" type="body"/>
          </p:nvPr>
        </p:nvPicPr>
        <p:blipFill rotWithShape="1">
          <a:blip r:embed="rId3">
            <a:alphaModFix/>
          </a:blip>
          <a:srcRect b="0" l="0" r="0" t="0"/>
          <a:stretch/>
        </p:blipFill>
        <p:spPr>
          <a:xfrm>
            <a:off x="4507116" y="2024377"/>
            <a:ext cx="3177768" cy="382639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CLASSIFY THE FOLLOWING INTO CATEGORY 1 AND 2 USING A PROGRAM</a:t>
            </a:r>
            <a:endParaRPr/>
          </a:p>
        </p:txBody>
      </p:sp>
      <p:sp>
        <p:nvSpPr>
          <p:cNvPr id="281" name="Google Shape;281;p19"/>
          <p:cNvSpPr/>
          <p:nvPr/>
        </p:nvSpPr>
        <p:spPr>
          <a:xfrm>
            <a:off x="3901710" y="24464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2" name="Google Shape;282;p19"/>
          <p:cNvSpPr/>
          <p:nvPr/>
        </p:nvSpPr>
        <p:spPr>
          <a:xfrm>
            <a:off x="4054110" y="25988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3" name="Google Shape;283;p19"/>
          <p:cNvSpPr/>
          <p:nvPr/>
        </p:nvSpPr>
        <p:spPr>
          <a:xfrm>
            <a:off x="5000594" y="291164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4" name="Google Shape;284;p19"/>
          <p:cNvSpPr/>
          <p:nvPr/>
        </p:nvSpPr>
        <p:spPr>
          <a:xfrm>
            <a:off x="4146884" y="3287740"/>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5" name="Google Shape;285;p19"/>
          <p:cNvSpPr/>
          <p:nvPr/>
        </p:nvSpPr>
        <p:spPr>
          <a:xfrm>
            <a:off x="5333694" y="3365649"/>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6" name="Google Shape;286;p19"/>
          <p:cNvSpPr/>
          <p:nvPr/>
        </p:nvSpPr>
        <p:spPr>
          <a:xfrm>
            <a:off x="4671731" y="3724296"/>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7" name="Google Shape;287;p19"/>
          <p:cNvSpPr/>
          <p:nvPr/>
        </p:nvSpPr>
        <p:spPr>
          <a:xfrm>
            <a:off x="5578868" y="269277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8" name="Google Shape;288;p19"/>
          <p:cNvSpPr/>
          <p:nvPr/>
        </p:nvSpPr>
        <p:spPr>
          <a:xfrm>
            <a:off x="7251104" y="3383992"/>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289" name="Google Shape;289;p19"/>
          <p:cNvSpPr/>
          <p:nvPr/>
        </p:nvSpPr>
        <p:spPr>
          <a:xfrm>
            <a:off x="4916905" y="2476203"/>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90" name="Google Shape;290;p19"/>
          <p:cNvSpPr/>
          <p:nvPr/>
        </p:nvSpPr>
        <p:spPr>
          <a:xfrm>
            <a:off x="8013104" y="34802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291" name="Google Shape;291;p19"/>
          <p:cNvSpPr/>
          <p:nvPr/>
        </p:nvSpPr>
        <p:spPr>
          <a:xfrm>
            <a:off x="7812650" y="3820548"/>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292" name="Google Shape;292;p19"/>
          <p:cNvSpPr/>
          <p:nvPr/>
        </p:nvSpPr>
        <p:spPr>
          <a:xfrm>
            <a:off x="7221293" y="389860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293" name="Google Shape;293;p19"/>
          <p:cNvSpPr/>
          <p:nvPr/>
        </p:nvSpPr>
        <p:spPr>
          <a:xfrm>
            <a:off x="7890517" y="308695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294" name="Google Shape;294;p19"/>
          <p:cNvSpPr/>
          <p:nvPr/>
        </p:nvSpPr>
        <p:spPr>
          <a:xfrm>
            <a:off x="8747635" y="3628043"/>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295" name="Google Shape;295;p19"/>
          <p:cNvSpPr/>
          <p:nvPr/>
        </p:nvSpPr>
        <p:spPr>
          <a:xfrm>
            <a:off x="8289229" y="4178076"/>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296" name="Google Shape;296;p19"/>
          <p:cNvSpPr/>
          <p:nvPr/>
        </p:nvSpPr>
        <p:spPr>
          <a:xfrm>
            <a:off x="7466467" y="47137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cxnSp>
        <p:nvCxnSpPr>
          <p:cNvPr id="297" name="Google Shape;297;p19"/>
          <p:cNvCxnSpPr/>
          <p:nvPr/>
        </p:nvCxnSpPr>
        <p:spPr>
          <a:xfrm>
            <a:off x="1451579" y="5478379"/>
            <a:ext cx="10186968" cy="0"/>
          </a:xfrm>
          <a:prstGeom prst="straightConnector1">
            <a:avLst/>
          </a:prstGeom>
          <a:noFill/>
          <a:ln cap="flat" cmpd="sng" w="38100">
            <a:solidFill>
              <a:schemeClr val="accent1"/>
            </a:solidFill>
            <a:prstDash val="solid"/>
            <a:round/>
            <a:headEnd len="sm" w="sm" type="none"/>
            <a:tailEnd len="med" w="med" type="triangle"/>
          </a:ln>
        </p:spPr>
      </p:cxnSp>
      <p:cxnSp>
        <p:nvCxnSpPr>
          <p:cNvPr id="298" name="Google Shape;298;p19"/>
          <p:cNvCxnSpPr/>
          <p:nvPr/>
        </p:nvCxnSpPr>
        <p:spPr>
          <a:xfrm rot="10800000">
            <a:off x="1451579" y="1965158"/>
            <a:ext cx="0" cy="3545305"/>
          </a:xfrm>
          <a:prstGeom prst="straightConnector1">
            <a:avLst/>
          </a:prstGeom>
          <a:noFill/>
          <a:ln cap="flat" cmpd="sng" w="38100">
            <a:solidFill>
              <a:schemeClr val="accent1"/>
            </a:solidFill>
            <a:prstDash val="solid"/>
            <a:round/>
            <a:headEnd len="sm" w="sm" type="none"/>
            <a:tailEnd len="med" w="med" type="triangle"/>
          </a:ln>
        </p:spPr>
      </p:cxnSp>
      <p:sp>
        <p:nvSpPr>
          <p:cNvPr id="299" name="Google Shape;299;p19"/>
          <p:cNvSpPr txBox="1"/>
          <p:nvPr/>
        </p:nvSpPr>
        <p:spPr>
          <a:xfrm>
            <a:off x="4643388" y="5543291"/>
            <a:ext cx="38033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Data = x and y coordinates, and colors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CLASSIFY THE FOLLOWING USING A PROGRAM</a:t>
            </a:r>
            <a:endParaRPr/>
          </a:p>
        </p:txBody>
      </p:sp>
      <p:grpSp>
        <p:nvGrpSpPr>
          <p:cNvPr id="305" name="Google Shape;305;p20"/>
          <p:cNvGrpSpPr/>
          <p:nvPr/>
        </p:nvGrpSpPr>
        <p:grpSpPr>
          <a:xfrm>
            <a:off x="1170843" y="3232484"/>
            <a:ext cx="2374463" cy="1155031"/>
            <a:chOff x="1451579" y="1965158"/>
            <a:chExt cx="10186968" cy="3545305"/>
          </a:xfrm>
        </p:grpSpPr>
        <p:sp>
          <p:nvSpPr>
            <p:cNvPr id="306" name="Google Shape;306;p20"/>
            <p:cNvSpPr/>
            <p:nvPr/>
          </p:nvSpPr>
          <p:spPr>
            <a:xfrm>
              <a:off x="3901710" y="24464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07" name="Google Shape;307;p20"/>
            <p:cNvSpPr/>
            <p:nvPr/>
          </p:nvSpPr>
          <p:spPr>
            <a:xfrm>
              <a:off x="4054110" y="25988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08" name="Google Shape;308;p20"/>
            <p:cNvSpPr/>
            <p:nvPr/>
          </p:nvSpPr>
          <p:spPr>
            <a:xfrm>
              <a:off x="5000594" y="291164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09" name="Google Shape;309;p20"/>
            <p:cNvSpPr/>
            <p:nvPr/>
          </p:nvSpPr>
          <p:spPr>
            <a:xfrm>
              <a:off x="4146884" y="3287740"/>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10" name="Google Shape;310;p20"/>
            <p:cNvSpPr/>
            <p:nvPr/>
          </p:nvSpPr>
          <p:spPr>
            <a:xfrm>
              <a:off x="5333694" y="3365649"/>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11" name="Google Shape;311;p20"/>
            <p:cNvSpPr/>
            <p:nvPr/>
          </p:nvSpPr>
          <p:spPr>
            <a:xfrm>
              <a:off x="4671731" y="3724296"/>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12" name="Google Shape;312;p20"/>
            <p:cNvSpPr/>
            <p:nvPr/>
          </p:nvSpPr>
          <p:spPr>
            <a:xfrm>
              <a:off x="5578868" y="269277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13" name="Google Shape;313;p20"/>
            <p:cNvSpPr/>
            <p:nvPr/>
          </p:nvSpPr>
          <p:spPr>
            <a:xfrm>
              <a:off x="7251104" y="3383992"/>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14" name="Google Shape;314;p20"/>
            <p:cNvSpPr/>
            <p:nvPr/>
          </p:nvSpPr>
          <p:spPr>
            <a:xfrm>
              <a:off x="4916905" y="2476203"/>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15" name="Google Shape;315;p20"/>
            <p:cNvSpPr/>
            <p:nvPr/>
          </p:nvSpPr>
          <p:spPr>
            <a:xfrm>
              <a:off x="8013104" y="34802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16" name="Google Shape;316;p20"/>
            <p:cNvSpPr/>
            <p:nvPr/>
          </p:nvSpPr>
          <p:spPr>
            <a:xfrm>
              <a:off x="7812650" y="3820548"/>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17" name="Google Shape;317;p20"/>
            <p:cNvSpPr/>
            <p:nvPr/>
          </p:nvSpPr>
          <p:spPr>
            <a:xfrm>
              <a:off x="7221293" y="389860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18" name="Google Shape;318;p20"/>
            <p:cNvSpPr/>
            <p:nvPr/>
          </p:nvSpPr>
          <p:spPr>
            <a:xfrm>
              <a:off x="7890517" y="308695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19" name="Google Shape;319;p20"/>
            <p:cNvSpPr/>
            <p:nvPr/>
          </p:nvSpPr>
          <p:spPr>
            <a:xfrm>
              <a:off x="8747635" y="3628043"/>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20" name="Google Shape;320;p20"/>
            <p:cNvSpPr/>
            <p:nvPr/>
          </p:nvSpPr>
          <p:spPr>
            <a:xfrm>
              <a:off x="8289229" y="4178076"/>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21" name="Google Shape;321;p20"/>
            <p:cNvSpPr/>
            <p:nvPr/>
          </p:nvSpPr>
          <p:spPr>
            <a:xfrm>
              <a:off x="7466467" y="47137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cxnSp>
          <p:nvCxnSpPr>
            <p:cNvPr id="322" name="Google Shape;322;p20"/>
            <p:cNvCxnSpPr/>
            <p:nvPr/>
          </p:nvCxnSpPr>
          <p:spPr>
            <a:xfrm>
              <a:off x="1451579" y="5478379"/>
              <a:ext cx="10186968" cy="0"/>
            </a:xfrm>
            <a:prstGeom prst="straightConnector1">
              <a:avLst/>
            </a:prstGeom>
            <a:noFill/>
            <a:ln cap="flat" cmpd="sng" w="38100">
              <a:solidFill>
                <a:schemeClr val="accent1"/>
              </a:solidFill>
              <a:prstDash val="solid"/>
              <a:round/>
              <a:headEnd len="sm" w="sm" type="none"/>
              <a:tailEnd len="med" w="med" type="triangle"/>
            </a:ln>
          </p:spPr>
        </p:cxnSp>
        <p:cxnSp>
          <p:nvCxnSpPr>
            <p:cNvPr id="323" name="Google Shape;323;p20"/>
            <p:cNvCxnSpPr/>
            <p:nvPr/>
          </p:nvCxnSpPr>
          <p:spPr>
            <a:xfrm rot="10800000">
              <a:off x="1451579" y="1965158"/>
              <a:ext cx="0" cy="3545305"/>
            </a:xfrm>
            <a:prstGeom prst="straightConnector1">
              <a:avLst/>
            </a:prstGeom>
            <a:noFill/>
            <a:ln cap="flat" cmpd="sng" w="38100">
              <a:solidFill>
                <a:schemeClr val="accent1"/>
              </a:solidFill>
              <a:prstDash val="solid"/>
              <a:round/>
              <a:headEnd len="sm" w="sm" type="none"/>
              <a:tailEnd len="med" w="med" type="triangle"/>
            </a:ln>
          </p:spPr>
        </p:cxnSp>
      </p:grpSp>
      <p:sp>
        <p:nvSpPr>
          <p:cNvPr id="324" name="Google Shape;324;p20"/>
          <p:cNvSpPr txBox="1"/>
          <p:nvPr/>
        </p:nvSpPr>
        <p:spPr>
          <a:xfrm>
            <a:off x="5903495" y="2326105"/>
            <a:ext cx="229402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For each dot</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if color = blue</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category = 1</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if color – red</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category = 2</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End for</a:t>
            </a:r>
            <a:endParaRPr/>
          </a:p>
        </p:txBody>
      </p:sp>
      <p:cxnSp>
        <p:nvCxnSpPr>
          <p:cNvPr id="325" name="Google Shape;325;p20"/>
          <p:cNvCxnSpPr/>
          <p:nvPr/>
        </p:nvCxnSpPr>
        <p:spPr>
          <a:xfrm>
            <a:off x="2446421" y="2671011"/>
            <a:ext cx="0" cy="2189747"/>
          </a:xfrm>
          <a:prstGeom prst="straightConnector1">
            <a:avLst/>
          </a:prstGeom>
          <a:noFill/>
          <a:ln cap="flat" cmpd="sng" w="9525">
            <a:solidFill>
              <a:schemeClr val="accent1"/>
            </a:solidFill>
            <a:prstDash val="solid"/>
            <a:round/>
            <a:headEnd len="sm" w="sm" type="none"/>
            <a:tailEnd len="sm" w="sm" type="none"/>
          </a:ln>
        </p:spPr>
      </p:cxnSp>
      <p:sp>
        <p:nvSpPr>
          <p:cNvPr id="326" name="Google Shape;326;p20"/>
          <p:cNvSpPr txBox="1"/>
          <p:nvPr/>
        </p:nvSpPr>
        <p:spPr>
          <a:xfrm>
            <a:off x="1083777" y="2462523"/>
            <a:ext cx="12344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Category 1</a:t>
            </a:r>
            <a:endParaRPr/>
          </a:p>
        </p:txBody>
      </p:sp>
      <p:sp>
        <p:nvSpPr>
          <p:cNvPr id="327" name="Google Shape;327;p20"/>
          <p:cNvSpPr txBox="1"/>
          <p:nvPr/>
        </p:nvSpPr>
        <p:spPr>
          <a:xfrm>
            <a:off x="2642267" y="2462523"/>
            <a:ext cx="12344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Category 2</a:t>
            </a:r>
            <a:endParaRPr/>
          </a:p>
        </p:txBody>
      </p:sp>
      <p:sp>
        <p:nvSpPr>
          <p:cNvPr id="328" name="Google Shape;328;p20"/>
          <p:cNvSpPr txBox="1"/>
          <p:nvPr/>
        </p:nvSpPr>
        <p:spPr>
          <a:xfrm>
            <a:off x="2983832" y="5053263"/>
            <a:ext cx="26177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What about a new point?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WHAT ABOUT A NEW POINT WITH UNKNOWN COLOR?</a:t>
            </a:r>
            <a:endParaRPr/>
          </a:p>
        </p:txBody>
      </p:sp>
      <p:sp>
        <p:nvSpPr>
          <p:cNvPr id="334" name="Google Shape;334;p21"/>
          <p:cNvSpPr/>
          <p:nvPr/>
        </p:nvSpPr>
        <p:spPr>
          <a:xfrm>
            <a:off x="3901710" y="24464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35" name="Google Shape;335;p21"/>
          <p:cNvSpPr/>
          <p:nvPr/>
        </p:nvSpPr>
        <p:spPr>
          <a:xfrm>
            <a:off x="4054110" y="25988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36" name="Google Shape;336;p21"/>
          <p:cNvSpPr/>
          <p:nvPr/>
        </p:nvSpPr>
        <p:spPr>
          <a:xfrm>
            <a:off x="5000594" y="291164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37" name="Google Shape;337;p21"/>
          <p:cNvSpPr/>
          <p:nvPr/>
        </p:nvSpPr>
        <p:spPr>
          <a:xfrm>
            <a:off x="4146884" y="3287740"/>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38" name="Google Shape;338;p21"/>
          <p:cNvSpPr/>
          <p:nvPr/>
        </p:nvSpPr>
        <p:spPr>
          <a:xfrm>
            <a:off x="5333694" y="3365649"/>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39" name="Google Shape;339;p21"/>
          <p:cNvSpPr/>
          <p:nvPr/>
        </p:nvSpPr>
        <p:spPr>
          <a:xfrm>
            <a:off x="4671731" y="3724296"/>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0" name="Google Shape;340;p21"/>
          <p:cNvSpPr/>
          <p:nvPr/>
        </p:nvSpPr>
        <p:spPr>
          <a:xfrm>
            <a:off x="5578868" y="269277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1" name="Google Shape;341;p21"/>
          <p:cNvSpPr/>
          <p:nvPr/>
        </p:nvSpPr>
        <p:spPr>
          <a:xfrm>
            <a:off x="7251104" y="3383992"/>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42" name="Google Shape;342;p21"/>
          <p:cNvSpPr/>
          <p:nvPr/>
        </p:nvSpPr>
        <p:spPr>
          <a:xfrm>
            <a:off x="4916905" y="2476203"/>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3" name="Google Shape;343;p21"/>
          <p:cNvSpPr/>
          <p:nvPr/>
        </p:nvSpPr>
        <p:spPr>
          <a:xfrm>
            <a:off x="8013104" y="34802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44" name="Google Shape;344;p21"/>
          <p:cNvSpPr/>
          <p:nvPr/>
        </p:nvSpPr>
        <p:spPr>
          <a:xfrm>
            <a:off x="7812650" y="3820548"/>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45" name="Google Shape;345;p21"/>
          <p:cNvSpPr/>
          <p:nvPr/>
        </p:nvSpPr>
        <p:spPr>
          <a:xfrm>
            <a:off x="7221293" y="389860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46" name="Google Shape;346;p21"/>
          <p:cNvSpPr/>
          <p:nvPr/>
        </p:nvSpPr>
        <p:spPr>
          <a:xfrm>
            <a:off x="7890517" y="308695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47" name="Google Shape;347;p21"/>
          <p:cNvSpPr/>
          <p:nvPr/>
        </p:nvSpPr>
        <p:spPr>
          <a:xfrm>
            <a:off x="8747635" y="3628043"/>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48" name="Google Shape;348;p21"/>
          <p:cNvSpPr/>
          <p:nvPr/>
        </p:nvSpPr>
        <p:spPr>
          <a:xfrm>
            <a:off x="8289229" y="4178076"/>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49" name="Google Shape;349;p21"/>
          <p:cNvSpPr/>
          <p:nvPr/>
        </p:nvSpPr>
        <p:spPr>
          <a:xfrm>
            <a:off x="7466467" y="47137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cxnSp>
        <p:nvCxnSpPr>
          <p:cNvPr id="350" name="Google Shape;350;p21"/>
          <p:cNvCxnSpPr/>
          <p:nvPr/>
        </p:nvCxnSpPr>
        <p:spPr>
          <a:xfrm>
            <a:off x="1451579" y="5478379"/>
            <a:ext cx="10186968" cy="0"/>
          </a:xfrm>
          <a:prstGeom prst="straightConnector1">
            <a:avLst/>
          </a:prstGeom>
          <a:noFill/>
          <a:ln cap="flat" cmpd="sng" w="38100">
            <a:solidFill>
              <a:schemeClr val="accent1"/>
            </a:solidFill>
            <a:prstDash val="solid"/>
            <a:round/>
            <a:headEnd len="sm" w="sm" type="none"/>
            <a:tailEnd len="med" w="med" type="triangle"/>
          </a:ln>
        </p:spPr>
      </p:cxnSp>
      <p:cxnSp>
        <p:nvCxnSpPr>
          <p:cNvPr id="351" name="Google Shape;351;p21"/>
          <p:cNvCxnSpPr/>
          <p:nvPr/>
        </p:nvCxnSpPr>
        <p:spPr>
          <a:xfrm rot="10800000">
            <a:off x="1451579" y="1965158"/>
            <a:ext cx="0" cy="3545305"/>
          </a:xfrm>
          <a:prstGeom prst="straightConnector1">
            <a:avLst/>
          </a:prstGeom>
          <a:noFill/>
          <a:ln cap="flat" cmpd="sng" w="38100">
            <a:solidFill>
              <a:schemeClr val="accent1"/>
            </a:solidFill>
            <a:prstDash val="solid"/>
            <a:round/>
            <a:headEnd len="sm" w="sm" type="none"/>
            <a:tailEnd len="med" w="med" type="triangle"/>
          </a:ln>
        </p:spPr>
      </p:cxnSp>
      <p:sp>
        <p:nvSpPr>
          <p:cNvPr id="352" name="Google Shape;352;p21"/>
          <p:cNvSpPr/>
          <p:nvPr/>
        </p:nvSpPr>
        <p:spPr>
          <a:xfrm>
            <a:off x="6330840" y="3377309"/>
            <a:ext cx="245174" cy="192505"/>
          </a:xfrm>
          <a:prstGeom prst="ellipse">
            <a:avLst/>
          </a:prstGeom>
          <a:solidFill>
            <a:schemeClr val="l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cxnSp>
        <p:nvCxnSpPr>
          <p:cNvPr id="353" name="Google Shape;353;p21"/>
          <p:cNvCxnSpPr/>
          <p:nvPr/>
        </p:nvCxnSpPr>
        <p:spPr>
          <a:xfrm>
            <a:off x="6424863" y="1853754"/>
            <a:ext cx="0" cy="3624625"/>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AI TAKES A DIFFERENT APPROACH</a:t>
            </a:r>
            <a:endParaRPr/>
          </a:p>
        </p:txBody>
      </p:sp>
      <p:sp>
        <p:nvSpPr>
          <p:cNvPr id="359" name="Google Shape;359;p22"/>
          <p:cNvSpPr/>
          <p:nvPr/>
        </p:nvSpPr>
        <p:spPr>
          <a:xfrm>
            <a:off x="3901710" y="24464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0" name="Google Shape;360;p22"/>
          <p:cNvSpPr/>
          <p:nvPr/>
        </p:nvSpPr>
        <p:spPr>
          <a:xfrm>
            <a:off x="4054110" y="25988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1" name="Google Shape;361;p22"/>
          <p:cNvSpPr/>
          <p:nvPr/>
        </p:nvSpPr>
        <p:spPr>
          <a:xfrm>
            <a:off x="5000594" y="291164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2" name="Google Shape;362;p22"/>
          <p:cNvSpPr/>
          <p:nvPr/>
        </p:nvSpPr>
        <p:spPr>
          <a:xfrm>
            <a:off x="4146884" y="3287740"/>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3" name="Google Shape;363;p22"/>
          <p:cNvSpPr/>
          <p:nvPr/>
        </p:nvSpPr>
        <p:spPr>
          <a:xfrm>
            <a:off x="5333694" y="3365649"/>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4" name="Google Shape;364;p22"/>
          <p:cNvSpPr/>
          <p:nvPr/>
        </p:nvSpPr>
        <p:spPr>
          <a:xfrm>
            <a:off x="4671731" y="3724296"/>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5" name="Google Shape;365;p22"/>
          <p:cNvSpPr/>
          <p:nvPr/>
        </p:nvSpPr>
        <p:spPr>
          <a:xfrm>
            <a:off x="5578868" y="269277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6" name="Google Shape;366;p22"/>
          <p:cNvSpPr/>
          <p:nvPr/>
        </p:nvSpPr>
        <p:spPr>
          <a:xfrm>
            <a:off x="7251104" y="3383992"/>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67" name="Google Shape;367;p22"/>
          <p:cNvSpPr/>
          <p:nvPr/>
        </p:nvSpPr>
        <p:spPr>
          <a:xfrm>
            <a:off x="4916905" y="2476203"/>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8" name="Google Shape;368;p22"/>
          <p:cNvSpPr/>
          <p:nvPr/>
        </p:nvSpPr>
        <p:spPr>
          <a:xfrm>
            <a:off x="8013104" y="34802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69" name="Google Shape;369;p22"/>
          <p:cNvSpPr/>
          <p:nvPr/>
        </p:nvSpPr>
        <p:spPr>
          <a:xfrm>
            <a:off x="7812650" y="3820548"/>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70" name="Google Shape;370;p22"/>
          <p:cNvSpPr/>
          <p:nvPr/>
        </p:nvSpPr>
        <p:spPr>
          <a:xfrm>
            <a:off x="7221293" y="389860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71" name="Google Shape;371;p22"/>
          <p:cNvSpPr/>
          <p:nvPr/>
        </p:nvSpPr>
        <p:spPr>
          <a:xfrm>
            <a:off x="7890517" y="308695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72" name="Google Shape;372;p22"/>
          <p:cNvSpPr/>
          <p:nvPr/>
        </p:nvSpPr>
        <p:spPr>
          <a:xfrm>
            <a:off x="8747635" y="3628043"/>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73" name="Google Shape;373;p22"/>
          <p:cNvSpPr/>
          <p:nvPr/>
        </p:nvSpPr>
        <p:spPr>
          <a:xfrm>
            <a:off x="8289229" y="4178076"/>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74" name="Google Shape;374;p22"/>
          <p:cNvSpPr/>
          <p:nvPr/>
        </p:nvSpPr>
        <p:spPr>
          <a:xfrm>
            <a:off x="7466467" y="47137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cxnSp>
        <p:nvCxnSpPr>
          <p:cNvPr id="375" name="Google Shape;375;p22"/>
          <p:cNvCxnSpPr/>
          <p:nvPr/>
        </p:nvCxnSpPr>
        <p:spPr>
          <a:xfrm>
            <a:off x="1451579" y="5478379"/>
            <a:ext cx="10186968" cy="0"/>
          </a:xfrm>
          <a:prstGeom prst="straightConnector1">
            <a:avLst/>
          </a:prstGeom>
          <a:noFill/>
          <a:ln cap="flat" cmpd="sng" w="38100">
            <a:solidFill>
              <a:schemeClr val="accent1"/>
            </a:solidFill>
            <a:prstDash val="solid"/>
            <a:round/>
            <a:headEnd len="sm" w="sm" type="none"/>
            <a:tailEnd len="med" w="med" type="triangle"/>
          </a:ln>
        </p:spPr>
      </p:cxnSp>
      <p:cxnSp>
        <p:nvCxnSpPr>
          <p:cNvPr id="376" name="Google Shape;376;p22"/>
          <p:cNvCxnSpPr/>
          <p:nvPr/>
        </p:nvCxnSpPr>
        <p:spPr>
          <a:xfrm rot="10800000">
            <a:off x="1451579" y="1965158"/>
            <a:ext cx="0" cy="3545305"/>
          </a:xfrm>
          <a:prstGeom prst="straightConnector1">
            <a:avLst/>
          </a:prstGeom>
          <a:noFill/>
          <a:ln cap="flat" cmpd="sng" w="38100">
            <a:solidFill>
              <a:schemeClr val="accent1"/>
            </a:solidFill>
            <a:prstDash val="solid"/>
            <a:round/>
            <a:headEnd len="sm" w="sm" type="none"/>
            <a:tailEnd len="med" w="med" type="triangle"/>
          </a:ln>
        </p:spPr>
      </p:cxnSp>
      <p:cxnSp>
        <p:nvCxnSpPr>
          <p:cNvPr id="377" name="Google Shape;377;p22"/>
          <p:cNvCxnSpPr/>
          <p:nvPr/>
        </p:nvCxnSpPr>
        <p:spPr>
          <a:xfrm flipH="1" rot="10800000">
            <a:off x="1451579" y="1965158"/>
            <a:ext cx="8438379" cy="3513221"/>
          </a:xfrm>
          <a:prstGeom prst="straightConnector1">
            <a:avLst/>
          </a:prstGeom>
          <a:noFill/>
          <a:ln cap="flat" cmpd="sng" w="9525">
            <a:solidFill>
              <a:schemeClr val="accent2"/>
            </a:solidFill>
            <a:prstDash val="solid"/>
            <a:round/>
            <a:headEnd len="sm" w="sm" type="none"/>
            <a:tailEnd len="med" w="med" type="triangle"/>
          </a:ln>
        </p:spPr>
      </p:cxnSp>
      <p:sp>
        <p:nvSpPr>
          <p:cNvPr id="378" name="Google Shape;378;p22"/>
          <p:cNvSpPr/>
          <p:nvPr/>
        </p:nvSpPr>
        <p:spPr>
          <a:xfrm>
            <a:off x="6734278" y="3207642"/>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AI TAKES A DIFFERENT APPROACH</a:t>
            </a:r>
            <a:endParaRPr/>
          </a:p>
        </p:txBody>
      </p:sp>
      <p:grpSp>
        <p:nvGrpSpPr>
          <p:cNvPr id="384" name="Google Shape;384;p23"/>
          <p:cNvGrpSpPr/>
          <p:nvPr/>
        </p:nvGrpSpPr>
        <p:grpSpPr>
          <a:xfrm>
            <a:off x="1451579" y="1965159"/>
            <a:ext cx="2422589" cy="1463842"/>
            <a:chOff x="1451579" y="1965158"/>
            <a:chExt cx="10186968" cy="3545305"/>
          </a:xfrm>
        </p:grpSpPr>
        <p:sp>
          <p:nvSpPr>
            <p:cNvPr id="385" name="Google Shape;385;p23"/>
            <p:cNvSpPr/>
            <p:nvPr/>
          </p:nvSpPr>
          <p:spPr>
            <a:xfrm>
              <a:off x="3901710" y="24464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86" name="Google Shape;386;p23"/>
            <p:cNvSpPr/>
            <p:nvPr/>
          </p:nvSpPr>
          <p:spPr>
            <a:xfrm>
              <a:off x="4054110" y="25988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87" name="Google Shape;387;p23"/>
            <p:cNvSpPr/>
            <p:nvPr/>
          </p:nvSpPr>
          <p:spPr>
            <a:xfrm>
              <a:off x="5000594" y="291164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88" name="Google Shape;388;p23"/>
            <p:cNvSpPr/>
            <p:nvPr/>
          </p:nvSpPr>
          <p:spPr>
            <a:xfrm>
              <a:off x="4146884" y="3287740"/>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89" name="Google Shape;389;p23"/>
            <p:cNvSpPr/>
            <p:nvPr/>
          </p:nvSpPr>
          <p:spPr>
            <a:xfrm>
              <a:off x="5333694" y="3365649"/>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90" name="Google Shape;390;p23"/>
            <p:cNvSpPr/>
            <p:nvPr/>
          </p:nvSpPr>
          <p:spPr>
            <a:xfrm>
              <a:off x="4671731" y="3724296"/>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91" name="Google Shape;391;p23"/>
            <p:cNvSpPr/>
            <p:nvPr/>
          </p:nvSpPr>
          <p:spPr>
            <a:xfrm>
              <a:off x="5578868" y="269277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92" name="Google Shape;392;p23"/>
            <p:cNvSpPr/>
            <p:nvPr/>
          </p:nvSpPr>
          <p:spPr>
            <a:xfrm>
              <a:off x="7251104" y="3383992"/>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93" name="Google Shape;393;p23"/>
            <p:cNvSpPr/>
            <p:nvPr/>
          </p:nvSpPr>
          <p:spPr>
            <a:xfrm>
              <a:off x="4916905" y="2476203"/>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94" name="Google Shape;394;p23"/>
            <p:cNvSpPr/>
            <p:nvPr/>
          </p:nvSpPr>
          <p:spPr>
            <a:xfrm>
              <a:off x="8013104" y="34802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95" name="Google Shape;395;p23"/>
            <p:cNvSpPr/>
            <p:nvPr/>
          </p:nvSpPr>
          <p:spPr>
            <a:xfrm>
              <a:off x="7812650" y="3820548"/>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96" name="Google Shape;396;p23"/>
            <p:cNvSpPr/>
            <p:nvPr/>
          </p:nvSpPr>
          <p:spPr>
            <a:xfrm>
              <a:off x="7221293" y="389860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97" name="Google Shape;397;p23"/>
            <p:cNvSpPr/>
            <p:nvPr/>
          </p:nvSpPr>
          <p:spPr>
            <a:xfrm>
              <a:off x="7890517" y="308695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98" name="Google Shape;398;p23"/>
            <p:cNvSpPr/>
            <p:nvPr/>
          </p:nvSpPr>
          <p:spPr>
            <a:xfrm>
              <a:off x="8747635" y="3628043"/>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399" name="Google Shape;399;p23"/>
            <p:cNvSpPr/>
            <p:nvPr/>
          </p:nvSpPr>
          <p:spPr>
            <a:xfrm>
              <a:off x="8289229" y="4178076"/>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00" name="Google Shape;400;p23"/>
            <p:cNvSpPr/>
            <p:nvPr/>
          </p:nvSpPr>
          <p:spPr>
            <a:xfrm>
              <a:off x="7466467" y="47137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cxnSp>
          <p:nvCxnSpPr>
            <p:cNvPr id="401" name="Google Shape;401;p23"/>
            <p:cNvCxnSpPr/>
            <p:nvPr/>
          </p:nvCxnSpPr>
          <p:spPr>
            <a:xfrm>
              <a:off x="1451579" y="5478379"/>
              <a:ext cx="10186968" cy="0"/>
            </a:xfrm>
            <a:prstGeom prst="straightConnector1">
              <a:avLst/>
            </a:prstGeom>
            <a:noFill/>
            <a:ln cap="flat" cmpd="sng" w="38100">
              <a:solidFill>
                <a:schemeClr val="accent1"/>
              </a:solidFill>
              <a:prstDash val="solid"/>
              <a:round/>
              <a:headEnd len="sm" w="sm" type="none"/>
              <a:tailEnd len="med" w="med" type="triangle"/>
            </a:ln>
          </p:spPr>
        </p:cxnSp>
        <p:cxnSp>
          <p:nvCxnSpPr>
            <p:cNvPr id="402" name="Google Shape;402;p23"/>
            <p:cNvCxnSpPr/>
            <p:nvPr/>
          </p:nvCxnSpPr>
          <p:spPr>
            <a:xfrm rot="10800000">
              <a:off x="1451579" y="1965158"/>
              <a:ext cx="0" cy="3545305"/>
            </a:xfrm>
            <a:prstGeom prst="straightConnector1">
              <a:avLst/>
            </a:prstGeom>
            <a:noFill/>
            <a:ln cap="flat" cmpd="sng" w="38100">
              <a:solidFill>
                <a:schemeClr val="accent1"/>
              </a:solidFill>
              <a:prstDash val="solid"/>
              <a:round/>
              <a:headEnd len="sm" w="sm" type="none"/>
              <a:tailEnd len="med" w="med" type="triangle"/>
            </a:ln>
          </p:spPr>
        </p:cxnSp>
        <p:cxnSp>
          <p:nvCxnSpPr>
            <p:cNvPr id="403" name="Google Shape;403;p23"/>
            <p:cNvCxnSpPr/>
            <p:nvPr/>
          </p:nvCxnSpPr>
          <p:spPr>
            <a:xfrm flipH="1" rot="10800000">
              <a:off x="1451579" y="1965158"/>
              <a:ext cx="8438379" cy="3513221"/>
            </a:xfrm>
            <a:prstGeom prst="straightConnector1">
              <a:avLst/>
            </a:prstGeom>
            <a:noFill/>
            <a:ln cap="flat" cmpd="sng" w="9525">
              <a:solidFill>
                <a:schemeClr val="accent2"/>
              </a:solidFill>
              <a:prstDash val="solid"/>
              <a:round/>
              <a:headEnd len="sm" w="sm" type="none"/>
              <a:tailEnd len="med" w="med" type="triangle"/>
            </a:ln>
          </p:spPr>
        </p:cxnSp>
        <p:sp>
          <p:nvSpPr>
            <p:cNvPr id="404" name="Google Shape;404;p23"/>
            <p:cNvSpPr/>
            <p:nvPr/>
          </p:nvSpPr>
          <p:spPr>
            <a:xfrm>
              <a:off x="6734278" y="3207642"/>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grpSp>
      <p:sp>
        <p:nvSpPr>
          <p:cNvPr id="405" name="Google Shape;405;p23"/>
          <p:cNvSpPr txBox="1"/>
          <p:nvPr/>
        </p:nvSpPr>
        <p:spPr>
          <a:xfrm>
            <a:off x="5526505" y="2197768"/>
            <a:ext cx="4985467"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Training</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Given all points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Find a line that best separates the two colors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Represent the line using WX+b</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Inference</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For the new point</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Run the equation with x and y coordinates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Determine if it belongs to category 1 or 2</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AI GIVES YOU MULTIPLE SOLUTIONS</a:t>
            </a:r>
            <a:endParaRPr/>
          </a:p>
        </p:txBody>
      </p:sp>
      <p:grpSp>
        <p:nvGrpSpPr>
          <p:cNvPr id="411" name="Google Shape;411;p24"/>
          <p:cNvGrpSpPr/>
          <p:nvPr/>
        </p:nvGrpSpPr>
        <p:grpSpPr>
          <a:xfrm>
            <a:off x="1459389" y="1793512"/>
            <a:ext cx="2574989" cy="1540042"/>
            <a:chOff x="1451579" y="1780674"/>
            <a:chExt cx="10186968" cy="3729789"/>
          </a:xfrm>
        </p:grpSpPr>
        <p:sp>
          <p:nvSpPr>
            <p:cNvPr id="412" name="Google Shape;412;p24"/>
            <p:cNvSpPr/>
            <p:nvPr/>
          </p:nvSpPr>
          <p:spPr>
            <a:xfrm>
              <a:off x="3901710" y="24464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3" name="Google Shape;413;p24"/>
            <p:cNvSpPr/>
            <p:nvPr/>
          </p:nvSpPr>
          <p:spPr>
            <a:xfrm>
              <a:off x="4054110" y="25988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4" name="Google Shape;414;p24"/>
            <p:cNvSpPr/>
            <p:nvPr/>
          </p:nvSpPr>
          <p:spPr>
            <a:xfrm>
              <a:off x="5000594" y="291164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5" name="Google Shape;415;p24"/>
            <p:cNvSpPr/>
            <p:nvPr/>
          </p:nvSpPr>
          <p:spPr>
            <a:xfrm>
              <a:off x="4146884" y="3287740"/>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6" name="Google Shape;416;p24"/>
            <p:cNvSpPr/>
            <p:nvPr/>
          </p:nvSpPr>
          <p:spPr>
            <a:xfrm>
              <a:off x="5333694" y="3365649"/>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7" name="Google Shape;417;p24"/>
            <p:cNvSpPr/>
            <p:nvPr/>
          </p:nvSpPr>
          <p:spPr>
            <a:xfrm>
              <a:off x="4671731" y="3724296"/>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8" name="Google Shape;418;p24"/>
            <p:cNvSpPr/>
            <p:nvPr/>
          </p:nvSpPr>
          <p:spPr>
            <a:xfrm>
              <a:off x="5578868" y="269277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9" name="Google Shape;419;p24"/>
            <p:cNvSpPr/>
            <p:nvPr/>
          </p:nvSpPr>
          <p:spPr>
            <a:xfrm>
              <a:off x="7251104" y="3383992"/>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20" name="Google Shape;420;p24"/>
            <p:cNvSpPr/>
            <p:nvPr/>
          </p:nvSpPr>
          <p:spPr>
            <a:xfrm>
              <a:off x="4916905" y="2476203"/>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21" name="Google Shape;421;p24"/>
            <p:cNvSpPr/>
            <p:nvPr/>
          </p:nvSpPr>
          <p:spPr>
            <a:xfrm>
              <a:off x="8013104" y="34802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22" name="Google Shape;422;p24"/>
            <p:cNvSpPr/>
            <p:nvPr/>
          </p:nvSpPr>
          <p:spPr>
            <a:xfrm>
              <a:off x="7812650" y="3820548"/>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23" name="Google Shape;423;p24"/>
            <p:cNvSpPr/>
            <p:nvPr/>
          </p:nvSpPr>
          <p:spPr>
            <a:xfrm>
              <a:off x="7221293" y="389860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24" name="Google Shape;424;p24"/>
            <p:cNvSpPr/>
            <p:nvPr/>
          </p:nvSpPr>
          <p:spPr>
            <a:xfrm>
              <a:off x="7890517" y="308695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25" name="Google Shape;425;p24"/>
            <p:cNvSpPr/>
            <p:nvPr/>
          </p:nvSpPr>
          <p:spPr>
            <a:xfrm>
              <a:off x="8747635" y="3628043"/>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26" name="Google Shape;426;p24"/>
            <p:cNvSpPr/>
            <p:nvPr/>
          </p:nvSpPr>
          <p:spPr>
            <a:xfrm>
              <a:off x="8289229" y="4178076"/>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27" name="Google Shape;427;p24"/>
            <p:cNvSpPr/>
            <p:nvPr/>
          </p:nvSpPr>
          <p:spPr>
            <a:xfrm>
              <a:off x="7466467" y="47137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cxnSp>
          <p:nvCxnSpPr>
            <p:cNvPr id="428" name="Google Shape;428;p24"/>
            <p:cNvCxnSpPr/>
            <p:nvPr/>
          </p:nvCxnSpPr>
          <p:spPr>
            <a:xfrm>
              <a:off x="1451579" y="5478379"/>
              <a:ext cx="10186968" cy="0"/>
            </a:xfrm>
            <a:prstGeom prst="straightConnector1">
              <a:avLst/>
            </a:prstGeom>
            <a:noFill/>
            <a:ln cap="flat" cmpd="sng" w="38100">
              <a:solidFill>
                <a:schemeClr val="accent1"/>
              </a:solidFill>
              <a:prstDash val="solid"/>
              <a:round/>
              <a:headEnd len="sm" w="sm" type="none"/>
              <a:tailEnd len="med" w="med" type="triangle"/>
            </a:ln>
          </p:spPr>
        </p:cxnSp>
        <p:cxnSp>
          <p:nvCxnSpPr>
            <p:cNvPr id="429" name="Google Shape;429;p24"/>
            <p:cNvCxnSpPr/>
            <p:nvPr/>
          </p:nvCxnSpPr>
          <p:spPr>
            <a:xfrm rot="10800000">
              <a:off x="1451579" y="1965158"/>
              <a:ext cx="0" cy="3545305"/>
            </a:xfrm>
            <a:prstGeom prst="straightConnector1">
              <a:avLst/>
            </a:prstGeom>
            <a:noFill/>
            <a:ln cap="flat" cmpd="sng" w="38100">
              <a:solidFill>
                <a:schemeClr val="accent1"/>
              </a:solidFill>
              <a:prstDash val="solid"/>
              <a:round/>
              <a:headEnd len="sm" w="sm" type="none"/>
              <a:tailEnd len="med" w="med" type="triangle"/>
            </a:ln>
          </p:spPr>
        </p:cxnSp>
        <p:cxnSp>
          <p:nvCxnSpPr>
            <p:cNvPr id="430" name="Google Shape;430;p24"/>
            <p:cNvCxnSpPr/>
            <p:nvPr/>
          </p:nvCxnSpPr>
          <p:spPr>
            <a:xfrm flipH="1" rot="10800000">
              <a:off x="4146884" y="1780674"/>
              <a:ext cx="2429130" cy="3697705"/>
            </a:xfrm>
            <a:prstGeom prst="straightConnector1">
              <a:avLst/>
            </a:prstGeom>
            <a:noFill/>
            <a:ln cap="flat" cmpd="sng" w="9525">
              <a:solidFill>
                <a:schemeClr val="accent2"/>
              </a:solidFill>
              <a:prstDash val="solid"/>
              <a:round/>
              <a:headEnd len="sm" w="sm" type="none"/>
              <a:tailEnd len="med" w="med" type="triangle"/>
            </a:ln>
          </p:spPr>
        </p:cxnSp>
        <p:sp>
          <p:nvSpPr>
            <p:cNvPr id="431" name="Google Shape;431;p24"/>
            <p:cNvSpPr/>
            <p:nvPr/>
          </p:nvSpPr>
          <p:spPr>
            <a:xfrm>
              <a:off x="6734278" y="3207642"/>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32" name="Google Shape;432;p24"/>
            <p:cNvSpPr/>
            <p:nvPr/>
          </p:nvSpPr>
          <p:spPr>
            <a:xfrm>
              <a:off x="6330840" y="3377309"/>
              <a:ext cx="245174" cy="192505"/>
            </a:xfrm>
            <a:prstGeom prst="ellipse">
              <a:avLst/>
            </a:prstGeom>
            <a:solidFill>
              <a:schemeClr val="l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grpSp>
      <p:sp>
        <p:nvSpPr>
          <p:cNvPr id="433" name="Google Shape;433;p24"/>
          <p:cNvSpPr/>
          <p:nvPr/>
        </p:nvSpPr>
        <p:spPr>
          <a:xfrm>
            <a:off x="7741492" y="2136664"/>
            <a:ext cx="61973" cy="79486"/>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34" name="Google Shape;434;p24"/>
          <p:cNvSpPr/>
          <p:nvPr/>
        </p:nvSpPr>
        <p:spPr>
          <a:xfrm>
            <a:off x="7780014" y="2199591"/>
            <a:ext cx="61973" cy="79486"/>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35" name="Google Shape;435;p24"/>
          <p:cNvSpPr/>
          <p:nvPr/>
        </p:nvSpPr>
        <p:spPr>
          <a:xfrm>
            <a:off x="8019260" y="2328755"/>
            <a:ext cx="61973" cy="79486"/>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36" name="Google Shape;436;p24"/>
          <p:cNvSpPr/>
          <p:nvPr/>
        </p:nvSpPr>
        <p:spPr>
          <a:xfrm>
            <a:off x="7803465" y="2484047"/>
            <a:ext cx="61973" cy="79486"/>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37" name="Google Shape;437;p24"/>
          <p:cNvSpPr/>
          <p:nvPr/>
        </p:nvSpPr>
        <p:spPr>
          <a:xfrm>
            <a:off x="8103458" y="2516216"/>
            <a:ext cx="61973" cy="79486"/>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38" name="Google Shape;438;p24"/>
          <p:cNvSpPr/>
          <p:nvPr/>
        </p:nvSpPr>
        <p:spPr>
          <a:xfrm>
            <a:off x="7936132" y="2664303"/>
            <a:ext cx="61973" cy="79486"/>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39" name="Google Shape;439;p24"/>
          <p:cNvSpPr/>
          <p:nvPr/>
        </p:nvSpPr>
        <p:spPr>
          <a:xfrm>
            <a:off x="8165432" y="2238383"/>
            <a:ext cx="61973" cy="79486"/>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40" name="Google Shape;440;p24"/>
          <p:cNvSpPr/>
          <p:nvPr/>
        </p:nvSpPr>
        <p:spPr>
          <a:xfrm>
            <a:off x="8588128" y="2523790"/>
            <a:ext cx="61973" cy="79486"/>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41" name="Google Shape;441;p24"/>
          <p:cNvSpPr/>
          <p:nvPr/>
        </p:nvSpPr>
        <p:spPr>
          <a:xfrm>
            <a:off x="7998105" y="2148961"/>
            <a:ext cx="61973" cy="79486"/>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42" name="Google Shape;442;p24"/>
          <p:cNvSpPr/>
          <p:nvPr/>
        </p:nvSpPr>
        <p:spPr>
          <a:xfrm>
            <a:off x="8780740" y="2563533"/>
            <a:ext cx="61973" cy="79486"/>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43" name="Google Shape;443;p24"/>
          <p:cNvSpPr/>
          <p:nvPr/>
        </p:nvSpPr>
        <p:spPr>
          <a:xfrm>
            <a:off x="8730071" y="2704046"/>
            <a:ext cx="61973" cy="79486"/>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44" name="Google Shape;444;p24"/>
          <p:cNvSpPr/>
          <p:nvPr/>
        </p:nvSpPr>
        <p:spPr>
          <a:xfrm>
            <a:off x="8580592" y="2736275"/>
            <a:ext cx="61973" cy="79486"/>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45" name="Google Shape;445;p24"/>
          <p:cNvSpPr/>
          <p:nvPr/>
        </p:nvSpPr>
        <p:spPr>
          <a:xfrm>
            <a:off x="8749754" y="2401142"/>
            <a:ext cx="61973" cy="79486"/>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46" name="Google Shape;446;p24"/>
          <p:cNvSpPr/>
          <p:nvPr/>
        </p:nvSpPr>
        <p:spPr>
          <a:xfrm>
            <a:off x="8966410" y="2624560"/>
            <a:ext cx="61973" cy="79486"/>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47" name="Google Shape;447;p24"/>
          <p:cNvSpPr/>
          <p:nvPr/>
        </p:nvSpPr>
        <p:spPr>
          <a:xfrm>
            <a:off x="8850537" y="2851670"/>
            <a:ext cx="61973" cy="79486"/>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48" name="Google Shape;448;p24"/>
          <p:cNvSpPr/>
          <p:nvPr/>
        </p:nvSpPr>
        <p:spPr>
          <a:xfrm>
            <a:off x="8642565" y="3072849"/>
            <a:ext cx="61973" cy="79486"/>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cxnSp>
        <p:nvCxnSpPr>
          <p:cNvPr id="449" name="Google Shape;449;p24"/>
          <p:cNvCxnSpPr/>
          <p:nvPr/>
        </p:nvCxnSpPr>
        <p:spPr>
          <a:xfrm>
            <a:off x="7122165" y="3388569"/>
            <a:ext cx="2574989" cy="0"/>
          </a:xfrm>
          <a:prstGeom prst="straightConnector1">
            <a:avLst/>
          </a:prstGeom>
          <a:noFill/>
          <a:ln cap="flat" cmpd="sng" w="38100">
            <a:solidFill>
              <a:schemeClr val="accent1"/>
            </a:solidFill>
            <a:prstDash val="solid"/>
            <a:round/>
            <a:headEnd len="sm" w="sm" type="none"/>
            <a:tailEnd len="med" w="med" type="triangle"/>
          </a:ln>
        </p:spPr>
      </p:cxnSp>
      <p:cxnSp>
        <p:nvCxnSpPr>
          <p:cNvPr id="450" name="Google Shape;450;p24"/>
          <p:cNvCxnSpPr/>
          <p:nvPr/>
        </p:nvCxnSpPr>
        <p:spPr>
          <a:xfrm rot="10800000">
            <a:off x="7122165" y="1937949"/>
            <a:ext cx="0" cy="1463868"/>
          </a:xfrm>
          <a:prstGeom prst="straightConnector1">
            <a:avLst/>
          </a:prstGeom>
          <a:noFill/>
          <a:ln cap="flat" cmpd="sng" w="38100">
            <a:solidFill>
              <a:schemeClr val="accent1"/>
            </a:solidFill>
            <a:prstDash val="solid"/>
            <a:round/>
            <a:headEnd len="sm" w="sm" type="none"/>
            <a:tailEnd len="med" w="med" type="triangle"/>
          </a:ln>
        </p:spPr>
      </p:cxnSp>
      <p:cxnSp>
        <p:nvCxnSpPr>
          <p:cNvPr id="451" name="Google Shape;451;p24"/>
          <p:cNvCxnSpPr/>
          <p:nvPr/>
        </p:nvCxnSpPr>
        <p:spPr>
          <a:xfrm flipH="1" rot="10800000">
            <a:off x="7128788" y="1853754"/>
            <a:ext cx="2506393" cy="1558376"/>
          </a:xfrm>
          <a:prstGeom prst="straightConnector1">
            <a:avLst/>
          </a:prstGeom>
          <a:noFill/>
          <a:ln cap="flat" cmpd="sng" w="9525">
            <a:solidFill>
              <a:schemeClr val="accent2"/>
            </a:solidFill>
            <a:prstDash val="solid"/>
            <a:round/>
            <a:headEnd len="sm" w="sm" type="none"/>
            <a:tailEnd len="med" w="med" type="triangle"/>
          </a:ln>
        </p:spPr>
      </p:cxnSp>
      <p:sp>
        <p:nvSpPr>
          <p:cNvPr id="452" name="Google Shape;452;p24"/>
          <p:cNvSpPr/>
          <p:nvPr/>
        </p:nvSpPr>
        <p:spPr>
          <a:xfrm>
            <a:off x="8457488" y="2450975"/>
            <a:ext cx="61973" cy="79486"/>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53" name="Google Shape;453;p24"/>
          <p:cNvSpPr/>
          <p:nvPr/>
        </p:nvSpPr>
        <p:spPr>
          <a:xfrm>
            <a:off x="8355510" y="2521031"/>
            <a:ext cx="61973" cy="79486"/>
          </a:xfrm>
          <a:prstGeom prst="ellipse">
            <a:avLst/>
          </a:prstGeom>
          <a:solidFill>
            <a:schemeClr val="l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grpSp>
        <p:nvGrpSpPr>
          <p:cNvPr id="454" name="Google Shape;454;p24"/>
          <p:cNvGrpSpPr/>
          <p:nvPr/>
        </p:nvGrpSpPr>
        <p:grpSpPr>
          <a:xfrm>
            <a:off x="4547175" y="4247122"/>
            <a:ext cx="2574990" cy="1463868"/>
            <a:chOff x="1451575" y="1965158"/>
            <a:chExt cx="10186972" cy="3545305"/>
          </a:xfrm>
        </p:grpSpPr>
        <p:sp>
          <p:nvSpPr>
            <p:cNvPr id="455" name="Google Shape;455;p24"/>
            <p:cNvSpPr/>
            <p:nvPr/>
          </p:nvSpPr>
          <p:spPr>
            <a:xfrm>
              <a:off x="3901710" y="24464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56" name="Google Shape;456;p24"/>
            <p:cNvSpPr/>
            <p:nvPr/>
          </p:nvSpPr>
          <p:spPr>
            <a:xfrm>
              <a:off x="4054110" y="2598821"/>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57" name="Google Shape;457;p24"/>
            <p:cNvSpPr/>
            <p:nvPr/>
          </p:nvSpPr>
          <p:spPr>
            <a:xfrm>
              <a:off x="5000594" y="291164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58" name="Google Shape;458;p24"/>
            <p:cNvSpPr/>
            <p:nvPr/>
          </p:nvSpPr>
          <p:spPr>
            <a:xfrm>
              <a:off x="4146884" y="3287740"/>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59" name="Google Shape;459;p24"/>
            <p:cNvSpPr/>
            <p:nvPr/>
          </p:nvSpPr>
          <p:spPr>
            <a:xfrm>
              <a:off x="5333694" y="3365649"/>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60" name="Google Shape;460;p24"/>
            <p:cNvSpPr/>
            <p:nvPr/>
          </p:nvSpPr>
          <p:spPr>
            <a:xfrm>
              <a:off x="4671731" y="3724296"/>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61" name="Google Shape;461;p24"/>
            <p:cNvSpPr/>
            <p:nvPr/>
          </p:nvSpPr>
          <p:spPr>
            <a:xfrm>
              <a:off x="5578868" y="2692772"/>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62" name="Google Shape;462;p24"/>
            <p:cNvSpPr/>
            <p:nvPr/>
          </p:nvSpPr>
          <p:spPr>
            <a:xfrm>
              <a:off x="7251104" y="3383992"/>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63" name="Google Shape;463;p24"/>
            <p:cNvSpPr/>
            <p:nvPr/>
          </p:nvSpPr>
          <p:spPr>
            <a:xfrm>
              <a:off x="4916905" y="2476203"/>
              <a:ext cx="245174" cy="192505"/>
            </a:xfrm>
            <a:prstGeom prst="ellipse">
              <a:avLst/>
            </a:prstGeom>
            <a:solidFill>
              <a:schemeClr val="accen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64" name="Google Shape;464;p24"/>
            <p:cNvSpPr/>
            <p:nvPr/>
          </p:nvSpPr>
          <p:spPr>
            <a:xfrm>
              <a:off x="8013104" y="34802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65" name="Google Shape;465;p24"/>
            <p:cNvSpPr/>
            <p:nvPr/>
          </p:nvSpPr>
          <p:spPr>
            <a:xfrm>
              <a:off x="7812650" y="3820548"/>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66" name="Google Shape;466;p24"/>
            <p:cNvSpPr/>
            <p:nvPr/>
          </p:nvSpPr>
          <p:spPr>
            <a:xfrm>
              <a:off x="7221293" y="389860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67" name="Google Shape;467;p24"/>
            <p:cNvSpPr/>
            <p:nvPr/>
          </p:nvSpPr>
          <p:spPr>
            <a:xfrm>
              <a:off x="7890517" y="308695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68" name="Google Shape;468;p24"/>
            <p:cNvSpPr/>
            <p:nvPr/>
          </p:nvSpPr>
          <p:spPr>
            <a:xfrm>
              <a:off x="8747635" y="3628043"/>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69" name="Google Shape;469;p24"/>
            <p:cNvSpPr/>
            <p:nvPr/>
          </p:nvSpPr>
          <p:spPr>
            <a:xfrm>
              <a:off x="8289229" y="4178076"/>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70" name="Google Shape;470;p24"/>
            <p:cNvSpPr/>
            <p:nvPr/>
          </p:nvSpPr>
          <p:spPr>
            <a:xfrm>
              <a:off x="7466467" y="4713744"/>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cxnSp>
          <p:nvCxnSpPr>
            <p:cNvPr id="471" name="Google Shape;471;p24"/>
            <p:cNvCxnSpPr/>
            <p:nvPr/>
          </p:nvCxnSpPr>
          <p:spPr>
            <a:xfrm>
              <a:off x="1451579" y="5478379"/>
              <a:ext cx="10186968" cy="0"/>
            </a:xfrm>
            <a:prstGeom prst="straightConnector1">
              <a:avLst/>
            </a:prstGeom>
            <a:noFill/>
            <a:ln cap="flat" cmpd="sng" w="38100">
              <a:solidFill>
                <a:schemeClr val="accent1"/>
              </a:solidFill>
              <a:prstDash val="solid"/>
              <a:round/>
              <a:headEnd len="sm" w="sm" type="none"/>
              <a:tailEnd len="med" w="med" type="triangle"/>
            </a:ln>
          </p:spPr>
        </p:cxnSp>
        <p:cxnSp>
          <p:nvCxnSpPr>
            <p:cNvPr id="472" name="Google Shape;472;p24"/>
            <p:cNvCxnSpPr/>
            <p:nvPr/>
          </p:nvCxnSpPr>
          <p:spPr>
            <a:xfrm rot="10800000">
              <a:off x="1451579" y="1965158"/>
              <a:ext cx="0" cy="3545305"/>
            </a:xfrm>
            <a:prstGeom prst="straightConnector1">
              <a:avLst/>
            </a:prstGeom>
            <a:noFill/>
            <a:ln cap="flat" cmpd="sng" w="38100">
              <a:solidFill>
                <a:schemeClr val="accent1"/>
              </a:solidFill>
              <a:prstDash val="solid"/>
              <a:round/>
              <a:headEnd len="sm" w="sm" type="none"/>
              <a:tailEnd len="med" w="med" type="triangle"/>
            </a:ln>
          </p:spPr>
        </p:cxnSp>
        <p:cxnSp>
          <p:nvCxnSpPr>
            <p:cNvPr id="473" name="Google Shape;473;p24"/>
            <p:cNvCxnSpPr/>
            <p:nvPr/>
          </p:nvCxnSpPr>
          <p:spPr>
            <a:xfrm flipH="1" rot="10800000">
              <a:off x="1451575" y="2158981"/>
              <a:ext cx="9875435" cy="2747268"/>
            </a:xfrm>
            <a:prstGeom prst="straightConnector1">
              <a:avLst/>
            </a:prstGeom>
            <a:noFill/>
            <a:ln cap="flat" cmpd="sng" w="9525">
              <a:solidFill>
                <a:schemeClr val="accent2"/>
              </a:solidFill>
              <a:prstDash val="solid"/>
              <a:round/>
              <a:headEnd len="sm" w="sm" type="none"/>
              <a:tailEnd len="med" w="med" type="triangle"/>
            </a:ln>
          </p:spPr>
        </p:cxnSp>
        <p:sp>
          <p:nvSpPr>
            <p:cNvPr id="474" name="Google Shape;474;p24"/>
            <p:cNvSpPr/>
            <p:nvPr/>
          </p:nvSpPr>
          <p:spPr>
            <a:xfrm>
              <a:off x="6734278" y="3207642"/>
              <a:ext cx="245174" cy="192505"/>
            </a:xfrm>
            <a:prstGeom prst="ellipse">
              <a:avLst/>
            </a:prstGeom>
            <a:solidFill>
              <a:srgbClr val="FF0000"/>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sp>
          <p:nvSpPr>
            <p:cNvPr id="475" name="Google Shape;475;p24"/>
            <p:cNvSpPr/>
            <p:nvPr/>
          </p:nvSpPr>
          <p:spPr>
            <a:xfrm>
              <a:off x="6330840" y="3377309"/>
              <a:ext cx="245174" cy="192505"/>
            </a:xfrm>
            <a:prstGeom prst="ellipse">
              <a:avLst/>
            </a:prstGeom>
            <a:solidFill>
              <a:schemeClr val="lt1"/>
            </a:solidFill>
            <a:ln cap="flat" cmpd="sng" w="15875">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Gill Sans"/>
                <a:ea typeface="Gill Sans"/>
                <a:cs typeface="Gill Sans"/>
                <a:sym typeface="Gill Sans"/>
              </a:endParaRPr>
            </a:p>
          </p:txBody>
        </p:sp>
      </p:grpSp>
      <p:sp>
        <p:nvSpPr>
          <p:cNvPr id="476" name="Google Shape;476;p24"/>
          <p:cNvSpPr txBox="1"/>
          <p:nvPr/>
        </p:nvSpPr>
        <p:spPr>
          <a:xfrm>
            <a:off x="7075838" y="4855048"/>
            <a:ext cx="47388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Each solution corresponds to a different “model”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2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GOAL OF AI IS TO FIND THE “BEST MODEL” THAT FITS THE GIVEN DATA</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2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SUMMARY</a:t>
            </a:r>
            <a:endParaRPr/>
          </a:p>
        </p:txBody>
      </p:sp>
      <p:sp>
        <p:nvSpPr>
          <p:cNvPr id="487" name="Google Shape;487;p26"/>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Algorithm is a sequence of steps that must be carried out on data</a:t>
            </a:r>
            <a:endParaRPr/>
          </a:p>
          <a:p>
            <a:pPr indent="-228600" lvl="0" marL="228600" rtl="0" algn="l">
              <a:lnSpc>
                <a:spcPct val="120000"/>
              </a:lnSpc>
              <a:spcBef>
                <a:spcPts val="1000"/>
              </a:spcBef>
              <a:spcAft>
                <a:spcPts val="0"/>
              </a:spcAft>
              <a:buSzPts val="2000"/>
              <a:buChar char="•"/>
            </a:pPr>
            <a:r>
              <a:rPr lang="en-US"/>
              <a:t>Algorithm is key to intelligence</a:t>
            </a:r>
            <a:endParaRPr/>
          </a:p>
          <a:p>
            <a:pPr indent="-228600" lvl="0" marL="228600" rtl="0" algn="l">
              <a:lnSpc>
                <a:spcPct val="120000"/>
              </a:lnSpc>
              <a:spcBef>
                <a:spcPts val="1000"/>
              </a:spcBef>
              <a:spcAft>
                <a:spcPts val="0"/>
              </a:spcAft>
              <a:buSzPts val="2000"/>
              <a:buChar char="•"/>
            </a:pPr>
            <a:r>
              <a:rPr lang="en-US"/>
              <a:t>Computer learns using data and algorithm</a:t>
            </a:r>
            <a:endParaRPr/>
          </a:p>
          <a:p>
            <a:pPr indent="-228600" lvl="0" marL="228600" rtl="0" algn="l">
              <a:lnSpc>
                <a:spcPct val="120000"/>
              </a:lnSpc>
              <a:spcBef>
                <a:spcPts val="1000"/>
              </a:spcBef>
              <a:spcAft>
                <a:spcPts val="0"/>
              </a:spcAft>
              <a:buSzPts val="2000"/>
              <a:buChar char="•"/>
            </a:pPr>
            <a:r>
              <a:rPr lang="en-US"/>
              <a:t>Computer produces results using data and algorithm</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7"/>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TEXT AND AI</a:t>
            </a:r>
            <a:endParaRPr/>
          </a:p>
        </p:txBody>
      </p:sp>
      <p:sp>
        <p:nvSpPr>
          <p:cNvPr id="493" name="Google Shape;493;p27"/>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US"/>
              <a:t>UNDERSTANDING LANGUAGE MODELS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2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HOW LANGUAGE MODELS WORK</a:t>
            </a:r>
            <a:endParaRPr/>
          </a:p>
        </p:txBody>
      </p:sp>
      <p:grpSp>
        <p:nvGrpSpPr>
          <p:cNvPr id="499" name="Google Shape;499;p28"/>
          <p:cNvGrpSpPr/>
          <p:nvPr/>
        </p:nvGrpSpPr>
        <p:grpSpPr>
          <a:xfrm>
            <a:off x="1455664" y="3304807"/>
            <a:ext cx="9594996" cy="872272"/>
            <a:chOff x="4689" y="1288682"/>
            <a:chExt cx="9594996" cy="872272"/>
          </a:xfrm>
        </p:grpSpPr>
        <p:sp>
          <p:nvSpPr>
            <p:cNvPr id="500" name="Google Shape;500;p28"/>
            <p:cNvSpPr/>
            <p:nvPr/>
          </p:nvSpPr>
          <p:spPr>
            <a:xfrm>
              <a:off x="4689" y="1288682"/>
              <a:ext cx="1453787" cy="872272"/>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8"/>
            <p:cNvSpPr txBox="1"/>
            <p:nvPr/>
          </p:nvSpPr>
          <p:spPr>
            <a:xfrm>
              <a:off x="30237" y="1314230"/>
              <a:ext cx="1402691" cy="821176"/>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Text Encoder</a:t>
              </a:r>
              <a:endParaRPr/>
            </a:p>
          </p:txBody>
        </p:sp>
        <p:sp>
          <p:nvSpPr>
            <p:cNvPr id="502" name="Google Shape;502;p28"/>
            <p:cNvSpPr/>
            <p:nvPr/>
          </p:nvSpPr>
          <p:spPr>
            <a:xfrm>
              <a:off x="1603855" y="1544549"/>
              <a:ext cx="308202" cy="360539"/>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8"/>
            <p:cNvSpPr txBox="1"/>
            <p:nvPr/>
          </p:nvSpPr>
          <p:spPr>
            <a:xfrm>
              <a:off x="1603855"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sp>
          <p:nvSpPr>
            <p:cNvPr id="504" name="Google Shape;504;p28"/>
            <p:cNvSpPr/>
            <p:nvPr/>
          </p:nvSpPr>
          <p:spPr>
            <a:xfrm>
              <a:off x="2039991" y="1288682"/>
              <a:ext cx="1453787" cy="872272"/>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8"/>
            <p:cNvSpPr txBox="1"/>
            <p:nvPr/>
          </p:nvSpPr>
          <p:spPr>
            <a:xfrm>
              <a:off x="2065539" y="1314230"/>
              <a:ext cx="1402691" cy="821176"/>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Numbers</a:t>
              </a:r>
              <a:endParaRPr/>
            </a:p>
          </p:txBody>
        </p:sp>
        <p:sp>
          <p:nvSpPr>
            <p:cNvPr id="506" name="Google Shape;506;p28"/>
            <p:cNvSpPr/>
            <p:nvPr/>
          </p:nvSpPr>
          <p:spPr>
            <a:xfrm>
              <a:off x="3639157" y="1544549"/>
              <a:ext cx="308202" cy="360539"/>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8"/>
            <p:cNvSpPr txBox="1"/>
            <p:nvPr/>
          </p:nvSpPr>
          <p:spPr>
            <a:xfrm>
              <a:off x="3639157"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sp>
          <p:nvSpPr>
            <p:cNvPr id="508" name="Google Shape;508;p28"/>
            <p:cNvSpPr/>
            <p:nvPr/>
          </p:nvSpPr>
          <p:spPr>
            <a:xfrm>
              <a:off x="4075293" y="1288682"/>
              <a:ext cx="1453787" cy="872272"/>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8"/>
            <p:cNvSpPr txBox="1"/>
            <p:nvPr/>
          </p:nvSpPr>
          <p:spPr>
            <a:xfrm>
              <a:off x="4100841" y="1314230"/>
              <a:ext cx="1402691" cy="821176"/>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AI Model</a:t>
              </a:r>
              <a:endParaRPr/>
            </a:p>
          </p:txBody>
        </p:sp>
        <p:sp>
          <p:nvSpPr>
            <p:cNvPr id="510" name="Google Shape;510;p28"/>
            <p:cNvSpPr/>
            <p:nvPr/>
          </p:nvSpPr>
          <p:spPr>
            <a:xfrm>
              <a:off x="5674459" y="1544549"/>
              <a:ext cx="308202" cy="360539"/>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8"/>
            <p:cNvSpPr txBox="1"/>
            <p:nvPr/>
          </p:nvSpPr>
          <p:spPr>
            <a:xfrm>
              <a:off x="5674459"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sp>
          <p:nvSpPr>
            <p:cNvPr id="512" name="Google Shape;512;p28"/>
            <p:cNvSpPr/>
            <p:nvPr/>
          </p:nvSpPr>
          <p:spPr>
            <a:xfrm>
              <a:off x="6110596" y="1288682"/>
              <a:ext cx="1453787" cy="872272"/>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8"/>
            <p:cNvSpPr txBox="1"/>
            <p:nvPr/>
          </p:nvSpPr>
          <p:spPr>
            <a:xfrm>
              <a:off x="6136144" y="1314230"/>
              <a:ext cx="1402691" cy="821176"/>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Numbers</a:t>
              </a:r>
              <a:endParaRPr/>
            </a:p>
          </p:txBody>
        </p:sp>
        <p:sp>
          <p:nvSpPr>
            <p:cNvPr id="514" name="Google Shape;514;p28"/>
            <p:cNvSpPr/>
            <p:nvPr/>
          </p:nvSpPr>
          <p:spPr>
            <a:xfrm>
              <a:off x="7709761" y="1544549"/>
              <a:ext cx="308202" cy="360539"/>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8"/>
            <p:cNvSpPr txBox="1"/>
            <p:nvPr/>
          </p:nvSpPr>
          <p:spPr>
            <a:xfrm>
              <a:off x="7709761"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sp>
          <p:nvSpPr>
            <p:cNvPr id="516" name="Google Shape;516;p28"/>
            <p:cNvSpPr/>
            <p:nvPr/>
          </p:nvSpPr>
          <p:spPr>
            <a:xfrm>
              <a:off x="8145898" y="1288682"/>
              <a:ext cx="1453787" cy="872272"/>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8"/>
            <p:cNvSpPr txBox="1"/>
            <p:nvPr/>
          </p:nvSpPr>
          <p:spPr>
            <a:xfrm>
              <a:off x="8171446" y="1314230"/>
              <a:ext cx="1402691" cy="821176"/>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Text Decoder</a:t>
              </a:r>
              <a:endParaRPr/>
            </a:p>
          </p:txBody>
        </p:sp>
      </p:grpSp>
      <p:sp>
        <p:nvSpPr>
          <p:cNvPr id="518" name="Google Shape;518;p28"/>
          <p:cNvSpPr txBox="1"/>
          <p:nvPr/>
        </p:nvSpPr>
        <p:spPr>
          <a:xfrm>
            <a:off x="238088" y="4819581"/>
            <a:ext cx="283301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Who is the president of US?</a:t>
            </a:r>
            <a:endParaRPr/>
          </a:p>
        </p:txBody>
      </p:sp>
      <p:sp>
        <p:nvSpPr>
          <p:cNvPr id="519" name="Google Shape;519;p28"/>
          <p:cNvSpPr txBox="1"/>
          <p:nvPr/>
        </p:nvSpPr>
        <p:spPr>
          <a:xfrm>
            <a:off x="3394953" y="4618892"/>
            <a:ext cx="205697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15 123 12 274 1111</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87 345</a:t>
            </a:r>
            <a:endParaRPr/>
          </a:p>
        </p:txBody>
      </p:sp>
      <p:grpSp>
        <p:nvGrpSpPr>
          <p:cNvPr id="520" name="Google Shape;520;p28"/>
          <p:cNvGrpSpPr/>
          <p:nvPr/>
        </p:nvGrpSpPr>
        <p:grpSpPr>
          <a:xfrm>
            <a:off x="3119944" y="4801239"/>
            <a:ext cx="308202" cy="360539"/>
            <a:chOff x="3639157" y="1544549"/>
            <a:chExt cx="308202" cy="360539"/>
          </a:xfrm>
        </p:grpSpPr>
        <p:sp>
          <p:nvSpPr>
            <p:cNvPr id="521" name="Google Shape;521;p28"/>
            <p:cNvSpPr/>
            <p:nvPr/>
          </p:nvSpPr>
          <p:spPr>
            <a:xfrm>
              <a:off x="3639157" y="1544549"/>
              <a:ext cx="308202" cy="360539"/>
            </a:xfrm>
            <a:prstGeom prst="rightArrow">
              <a:avLst>
                <a:gd fmla="val 60000" name="adj1"/>
                <a:gd fmla="val 50000" name="adj2"/>
              </a:avLst>
            </a:prstGeom>
            <a:solidFill>
              <a:srgbClr val="ABBA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22" name="Google Shape;522;p28"/>
            <p:cNvSpPr txBox="1"/>
            <p:nvPr/>
          </p:nvSpPr>
          <p:spPr>
            <a:xfrm>
              <a:off x="3639157"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grpSp>
      <p:grpSp>
        <p:nvGrpSpPr>
          <p:cNvPr id="523" name="Google Shape;523;p28"/>
          <p:cNvGrpSpPr/>
          <p:nvPr/>
        </p:nvGrpSpPr>
        <p:grpSpPr>
          <a:xfrm>
            <a:off x="5156974" y="4761787"/>
            <a:ext cx="308202" cy="360539"/>
            <a:chOff x="3639157" y="1544549"/>
            <a:chExt cx="308202" cy="360539"/>
          </a:xfrm>
        </p:grpSpPr>
        <p:sp>
          <p:nvSpPr>
            <p:cNvPr id="524" name="Google Shape;524;p28"/>
            <p:cNvSpPr/>
            <p:nvPr/>
          </p:nvSpPr>
          <p:spPr>
            <a:xfrm>
              <a:off x="3639157" y="1544549"/>
              <a:ext cx="308202" cy="360539"/>
            </a:xfrm>
            <a:prstGeom prst="rightArrow">
              <a:avLst>
                <a:gd fmla="val 60000" name="adj1"/>
                <a:gd fmla="val 50000" name="adj2"/>
              </a:avLst>
            </a:prstGeom>
            <a:solidFill>
              <a:srgbClr val="ABBA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25" name="Google Shape;525;p28"/>
            <p:cNvSpPr txBox="1"/>
            <p:nvPr/>
          </p:nvSpPr>
          <p:spPr>
            <a:xfrm>
              <a:off x="3639157"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grpSp>
      <p:grpSp>
        <p:nvGrpSpPr>
          <p:cNvPr id="526" name="Google Shape;526;p28"/>
          <p:cNvGrpSpPr/>
          <p:nvPr/>
        </p:nvGrpSpPr>
        <p:grpSpPr>
          <a:xfrm>
            <a:off x="7192281" y="4761787"/>
            <a:ext cx="308202" cy="360539"/>
            <a:chOff x="3639157" y="1544549"/>
            <a:chExt cx="308202" cy="360539"/>
          </a:xfrm>
        </p:grpSpPr>
        <p:sp>
          <p:nvSpPr>
            <p:cNvPr id="527" name="Google Shape;527;p28"/>
            <p:cNvSpPr/>
            <p:nvPr/>
          </p:nvSpPr>
          <p:spPr>
            <a:xfrm>
              <a:off x="3639157" y="1544549"/>
              <a:ext cx="308202" cy="360539"/>
            </a:xfrm>
            <a:prstGeom prst="rightArrow">
              <a:avLst>
                <a:gd fmla="val 60000" name="adj1"/>
                <a:gd fmla="val 50000" name="adj2"/>
              </a:avLst>
            </a:prstGeom>
            <a:solidFill>
              <a:srgbClr val="ABBA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28" name="Google Shape;528;p28"/>
            <p:cNvSpPr txBox="1"/>
            <p:nvPr/>
          </p:nvSpPr>
          <p:spPr>
            <a:xfrm>
              <a:off x="3639157"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grpSp>
      <p:grpSp>
        <p:nvGrpSpPr>
          <p:cNvPr id="529" name="Google Shape;529;p28"/>
          <p:cNvGrpSpPr/>
          <p:nvPr/>
        </p:nvGrpSpPr>
        <p:grpSpPr>
          <a:xfrm>
            <a:off x="9152859" y="4801239"/>
            <a:ext cx="308202" cy="360539"/>
            <a:chOff x="3639157" y="1544549"/>
            <a:chExt cx="308202" cy="360539"/>
          </a:xfrm>
        </p:grpSpPr>
        <p:sp>
          <p:nvSpPr>
            <p:cNvPr id="530" name="Google Shape;530;p28"/>
            <p:cNvSpPr/>
            <p:nvPr/>
          </p:nvSpPr>
          <p:spPr>
            <a:xfrm>
              <a:off x="3639157" y="1544549"/>
              <a:ext cx="308202" cy="360539"/>
            </a:xfrm>
            <a:prstGeom prst="rightArrow">
              <a:avLst>
                <a:gd fmla="val 60000" name="adj1"/>
                <a:gd fmla="val 50000" name="adj2"/>
              </a:avLst>
            </a:prstGeom>
            <a:solidFill>
              <a:srgbClr val="ABBA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31" name="Google Shape;531;p28"/>
            <p:cNvSpPr txBox="1"/>
            <p:nvPr/>
          </p:nvSpPr>
          <p:spPr>
            <a:xfrm>
              <a:off x="3639157"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grpSp>
      <p:sp>
        <p:nvSpPr>
          <p:cNvPr id="532" name="Google Shape;532;p28"/>
          <p:cNvSpPr txBox="1"/>
          <p:nvPr/>
        </p:nvSpPr>
        <p:spPr>
          <a:xfrm>
            <a:off x="5720003" y="4761787"/>
            <a:ext cx="10663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ChatGPT</a:t>
            </a:r>
            <a:endParaRPr/>
          </a:p>
        </p:txBody>
      </p:sp>
      <p:sp>
        <p:nvSpPr>
          <p:cNvPr id="533" name="Google Shape;533;p28"/>
          <p:cNvSpPr txBox="1"/>
          <p:nvPr/>
        </p:nvSpPr>
        <p:spPr>
          <a:xfrm>
            <a:off x="9753062" y="4752994"/>
            <a:ext cx="7954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Trump</a:t>
            </a:r>
            <a:endParaRPr/>
          </a:p>
        </p:txBody>
      </p:sp>
      <p:sp>
        <p:nvSpPr>
          <p:cNvPr id="534" name="Google Shape;534;p28"/>
          <p:cNvSpPr txBox="1"/>
          <p:nvPr/>
        </p:nvSpPr>
        <p:spPr>
          <a:xfrm>
            <a:off x="7966954" y="4761787"/>
            <a:ext cx="6463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1111</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2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HOW LANGUAGE MODELS WORK</a:t>
            </a:r>
            <a:endParaRPr/>
          </a:p>
        </p:txBody>
      </p:sp>
      <p:grpSp>
        <p:nvGrpSpPr>
          <p:cNvPr id="540" name="Google Shape;540;p29"/>
          <p:cNvGrpSpPr/>
          <p:nvPr/>
        </p:nvGrpSpPr>
        <p:grpSpPr>
          <a:xfrm>
            <a:off x="1455664" y="3304807"/>
            <a:ext cx="9594996" cy="872272"/>
            <a:chOff x="4689" y="1288682"/>
            <a:chExt cx="9594996" cy="872272"/>
          </a:xfrm>
        </p:grpSpPr>
        <p:sp>
          <p:nvSpPr>
            <p:cNvPr id="541" name="Google Shape;541;p29"/>
            <p:cNvSpPr/>
            <p:nvPr/>
          </p:nvSpPr>
          <p:spPr>
            <a:xfrm>
              <a:off x="4689" y="1288682"/>
              <a:ext cx="1453787" cy="872272"/>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9"/>
            <p:cNvSpPr txBox="1"/>
            <p:nvPr/>
          </p:nvSpPr>
          <p:spPr>
            <a:xfrm>
              <a:off x="30237" y="1314230"/>
              <a:ext cx="1402691" cy="821176"/>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Text Encoder</a:t>
              </a:r>
              <a:endParaRPr/>
            </a:p>
          </p:txBody>
        </p:sp>
        <p:sp>
          <p:nvSpPr>
            <p:cNvPr id="543" name="Google Shape;543;p29"/>
            <p:cNvSpPr/>
            <p:nvPr/>
          </p:nvSpPr>
          <p:spPr>
            <a:xfrm>
              <a:off x="1603855" y="1544549"/>
              <a:ext cx="308202" cy="360539"/>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txBox="1"/>
            <p:nvPr/>
          </p:nvSpPr>
          <p:spPr>
            <a:xfrm>
              <a:off x="1603855"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sp>
          <p:nvSpPr>
            <p:cNvPr id="545" name="Google Shape;545;p29"/>
            <p:cNvSpPr/>
            <p:nvPr/>
          </p:nvSpPr>
          <p:spPr>
            <a:xfrm>
              <a:off x="2039991" y="1288682"/>
              <a:ext cx="1453787" cy="872272"/>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9"/>
            <p:cNvSpPr txBox="1"/>
            <p:nvPr/>
          </p:nvSpPr>
          <p:spPr>
            <a:xfrm>
              <a:off x="2065539" y="1314230"/>
              <a:ext cx="1402691" cy="821176"/>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Numbers</a:t>
              </a:r>
              <a:endParaRPr/>
            </a:p>
          </p:txBody>
        </p:sp>
        <p:sp>
          <p:nvSpPr>
            <p:cNvPr id="547" name="Google Shape;547;p29"/>
            <p:cNvSpPr/>
            <p:nvPr/>
          </p:nvSpPr>
          <p:spPr>
            <a:xfrm>
              <a:off x="3639157" y="1544549"/>
              <a:ext cx="308202" cy="360539"/>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9"/>
            <p:cNvSpPr txBox="1"/>
            <p:nvPr/>
          </p:nvSpPr>
          <p:spPr>
            <a:xfrm>
              <a:off x="3639157"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sp>
          <p:nvSpPr>
            <p:cNvPr id="549" name="Google Shape;549;p29"/>
            <p:cNvSpPr/>
            <p:nvPr/>
          </p:nvSpPr>
          <p:spPr>
            <a:xfrm>
              <a:off x="4075293" y="1288682"/>
              <a:ext cx="1453787" cy="872272"/>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9"/>
            <p:cNvSpPr txBox="1"/>
            <p:nvPr/>
          </p:nvSpPr>
          <p:spPr>
            <a:xfrm>
              <a:off x="4100841" y="1314230"/>
              <a:ext cx="1402691" cy="821176"/>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AI Model</a:t>
              </a:r>
              <a:endParaRPr/>
            </a:p>
          </p:txBody>
        </p:sp>
        <p:sp>
          <p:nvSpPr>
            <p:cNvPr id="551" name="Google Shape;551;p29"/>
            <p:cNvSpPr/>
            <p:nvPr/>
          </p:nvSpPr>
          <p:spPr>
            <a:xfrm>
              <a:off x="5674459" y="1544549"/>
              <a:ext cx="308202" cy="360539"/>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9"/>
            <p:cNvSpPr txBox="1"/>
            <p:nvPr/>
          </p:nvSpPr>
          <p:spPr>
            <a:xfrm>
              <a:off x="5674459"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sp>
          <p:nvSpPr>
            <p:cNvPr id="553" name="Google Shape;553;p29"/>
            <p:cNvSpPr/>
            <p:nvPr/>
          </p:nvSpPr>
          <p:spPr>
            <a:xfrm>
              <a:off x="6110596" y="1288682"/>
              <a:ext cx="1453787" cy="872272"/>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9"/>
            <p:cNvSpPr txBox="1"/>
            <p:nvPr/>
          </p:nvSpPr>
          <p:spPr>
            <a:xfrm>
              <a:off x="6136144" y="1314230"/>
              <a:ext cx="1402691" cy="821176"/>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Numbers</a:t>
              </a:r>
              <a:endParaRPr/>
            </a:p>
          </p:txBody>
        </p:sp>
        <p:sp>
          <p:nvSpPr>
            <p:cNvPr id="555" name="Google Shape;555;p29"/>
            <p:cNvSpPr/>
            <p:nvPr/>
          </p:nvSpPr>
          <p:spPr>
            <a:xfrm>
              <a:off x="7709761" y="1544549"/>
              <a:ext cx="308202" cy="360539"/>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9"/>
            <p:cNvSpPr txBox="1"/>
            <p:nvPr/>
          </p:nvSpPr>
          <p:spPr>
            <a:xfrm>
              <a:off x="7709761"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sp>
          <p:nvSpPr>
            <p:cNvPr id="557" name="Google Shape;557;p29"/>
            <p:cNvSpPr/>
            <p:nvPr/>
          </p:nvSpPr>
          <p:spPr>
            <a:xfrm>
              <a:off x="8145898" y="1288682"/>
              <a:ext cx="1453787" cy="872272"/>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9"/>
            <p:cNvSpPr txBox="1"/>
            <p:nvPr/>
          </p:nvSpPr>
          <p:spPr>
            <a:xfrm>
              <a:off x="8171446" y="1314230"/>
              <a:ext cx="1402691" cy="821176"/>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Text Decoder</a:t>
              </a:r>
              <a:endParaRPr/>
            </a:p>
          </p:txBody>
        </p:sp>
      </p:grpSp>
      <p:sp>
        <p:nvSpPr>
          <p:cNvPr id="559" name="Google Shape;559;p29"/>
          <p:cNvSpPr txBox="1"/>
          <p:nvPr/>
        </p:nvSpPr>
        <p:spPr>
          <a:xfrm>
            <a:off x="238088" y="4819581"/>
            <a:ext cx="283301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Who is the president of US?</a:t>
            </a:r>
            <a:endParaRPr/>
          </a:p>
        </p:txBody>
      </p:sp>
      <p:sp>
        <p:nvSpPr>
          <p:cNvPr id="560" name="Google Shape;560;p29"/>
          <p:cNvSpPr txBox="1"/>
          <p:nvPr/>
        </p:nvSpPr>
        <p:spPr>
          <a:xfrm>
            <a:off x="3394953" y="4618892"/>
            <a:ext cx="205697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15 123 12 274 1111</a:t>
            </a:r>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87 345</a:t>
            </a:r>
            <a:endParaRPr/>
          </a:p>
        </p:txBody>
      </p:sp>
      <p:grpSp>
        <p:nvGrpSpPr>
          <p:cNvPr id="561" name="Google Shape;561;p29"/>
          <p:cNvGrpSpPr/>
          <p:nvPr/>
        </p:nvGrpSpPr>
        <p:grpSpPr>
          <a:xfrm>
            <a:off x="3119944" y="4801239"/>
            <a:ext cx="308202" cy="360539"/>
            <a:chOff x="3639157" y="1544549"/>
            <a:chExt cx="308202" cy="360539"/>
          </a:xfrm>
        </p:grpSpPr>
        <p:sp>
          <p:nvSpPr>
            <p:cNvPr id="562" name="Google Shape;562;p29"/>
            <p:cNvSpPr/>
            <p:nvPr/>
          </p:nvSpPr>
          <p:spPr>
            <a:xfrm>
              <a:off x="3639157" y="1544549"/>
              <a:ext cx="308202" cy="360539"/>
            </a:xfrm>
            <a:prstGeom prst="rightArrow">
              <a:avLst>
                <a:gd fmla="val 60000" name="adj1"/>
                <a:gd fmla="val 50000" name="adj2"/>
              </a:avLst>
            </a:prstGeom>
            <a:solidFill>
              <a:srgbClr val="ABBA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63" name="Google Shape;563;p29"/>
            <p:cNvSpPr txBox="1"/>
            <p:nvPr/>
          </p:nvSpPr>
          <p:spPr>
            <a:xfrm>
              <a:off x="3639157"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grpSp>
      <p:grpSp>
        <p:nvGrpSpPr>
          <p:cNvPr id="564" name="Google Shape;564;p29"/>
          <p:cNvGrpSpPr/>
          <p:nvPr/>
        </p:nvGrpSpPr>
        <p:grpSpPr>
          <a:xfrm>
            <a:off x="5156974" y="4761787"/>
            <a:ext cx="308202" cy="360539"/>
            <a:chOff x="3639157" y="1544549"/>
            <a:chExt cx="308202" cy="360539"/>
          </a:xfrm>
        </p:grpSpPr>
        <p:sp>
          <p:nvSpPr>
            <p:cNvPr id="565" name="Google Shape;565;p29"/>
            <p:cNvSpPr/>
            <p:nvPr/>
          </p:nvSpPr>
          <p:spPr>
            <a:xfrm>
              <a:off x="3639157" y="1544549"/>
              <a:ext cx="308202" cy="360539"/>
            </a:xfrm>
            <a:prstGeom prst="rightArrow">
              <a:avLst>
                <a:gd fmla="val 60000" name="adj1"/>
                <a:gd fmla="val 50000" name="adj2"/>
              </a:avLst>
            </a:prstGeom>
            <a:solidFill>
              <a:srgbClr val="ABBA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66" name="Google Shape;566;p29"/>
            <p:cNvSpPr txBox="1"/>
            <p:nvPr/>
          </p:nvSpPr>
          <p:spPr>
            <a:xfrm>
              <a:off x="3639157"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grpSp>
      <p:grpSp>
        <p:nvGrpSpPr>
          <p:cNvPr id="567" name="Google Shape;567;p29"/>
          <p:cNvGrpSpPr/>
          <p:nvPr/>
        </p:nvGrpSpPr>
        <p:grpSpPr>
          <a:xfrm>
            <a:off x="7192281" y="4761787"/>
            <a:ext cx="308202" cy="360539"/>
            <a:chOff x="3639157" y="1544549"/>
            <a:chExt cx="308202" cy="360539"/>
          </a:xfrm>
        </p:grpSpPr>
        <p:sp>
          <p:nvSpPr>
            <p:cNvPr id="568" name="Google Shape;568;p29"/>
            <p:cNvSpPr/>
            <p:nvPr/>
          </p:nvSpPr>
          <p:spPr>
            <a:xfrm>
              <a:off x="3639157" y="1544549"/>
              <a:ext cx="308202" cy="360539"/>
            </a:xfrm>
            <a:prstGeom prst="rightArrow">
              <a:avLst>
                <a:gd fmla="val 60000" name="adj1"/>
                <a:gd fmla="val 50000" name="adj2"/>
              </a:avLst>
            </a:prstGeom>
            <a:solidFill>
              <a:srgbClr val="ABBA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69" name="Google Shape;569;p29"/>
            <p:cNvSpPr txBox="1"/>
            <p:nvPr/>
          </p:nvSpPr>
          <p:spPr>
            <a:xfrm>
              <a:off x="3639157"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grpSp>
      <p:grpSp>
        <p:nvGrpSpPr>
          <p:cNvPr id="570" name="Google Shape;570;p29"/>
          <p:cNvGrpSpPr/>
          <p:nvPr/>
        </p:nvGrpSpPr>
        <p:grpSpPr>
          <a:xfrm>
            <a:off x="9152859" y="4801239"/>
            <a:ext cx="308202" cy="360539"/>
            <a:chOff x="3639157" y="1544549"/>
            <a:chExt cx="308202" cy="360539"/>
          </a:xfrm>
        </p:grpSpPr>
        <p:sp>
          <p:nvSpPr>
            <p:cNvPr id="571" name="Google Shape;571;p29"/>
            <p:cNvSpPr/>
            <p:nvPr/>
          </p:nvSpPr>
          <p:spPr>
            <a:xfrm>
              <a:off x="3639157" y="1544549"/>
              <a:ext cx="308202" cy="360539"/>
            </a:xfrm>
            <a:prstGeom prst="rightArrow">
              <a:avLst>
                <a:gd fmla="val 60000" name="adj1"/>
                <a:gd fmla="val 50000" name="adj2"/>
              </a:avLst>
            </a:prstGeom>
            <a:solidFill>
              <a:srgbClr val="ABBA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72" name="Google Shape;572;p29"/>
            <p:cNvSpPr txBox="1"/>
            <p:nvPr/>
          </p:nvSpPr>
          <p:spPr>
            <a:xfrm>
              <a:off x="3639157" y="1616657"/>
              <a:ext cx="215741" cy="21632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Gill Sans"/>
                <a:buNone/>
              </a:pPr>
              <a:r>
                <a:t/>
              </a:r>
              <a:endParaRPr sz="1600">
                <a:solidFill>
                  <a:schemeClr val="lt1"/>
                </a:solidFill>
                <a:latin typeface="Gill Sans"/>
                <a:ea typeface="Gill Sans"/>
                <a:cs typeface="Gill Sans"/>
                <a:sym typeface="Gill Sans"/>
              </a:endParaRPr>
            </a:p>
          </p:txBody>
        </p:sp>
      </p:grpSp>
      <p:sp>
        <p:nvSpPr>
          <p:cNvPr id="573" name="Google Shape;573;p29"/>
          <p:cNvSpPr txBox="1"/>
          <p:nvPr/>
        </p:nvSpPr>
        <p:spPr>
          <a:xfrm>
            <a:off x="5720003" y="4761787"/>
            <a:ext cx="10663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ChatGPT</a:t>
            </a:r>
            <a:endParaRPr/>
          </a:p>
        </p:txBody>
      </p:sp>
      <p:sp>
        <p:nvSpPr>
          <p:cNvPr id="574" name="Google Shape;574;p29"/>
          <p:cNvSpPr txBox="1"/>
          <p:nvPr/>
        </p:nvSpPr>
        <p:spPr>
          <a:xfrm>
            <a:off x="9753062" y="4752994"/>
            <a:ext cx="7954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Trump</a:t>
            </a:r>
            <a:endParaRPr/>
          </a:p>
        </p:txBody>
      </p:sp>
      <p:sp>
        <p:nvSpPr>
          <p:cNvPr id="575" name="Google Shape;575;p29"/>
          <p:cNvSpPr txBox="1"/>
          <p:nvPr/>
        </p:nvSpPr>
        <p:spPr>
          <a:xfrm>
            <a:off x="7966954" y="4761787"/>
            <a:ext cx="6463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1111</a:t>
            </a:r>
            <a:endParaRPr/>
          </a:p>
        </p:txBody>
      </p:sp>
      <p:sp>
        <p:nvSpPr>
          <p:cNvPr id="576" name="Google Shape;576;p29"/>
          <p:cNvSpPr txBox="1"/>
          <p:nvPr/>
        </p:nvSpPr>
        <p:spPr>
          <a:xfrm>
            <a:off x="2879558" y="5615437"/>
            <a:ext cx="13614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Tokenization</a:t>
            </a:r>
            <a:endParaRPr/>
          </a:p>
        </p:txBody>
      </p:sp>
      <p:sp>
        <p:nvSpPr>
          <p:cNvPr id="577" name="Google Shape;577;p29"/>
          <p:cNvSpPr txBox="1"/>
          <p:nvPr/>
        </p:nvSpPr>
        <p:spPr>
          <a:xfrm>
            <a:off x="7267074" y="5646821"/>
            <a:ext cx="10775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Decoding</a:t>
            </a:r>
            <a:endParaRPr/>
          </a:p>
        </p:txBody>
      </p:sp>
      <p:sp>
        <p:nvSpPr>
          <p:cNvPr id="578" name="Google Shape;578;p29"/>
          <p:cNvSpPr txBox="1"/>
          <p:nvPr/>
        </p:nvSpPr>
        <p:spPr>
          <a:xfrm>
            <a:off x="9031706" y="5646821"/>
            <a:ext cx="271215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Task= question and answer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3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NLP TASKS</a:t>
            </a:r>
            <a:endParaRPr/>
          </a:p>
        </p:txBody>
      </p:sp>
      <p:pic>
        <p:nvPicPr>
          <p:cNvPr descr="A diagram of text classification&#10;&#10;AI-generated content may be incorrect." id="584" name="Google Shape;584;p30"/>
          <p:cNvPicPr preferRelativeResize="0"/>
          <p:nvPr>
            <p:ph idx="1" type="body"/>
          </p:nvPr>
        </p:nvPicPr>
        <p:blipFill rotWithShape="1">
          <a:blip r:embed="rId3">
            <a:alphaModFix/>
          </a:blip>
          <a:srcRect b="0" l="0" r="0" t="0"/>
          <a:stretch/>
        </p:blipFill>
        <p:spPr>
          <a:xfrm>
            <a:off x="3493452" y="2016125"/>
            <a:ext cx="5519420" cy="344963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TOKENIZERS </a:t>
            </a:r>
            <a:endParaRPr/>
          </a:p>
        </p:txBody>
      </p:sp>
      <p:grpSp>
        <p:nvGrpSpPr>
          <p:cNvPr id="590" name="Google Shape;590;p31"/>
          <p:cNvGrpSpPr/>
          <p:nvPr/>
        </p:nvGrpSpPr>
        <p:grpSpPr>
          <a:xfrm>
            <a:off x="1459416" y="2016725"/>
            <a:ext cx="9587492" cy="1513814"/>
            <a:chOff x="8441" y="600"/>
            <a:chExt cx="9587492" cy="1513814"/>
          </a:xfrm>
        </p:grpSpPr>
        <p:sp>
          <p:nvSpPr>
            <p:cNvPr id="591" name="Google Shape;591;p31"/>
            <p:cNvSpPr/>
            <p:nvPr/>
          </p:nvSpPr>
          <p:spPr>
            <a:xfrm>
              <a:off x="8441" y="600"/>
              <a:ext cx="2523024" cy="1513814"/>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1"/>
            <p:cNvSpPr txBox="1"/>
            <p:nvPr/>
          </p:nvSpPr>
          <p:spPr>
            <a:xfrm>
              <a:off x="52779" y="44938"/>
              <a:ext cx="2434348" cy="1425138"/>
            </a:xfrm>
            <a:prstGeom prst="rect">
              <a:avLst/>
            </a:prstGeom>
            <a:noFill/>
            <a:ln>
              <a:noFill/>
            </a:ln>
          </p:spPr>
          <p:txBody>
            <a:bodyPr anchorCtr="0" anchor="ctr" bIns="156200" lIns="156200" spcFirstLastPara="1" rIns="156200" wrap="square" tIns="156200">
              <a:noAutofit/>
            </a:bodyPr>
            <a:lstStyle/>
            <a:p>
              <a:pPr indent="0" lvl="0" marL="0" marR="0" rtl="0" algn="ctr">
                <a:lnSpc>
                  <a:spcPct val="90000"/>
                </a:lnSpc>
                <a:spcBef>
                  <a:spcPts val="0"/>
                </a:spcBef>
                <a:spcAft>
                  <a:spcPts val="0"/>
                </a:spcAft>
                <a:buClr>
                  <a:schemeClr val="lt1"/>
                </a:buClr>
                <a:buSzPts val="4100"/>
                <a:buFont typeface="Gill Sans"/>
                <a:buNone/>
              </a:pPr>
              <a:r>
                <a:rPr lang="en-US" sz="4100">
                  <a:solidFill>
                    <a:schemeClr val="lt1"/>
                  </a:solidFill>
                  <a:latin typeface="Gill Sans"/>
                  <a:ea typeface="Gill Sans"/>
                  <a:cs typeface="Gill Sans"/>
                  <a:sym typeface="Gill Sans"/>
                </a:rPr>
                <a:t>It’s a sunny day</a:t>
              </a:r>
              <a:endParaRPr/>
            </a:p>
          </p:txBody>
        </p:sp>
        <p:sp>
          <p:nvSpPr>
            <p:cNvPr id="593" name="Google Shape;593;p31"/>
            <p:cNvSpPr/>
            <p:nvPr/>
          </p:nvSpPr>
          <p:spPr>
            <a:xfrm>
              <a:off x="2783768" y="444652"/>
              <a:ext cx="534881" cy="625710"/>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1"/>
            <p:cNvSpPr txBox="1"/>
            <p:nvPr/>
          </p:nvSpPr>
          <p:spPr>
            <a:xfrm>
              <a:off x="2783768" y="569794"/>
              <a:ext cx="374417" cy="37542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Gill Sans"/>
                <a:buNone/>
              </a:pPr>
              <a:r>
                <a:t/>
              </a:r>
              <a:endParaRPr sz="2800">
                <a:solidFill>
                  <a:schemeClr val="lt1"/>
                </a:solidFill>
                <a:latin typeface="Gill Sans"/>
                <a:ea typeface="Gill Sans"/>
                <a:cs typeface="Gill Sans"/>
                <a:sym typeface="Gill Sans"/>
              </a:endParaRPr>
            </a:p>
          </p:txBody>
        </p:sp>
        <p:sp>
          <p:nvSpPr>
            <p:cNvPr id="595" name="Google Shape;595;p31"/>
            <p:cNvSpPr/>
            <p:nvPr/>
          </p:nvSpPr>
          <p:spPr>
            <a:xfrm>
              <a:off x="3540675" y="600"/>
              <a:ext cx="2523024" cy="1513814"/>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1"/>
            <p:cNvSpPr txBox="1"/>
            <p:nvPr/>
          </p:nvSpPr>
          <p:spPr>
            <a:xfrm>
              <a:off x="3585013" y="44938"/>
              <a:ext cx="2434348" cy="1425138"/>
            </a:xfrm>
            <a:prstGeom prst="rect">
              <a:avLst/>
            </a:prstGeom>
            <a:noFill/>
            <a:ln>
              <a:noFill/>
            </a:ln>
          </p:spPr>
          <p:txBody>
            <a:bodyPr anchorCtr="0" anchor="ctr" bIns="156200" lIns="156200" spcFirstLastPara="1" rIns="156200" wrap="square" tIns="156200">
              <a:noAutofit/>
            </a:bodyPr>
            <a:lstStyle/>
            <a:p>
              <a:pPr indent="0" lvl="0" marL="0" marR="0" rtl="0" algn="ctr">
                <a:lnSpc>
                  <a:spcPct val="90000"/>
                </a:lnSpc>
                <a:spcBef>
                  <a:spcPts val="0"/>
                </a:spcBef>
                <a:spcAft>
                  <a:spcPts val="0"/>
                </a:spcAft>
                <a:buClr>
                  <a:schemeClr val="dk1"/>
                </a:buClr>
                <a:buSzPts val="4100"/>
                <a:buFont typeface="Gill Sans"/>
                <a:buNone/>
              </a:pPr>
              <a:r>
                <a:t/>
              </a:r>
              <a:endParaRPr sz="4100">
                <a:solidFill>
                  <a:schemeClr val="lt1"/>
                </a:solidFill>
                <a:latin typeface="Gill Sans"/>
                <a:ea typeface="Gill Sans"/>
                <a:cs typeface="Gill Sans"/>
                <a:sym typeface="Gill Sans"/>
              </a:endParaRPr>
            </a:p>
          </p:txBody>
        </p:sp>
        <p:sp>
          <p:nvSpPr>
            <p:cNvPr id="597" name="Google Shape;597;p31"/>
            <p:cNvSpPr/>
            <p:nvPr/>
          </p:nvSpPr>
          <p:spPr>
            <a:xfrm>
              <a:off x="6316002" y="444652"/>
              <a:ext cx="534881" cy="625710"/>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1"/>
            <p:cNvSpPr txBox="1"/>
            <p:nvPr/>
          </p:nvSpPr>
          <p:spPr>
            <a:xfrm>
              <a:off x="6316002" y="569794"/>
              <a:ext cx="374417" cy="37542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Gill Sans"/>
                <a:buNone/>
              </a:pPr>
              <a:r>
                <a:t/>
              </a:r>
              <a:endParaRPr sz="2800">
                <a:solidFill>
                  <a:schemeClr val="lt1"/>
                </a:solidFill>
                <a:latin typeface="Gill Sans"/>
                <a:ea typeface="Gill Sans"/>
                <a:cs typeface="Gill Sans"/>
                <a:sym typeface="Gill Sans"/>
              </a:endParaRPr>
            </a:p>
          </p:txBody>
        </p:sp>
        <p:sp>
          <p:nvSpPr>
            <p:cNvPr id="599" name="Google Shape;599;p31"/>
            <p:cNvSpPr/>
            <p:nvPr/>
          </p:nvSpPr>
          <p:spPr>
            <a:xfrm>
              <a:off x="7072909" y="600"/>
              <a:ext cx="2523024" cy="1513814"/>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1"/>
            <p:cNvSpPr txBox="1"/>
            <p:nvPr/>
          </p:nvSpPr>
          <p:spPr>
            <a:xfrm>
              <a:off x="7117247" y="44938"/>
              <a:ext cx="2434348" cy="1425138"/>
            </a:xfrm>
            <a:prstGeom prst="rect">
              <a:avLst/>
            </a:prstGeom>
            <a:noFill/>
            <a:ln>
              <a:noFill/>
            </a:ln>
          </p:spPr>
          <p:txBody>
            <a:bodyPr anchorCtr="0" anchor="ctr" bIns="156200" lIns="156200" spcFirstLastPara="1" rIns="156200" wrap="square" tIns="156200">
              <a:noAutofit/>
            </a:bodyPr>
            <a:lstStyle/>
            <a:p>
              <a:pPr indent="0" lvl="0" marL="0" marR="0" rtl="0" algn="ctr">
                <a:lnSpc>
                  <a:spcPct val="90000"/>
                </a:lnSpc>
                <a:spcBef>
                  <a:spcPts val="0"/>
                </a:spcBef>
                <a:spcAft>
                  <a:spcPts val="0"/>
                </a:spcAft>
                <a:buClr>
                  <a:schemeClr val="dk1"/>
                </a:buClr>
                <a:buSzPts val="4100"/>
                <a:buFont typeface="Gill Sans"/>
                <a:buNone/>
              </a:pPr>
              <a:r>
                <a:t/>
              </a:r>
              <a:endParaRPr sz="4100">
                <a:solidFill>
                  <a:schemeClr val="lt1"/>
                </a:solidFill>
                <a:latin typeface="Gill Sans"/>
                <a:ea typeface="Gill Sans"/>
                <a:cs typeface="Gill Sans"/>
                <a:sym typeface="Gill Sans"/>
              </a:endParaRPr>
            </a:p>
          </p:txBody>
        </p:sp>
      </p:grpSp>
      <p:grpSp>
        <p:nvGrpSpPr>
          <p:cNvPr id="601" name="Google Shape;601;p31"/>
          <p:cNvGrpSpPr/>
          <p:nvPr/>
        </p:nvGrpSpPr>
        <p:grpSpPr>
          <a:xfrm>
            <a:off x="1459416" y="4124385"/>
            <a:ext cx="9587492" cy="1513814"/>
            <a:chOff x="8441" y="600"/>
            <a:chExt cx="9587492" cy="1513814"/>
          </a:xfrm>
        </p:grpSpPr>
        <p:sp>
          <p:nvSpPr>
            <p:cNvPr id="602" name="Google Shape;602;p31"/>
            <p:cNvSpPr/>
            <p:nvPr/>
          </p:nvSpPr>
          <p:spPr>
            <a:xfrm>
              <a:off x="8441" y="600"/>
              <a:ext cx="2523024" cy="1513814"/>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1"/>
            <p:cNvSpPr txBox="1"/>
            <p:nvPr/>
          </p:nvSpPr>
          <p:spPr>
            <a:xfrm>
              <a:off x="52779" y="44938"/>
              <a:ext cx="2434348" cy="1425138"/>
            </a:xfrm>
            <a:prstGeom prst="rect">
              <a:avLst/>
            </a:prstGeom>
            <a:noFill/>
            <a:ln>
              <a:noFill/>
            </a:ln>
          </p:spPr>
          <p:txBody>
            <a:bodyPr anchorCtr="0" anchor="ctr" bIns="240025" lIns="240025" spcFirstLastPara="1" rIns="240025" wrap="square" tIns="240025">
              <a:noAutofit/>
            </a:bodyPr>
            <a:lstStyle/>
            <a:p>
              <a:pPr indent="0" lvl="0" marL="0" marR="0" rtl="0" algn="ctr">
                <a:lnSpc>
                  <a:spcPct val="90000"/>
                </a:lnSpc>
                <a:spcBef>
                  <a:spcPts val="0"/>
                </a:spcBef>
                <a:spcAft>
                  <a:spcPts val="0"/>
                </a:spcAft>
                <a:buClr>
                  <a:schemeClr val="dk1"/>
                </a:buClr>
                <a:buSzPts val="6300"/>
                <a:buFont typeface="Gill Sans"/>
                <a:buNone/>
              </a:pPr>
              <a:r>
                <a:t/>
              </a:r>
              <a:endParaRPr sz="6300">
                <a:solidFill>
                  <a:schemeClr val="lt1"/>
                </a:solidFill>
                <a:latin typeface="Gill Sans"/>
                <a:ea typeface="Gill Sans"/>
                <a:cs typeface="Gill Sans"/>
                <a:sym typeface="Gill Sans"/>
              </a:endParaRPr>
            </a:p>
          </p:txBody>
        </p:sp>
        <p:sp>
          <p:nvSpPr>
            <p:cNvPr id="604" name="Google Shape;604;p31"/>
            <p:cNvSpPr/>
            <p:nvPr/>
          </p:nvSpPr>
          <p:spPr>
            <a:xfrm>
              <a:off x="2783768" y="444652"/>
              <a:ext cx="534881" cy="625710"/>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1"/>
            <p:cNvSpPr txBox="1"/>
            <p:nvPr/>
          </p:nvSpPr>
          <p:spPr>
            <a:xfrm>
              <a:off x="2783768" y="569794"/>
              <a:ext cx="374417" cy="37542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Gill Sans"/>
                <a:buNone/>
              </a:pPr>
              <a:r>
                <a:t/>
              </a:r>
              <a:endParaRPr sz="2800">
                <a:solidFill>
                  <a:schemeClr val="lt1"/>
                </a:solidFill>
                <a:latin typeface="Gill Sans"/>
                <a:ea typeface="Gill Sans"/>
                <a:cs typeface="Gill Sans"/>
                <a:sym typeface="Gill Sans"/>
              </a:endParaRPr>
            </a:p>
          </p:txBody>
        </p:sp>
        <p:sp>
          <p:nvSpPr>
            <p:cNvPr id="606" name="Google Shape;606;p31"/>
            <p:cNvSpPr/>
            <p:nvPr/>
          </p:nvSpPr>
          <p:spPr>
            <a:xfrm>
              <a:off x="3540675" y="600"/>
              <a:ext cx="2523024" cy="1513814"/>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1"/>
            <p:cNvSpPr txBox="1"/>
            <p:nvPr/>
          </p:nvSpPr>
          <p:spPr>
            <a:xfrm>
              <a:off x="3585013" y="44938"/>
              <a:ext cx="2434348" cy="1425138"/>
            </a:xfrm>
            <a:prstGeom prst="rect">
              <a:avLst/>
            </a:prstGeom>
            <a:noFill/>
            <a:ln>
              <a:noFill/>
            </a:ln>
          </p:spPr>
          <p:txBody>
            <a:bodyPr anchorCtr="0" anchor="ctr" bIns="240025" lIns="240025" spcFirstLastPara="1" rIns="240025" wrap="square" tIns="240025">
              <a:noAutofit/>
            </a:bodyPr>
            <a:lstStyle/>
            <a:p>
              <a:pPr indent="0" lvl="0" marL="0" marR="0" rtl="0" algn="ctr">
                <a:lnSpc>
                  <a:spcPct val="90000"/>
                </a:lnSpc>
                <a:spcBef>
                  <a:spcPts val="0"/>
                </a:spcBef>
                <a:spcAft>
                  <a:spcPts val="0"/>
                </a:spcAft>
                <a:buClr>
                  <a:schemeClr val="dk1"/>
                </a:buClr>
                <a:buSzPts val="6300"/>
                <a:buFont typeface="Gill Sans"/>
                <a:buNone/>
              </a:pPr>
              <a:r>
                <a:t/>
              </a:r>
              <a:endParaRPr sz="6300">
                <a:solidFill>
                  <a:schemeClr val="lt1"/>
                </a:solidFill>
                <a:latin typeface="Gill Sans"/>
                <a:ea typeface="Gill Sans"/>
                <a:cs typeface="Gill Sans"/>
                <a:sym typeface="Gill Sans"/>
              </a:endParaRPr>
            </a:p>
          </p:txBody>
        </p:sp>
        <p:sp>
          <p:nvSpPr>
            <p:cNvPr id="608" name="Google Shape;608;p31"/>
            <p:cNvSpPr/>
            <p:nvPr/>
          </p:nvSpPr>
          <p:spPr>
            <a:xfrm>
              <a:off x="6316002" y="444652"/>
              <a:ext cx="534881" cy="625710"/>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1"/>
            <p:cNvSpPr txBox="1"/>
            <p:nvPr/>
          </p:nvSpPr>
          <p:spPr>
            <a:xfrm>
              <a:off x="6316002" y="569794"/>
              <a:ext cx="374417" cy="37542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Gill Sans"/>
                <a:buNone/>
              </a:pPr>
              <a:r>
                <a:t/>
              </a:r>
              <a:endParaRPr sz="2800">
                <a:solidFill>
                  <a:schemeClr val="lt1"/>
                </a:solidFill>
                <a:latin typeface="Gill Sans"/>
                <a:ea typeface="Gill Sans"/>
                <a:cs typeface="Gill Sans"/>
                <a:sym typeface="Gill Sans"/>
              </a:endParaRPr>
            </a:p>
          </p:txBody>
        </p:sp>
        <p:sp>
          <p:nvSpPr>
            <p:cNvPr id="610" name="Google Shape;610;p31"/>
            <p:cNvSpPr/>
            <p:nvPr/>
          </p:nvSpPr>
          <p:spPr>
            <a:xfrm>
              <a:off x="7072909" y="600"/>
              <a:ext cx="2523024" cy="1513814"/>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1"/>
            <p:cNvSpPr txBox="1"/>
            <p:nvPr/>
          </p:nvSpPr>
          <p:spPr>
            <a:xfrm>
              <a:off x="7117247" y="44938"/>
              <a:ext cx="2434348" cy="1425138"/>
            </a:xfrm>
            <a:prstGeom prst="rect">
              <a:avLst/>
            </a:prstGeom>
            <a:noFill/>
            <a:ln>
              <a:noFill/>
            </a:ln>
          </p:spPr>
          <p:txBody>
            <a:bodyPr anchorCtr="0" anchor="ctr" bIns="240025" lIns="240025" spcFirstLastPara="1" rIns="240025" wrap="square" tIns="240025">
              <a:noAutofit/>
            </a:bodyPr>
            <a:lstStyle/>
            <a:p>
              <a:pPr indent="0" lvl="0" marL="0" marR="0" rtl="0" algn="ctr">
                <a:lnSpc>
                  <a:spcPct val="90000"/>
                </a:lnSpc>
                <a:spcBef>
                  <a:spcPts val="0"/>
                </a:spcBef>
                <a:spcAft>
                  <a:spcPts val="0"/>
                </a:spcAft>
                <a:buClr>
                  <a:schemeClr val="dk1"/>
                </a:buClr>
                <a:buSzPts val="6300"/>
                <a:buFont typeface="Gill Sans"/>
                <a:buNone/>
              </a:pPr>
              <a:r>
                <a:t/>
              </a:r>
              <a:endParaRPr sz="6300">
                <a:solidFill>
                  <a:schemeClr val="lt1"/>
                </a:solidFill>
                <a:latin typeface="Gill Sans"/>
                <a:ea typeface="Gill Sans"/>
                <a:cs typeface="Gill Sans"/>
                <a:sym typeface="Gill Sans"/>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3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CLASSIFICATION</a:t>
            </a:r>
            <a:endParaRPr/>
          </a:p>
        </p:txBody>
      </p:sp>
      <p:pic>
        <p:nvPicPr>
          <p:cNvPr descr="A close-up of a document&#10;&#10;AI-generated content may be incorrect." id="617" name="Google Shape;617;p32"/>
          <p:cNvPicPr preferRelativeResize="0"/>
          <p:nvPr>
            <p:ph idx="1" type="body"/>
          </p:nvPr>
        </p:nvPicPr>
        <p:blipFill rotWithShape="1">
          <a:blip r:embed="rId3">
            <a:alphaModFix/>
          </a:blip>
          <a:srcRect b="0" l="0" r="0" t="0"/>
          <a:stretch/>
        </p:blipFill>
        <p:spPr>
          <a:xfrm>
            <a:off x="308184" y="2219325"/>
            <a:ext cx="5252090" cy="3449638"/>
          </a:xfrm>
          <a:prstGeom prst="rect">
            <a:avLst/>
          </a:prstGeom>
          <a:noFill/>
          <a:ln>
            <a:noFill/>
          </a:ln>
        </p:spPr>
      </p:pic>
      <p:pic>
        <p:nvPicPr>
          <p:cNvPr descr="A screenshot of a computer&#10;&#10;AI-generated content may be incorrect." id="618" name="Google Shape;618;p32"/>
          <p:cNvPicPr preferRelativeResize="0"/>
          <p:nvPr/>
        </p:nvPicPr>
        <p:blipFill rotWithShape="1">
          <a:blip r:embed="rId4">
            <a:alphaModFix/>
          </a:blip>
          <a:srcRect b="0" l="0" r="0" t="0"/>
          <a:stretch/>
        </p:blipFill>
        <p:spPr>
          <a:xfrm>
            <a:off x="6354816" y="-270934"/>
            <a:ext cx="5506974" cy="6858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3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NER</a:t>
            </a:r>
            <a:endParaRPr/>
          </a:p>
        </p:txBody>
      </p:sp>
      <p:pic>
        <p:nvPicPr>
          <p:cNvPr descr="A close-up of a document&#10;&#10;AI-generated content may be incorrect." id="624" name="Google Shape;624;p33"/>
          <p:cNvPicPr preferRelativeResize="0"/>
          <p:nvPr>
            <p:ph idx="1" type="body"/>
          </p:nvPr>
        </p:nvPicPr>
        <p:blipFill rotWithShape="1">
          <a:blip r:embed="rId3">
            <a:alphaModFix/>
          </a:blip>
          <a:srcRect b="0" l="0" r="0" t="0"/>
          <a:stretch/>
        </p:blipFill>
        <p:spPr>
          <a:xfrm>
            <a:off x="1451579" y="2354791"/>
            <a:ext cx="4919045" cy="3449638"/>
          </a:xfrm>
          <a:prstGeom prst="rect">
            <a:avLst/>
          </a:prstGeom>
          <a:noFill/>
          <a:ln>
            <a:noFill/>
          </a:ln>
        </p:spPr>
      </p:pic>
      <p:pic>
        <p:nvPicPr>
          <p:cNvPr descr="A white paper with black text&#10;&#10;AI-generated content may be incorrect." id="625" name="Google Shape;625;p33"/>
          <p:cNvPicPr preferRelativeResize="0"/>
          <p:nvPr/>
        </p:nvPicPr>
        <p:blipFill rotWithShape="1">
          <a:blip r:embed="rId4">
            <a:alphaModFix/>
          </a:blip>
          <a:srcRect b="0" l="0" r="0" t="0"/>
          <a:stretch/>
        </p:blipFill>
        <p:spPr>
          <a:xfrm>
            <a:off x="6096000" y="2028573"/>
            <a:ext cx="6713269" cy="410207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TEXT SUMMARIZATION</a:t>
            </a:r>
            <a:endParaRPr/>
          </a:p>
        </p:txBody>
      </p:sp>
      <p:pic>
        <p:nvPicPr>
          <p:cNvPr descr="A screenshot of a document&#10;&#10;AI-generated content may be incorrect." id="631" name="Google Shape;631;p34"/>
          <p:cNvPicPr preferRelativeResize="0"/>
          <p:nvPr>
            <p:ph idx="1" type="body"/>
          </p:nvPr>
        </p:nvPicPr>
        <p:blipFill rotWithShape="1">
          <a:blip r:embed="rId3">
            <a:alphaModFix/>
          </a:blip>
          <a:srcRect b="0" l="0" r="0" t="0"/>
          <a:stretch/>
        </p:blipFill>
        <p:spPr>
          <a:xfrm>
            <a:off x="8216665" y="1243147"/>
            <a:ext cx="3388194" cy="3449638"/>
          </a:xfrm>
          <a:prstGeom prst="rect">
            <a:avLst/>
          </a:prstGeom>
          <a:noFill/>
          <a:ln>
            <a:noFill/>
          </a:ln>
        </p:spPr>
      </p:pic>
      <p:pic>
        <p:nvPicPr>
          <p:cNvPr descr="A black text on a white background&#10;&#10;AI-generated content may be incorrect." id="632" name="Google Shape;632;p34"/>
          <p:cNvPicPr preferRelativeResize="0"/>
          <p:nvPr/>
        </p:nvPicPr>
        <p:blipFill rotWithShape="1">
          <a:blip r:embed="rId4">
            <a:alphaModFix/>
          </a:blip>
          <a:srcRect b="0" l="0" r="0" t="0"/>
          <a:stretch/>
        </p:blipFill>
        <p:spPr>
          <a:xfrm>
            <a:off x="1451579" y="5301146"/>
            <a:ext cx="7772400" cy="150467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3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TEXT GENERATION</a:t>
            </a:r>
            <a:endParaRPr/>
          </a:p>
        </p:txBody>
      </p:sp>
      <p:pic>
        <p:nvPicPr>
          <p:cNvPr descr="A black text on a white background&#10;&#10;AI-generated content may be incorrect." id="638" name="Google Shape;638;p35"/>
          <p:cNvPicPr preferRelativeResize="0"/>
          <p:nvPr>
            <p:ph idx="1" type="body"/>
          </p:nvPr>
        </p:nvPicPr>
        <p:blipFill rotWithShape="1">
          <a:blip r:embed="rId3">
            <a:alphaModFix/>
          </a:blip>
          <a:srcRect b="0" l="0" r="0" t="0"/>
          <a:stretch/>
        </p:blipFill>
        <p:spPr>
          <a:xfrm>
            <a:off x="1465262" y="2331244"/>
            <a:ext cx="5655078" cy="1665023"/>
          </a:xfrm>
          <a:prstGeom prst="rect">
            <a:avLst/>
          </a:prstGeom>
          <a:noFill/>
          <a:ln>
            <a:noFill/>
          </a:ln>
        </p:spPr>
      </p:pic>
      <p:pic>
        <p:nvPicPr>
          <p:cNvPr descr="A screenshot of a computer screen&#10;&#10;AI-generated content may be incorrect." id="639" name="Google Shape;639;p35"/>
          <p:cNvPicPr preferRelativeResize="0"/>
          <p:nvPr/>
        </p:nvPicPr>
        <p:blipFill rotWithShape="1">
          <a:blip r:embed="rId4">
            <a:alphaModFix/>
          </a:blip>
          <a:srcRect b="0" l="0" r="0" t="0"/>
          <a:stretch/>
        </p:blipFill>
        <p:spPr>
          <a:xfrm>
            <a:off x="7120340" y="-265245"/>
            <a:ext cx="5187015" cy="6858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3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WHAT TO KEEP IN MIND FOR TOKENIZERS</a:t>
            </a:r>
            <a:endParaRPr/>
          </a:p>
        </p:txBody>
      </p:sp>
      <p:sp>
        <p:nvSpPr>
          <p:cNvPr id="645" name="Google Shape;645;p36"/>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Tokenizers convert words into numbers that are meaningful to the AI model</a:t>
            </a:r>
            <a:endParaRPr/>
          </a:p>
          <a:p>
            <a:pPr indent="-228600" lvl="0" marL="228600" rtl="0" algn="l">
              <a:lnSpc>
                <a:spcPct val="120000"/>
              </a:lnSpc>
              <a:spcBef>
                <a:spcPts val="1000"/>
              </a:spcBef>
              <a:spcAft>
                <a:spcPts val="0"/>
              </a:spcAft>
              <a:buSzPts val="2000"/>
              <a:buChar char="•"/>
            </a:pPr>
            <a:r>
              <a:rPr lang="en-US"/>
              <a:t>Token may not represent a single word</a:t>
            </a:r>
            <a:endParaRPr/>
          </a:p>
          <a:p>
            <a:pPr indent="-228600" lvl="0" marL="228600" rtl="0" algn="l">
              <a:lnSpc>
                <a:spcPct val="120000"/>
              </a:lnSpc>
              <a:spcBef>
                <a:spcPts val="1000"/>
              </a:spcBef>
              <a:spcAft>
                <a:spcPts val="0"/>
              </a:spcAft>
              <a:buSzPts val="2000"/>
              <a:buChar char="•"/>
            </a:pPr>
            <a:r>
              <a:rPr lang="en-US"/>
              <a:t>Token is used to generate  </a:t>
            </a:r>
            <a:endParaRPr/>
          </a:p>
          <a:p>
            <a:pPr indent="-228600" lvl="0" marL="228600" rtl="0" algn="l">
              <a:lnSpc>
                <a:spcPct val="120000"/>
              </a:lnSpc>
              <a:spcBef>
                <a:spcPts val="1000"/>
              </a:spcBef>
              <a:spcAft>
                <a:spcPts val="0"/>
              </a:spcAft>
              <a:buSzPts val="2000"/>
              <a:buChar char="•"/>
            </a:pPr>
            <a:r>
              <a:rPr lang="en-US"/>
              <a:t>When using models, price is expressed in tokens</a:t>
            </a:r>
            <a:endParaRPr/>
          </a:p>
          <a:p>
            <a:pPr indent="-228600" lvl="1" marL="685800" rtl="0" algn="l">
              <a:lnSpc>
                <a:spcPct val="120000"/>
              </a:lnSpc>
              <a:spcBef>
                <a:spcPts val="500"/>
              </a:spcBef>
              <a:spcAft>
                <a:spcPts val="0"/>
              </a:spcAft>
              <a:buSzPts val="1800"/>
              <a:buChar char="•"/>
            </a:pPr>
            <a:r>
              <a:rPr lang="en-US"/>
              <a:t>$0.001 per token</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p:txBody>
      </p:sp>
      <p:pic>
        <p:nvPicPr>
          <p:cNvPr descr="A screenshot of a computer&#10;&#10;AI-generated content may be incorrect." id="646" name="Google Shape;646;p36"/>
          <p:cNvPicPr preferRelativeResize="0"/>
          <p:nvPr/>
        </p:nvPicPr>
        <p:blipFill rotWithShape="1">
          <a:blip r:embed="rId3">
            <a:alphaModFix/>
          </a:blip>
          <a:srcRect b="0" l="0" r="0" t="0"/>
          <a:stretch/>
        </p:blipFill>
        <p:spPr>
          <a:xfrm>
            <a:off x="3937800" y="0"/>
            <a:ext cx="7772400" cy="625927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37"/>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HUGGING FACE PLAYGROUND</a:t>
            </a:r>
            <a:endParaRPr/>
          </a:p>
        </p:txBody>
      </p:sp>
      <p:sp>
        <p:nvSpPr>
          <p:cNvPr id="652" name="Google Shape;652;p37"/>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u="sng">
                <a:solidFill>
                  <a:schemeClr val="hlink"/>
                </a:solidFill>
                <a:hlinkClick r:id="rId3"/>
              </a:rPr>
              <a:t>HTTPS://HUGGINGFACE.CO/PLAYGROUND</a:t>
            </a:r>
            <a:br>
              <a:rPr lang="en-US"/>
            </a:br>
            <a:endParaRPr/>
          </a:p>
        </p:txBody>
      </p:sp>
      <p:pic>
        <p:nvPicPr>
          <p:cNvPr descr="A screenshot of a computer&#10;&#10;AI-generated content may be incorrect." id="658" name="Google Shape;658;p38"/>
          <p:cNvPicPr preferRelativeResize="0"/>
          <p:nvPr/>
        </p:nvPicPr>
        <p:blipFill rotWithShape="1">
          <a:blip r:embed="rId4">
            <a:alphaModFix/>
          </a:blip>
          <a:srcRect b="0" l="0" r="0" t="0"/>
          <a:stretch/>
        </p:blipFill>
        <p:spPr>
          <a:xfrm>
            <a:off x="2719136" y="2134492"/>
            <a:ext cx="5706979" cy="374293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3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MODELS</a:t>
            </a:r>
            <a:endParaRPr/>
          </a:p>
        </p:txBody>
      </p:sp>
      <p:pic>
        <p:nvPicPr>
          <p:cNvPr descr="A screenshot of a computer&#10;&#10;AI-generated content may be incorrect." id="664" name="Google Shape;664;p39"/>
          <p:cNvPicPr preferRelativeResize="0"/>
          <p:nvPr/>
        </p:nvPicPr>
        <p:blipFill rotWithShape="1">
          <a:blip r:embed="rId3">
            <a:alphaModFix/>
          </a:blip>
          <a:srcRect b="0" l="0" r="0" t="0"/>
          <a:stretch/>
        </p:blipFill>
        <p:spPr>
          <a:xfrm>
            <a:off x="2752447" y="1950044"/>
            <a:ext cx="5651500" cy="38227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4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ROLES</a:t>
            </a:r>
            <a:endParaRPr/>
          </a:p>
        </p:txBody>
      </p:sp>
      <p:pic>
        <p:nvPicPr>
          <p:cNvPr descr="A white background with black lines&#10;&#10;AI-generated content may be incorrect." id="670" name="Google Shape;670;p40"/>
          <p:cNvPicPr preferRelativeResize="0"/>
          <p:nvPr>
            <p:ph idx="1" type="body"/>
          </p:nvPr>
        </p:nvPicPr>
        <p:blipFill rotWithShape="1">
          <a:blip r:embed="rId3">
            <a:alphaModFix/>
          </a:blip>
          <a:srcRect b="0" l="0" r="0" t="0"/>
          <a:stretch/>
        </p:blipFill>
        <p:spPr>
          <a:xfrm>
            <a:off x="1450975" y="2802586"/>
            <a:ext cx="9604375" cy="1876716"/>
          </a:xfrm>
          <a:prstGeom prst="rect">
            <a:avLst/>
          </a:prstGeom>
          <a:noFill/>
          <a:ln>
            <a:noFill/>
          </a:ln>
        </p:spPr>
      </p:pic>
      <p:sp>
        <p:nvSpPr>
          <p:cNvPr id="671" name="Google Shape;671;p40"/>
          <p:cNvSpPr txBox="1"/>
          <p:nvPr/>
        </p:nvSpPr>
        <p:spPr>
          <a:xfrm>
            <a:off x="2472267" y="5520267"/>
            <a:ext cx="102143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System</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User </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Assistant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MAX TOKENS AND STREAM</a:t>
            </a:r>
            <a:endParaRPr/>
          </a:p>
        </p:txBody>
      </p:sp>
      <p:sp>
        <p:nvSpPr>
          <p:cNvPr id="677" name="Google Shape;677;p41"/>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Context</a:t>
            </a:r>
            <a:endParaRPr/>
          </a:p>
          <a:p>
            <a:pPr indent="-228600" lvl="0" marL="228600" rtl="0" algn="l">
              <a:lnSpc>
                <a:spcPct val="120000"/>
              </a:lnSpc>
              <a:spcBef>
                <a:spcPts val="1000"/>
              </a:spcBef>
              <a:spcAft>
                <a:spcPts val="0"/>
              </a:spcAft>
              <a:buSzPts val="2000"/>
              <a:buChar char="•"/>
            </a:pPr>
            <a:r>
              <a:rPr lang="en-US"/>
              <a:t>Max Tokens</a:t>
            </a:r>
            <a:endParaRPr/>
          </a:p>
          <a:p>
            <a:pPr indent="-228600" lvl="0" marL="228600" rtl="0" algn="l">
              <a:lnSpc>
                <a:spcPct val="120000"/>
              </a:lnSpc>
              <a:spcBef>
                <a:spcPts val="1000"/>
              </a:spcBef>
              <a:spcAft>
                <a:spcPts val="0"/>
              </a:spcAft>
              <a:buSzPts val="2000"/>
              <a:buChar char="•"/>
            </a:pPr>
            <a:r>
              <a:rPr lang="en-US"/>
              <a:t>Streaming vs non-streaming</a:t>
            </a:r>
            <a:endParaRPr/>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4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TEMPERATURE</a:t>
            </a:r>
            <a:endParaRPr/>
          </a:p>
        </p:txBody>
      </p:sp>
      <p:pic>
        <p:nvPicPr>
          <p:cNvPr descr="A text on a page&#10;&#10;AI-generated content may be incorrect." id="683" name="Google Shape;683;p42"/>
          <p:cNvPicPr preferRelativeResize="0"/>
          <p:nvPr>
            <p:ph idx="1" type="body"/>
          </p:nvPr>
        </p:nvPicPr>
        <p:blipFill rotWithShape="1">
          <a:blip r:embed="rId3">
            <a:alphaModFix/>
          </a:blip>
          <a:srcRect b="0" l="0" r="0" t="0"/>
          <a:stretch/>
        </p:blipFill>
        <p:spPr>
          <a:xfrm>
            <a:off x="1451579" y="2287059"/>
            <a:ext cx="4998995" cy="3449638"/>
          </a:xfrm>
          <a:prstGeom prst="rect">
            <a:avLst/>
          </a:prstGeom>
          <a:noFill/>
          <a:ln>
            <a:noFill/>
          </a:ln>
        </p:spPr>
      </p:pic>
      <p:pic>
        <p:nvPicPr>
          <p:cNvPr descr="A screenshot of a text&#10;&#10;AI-generated content may be incorrect." id="684" name="Google Shape;684;p42"/>
          <p:cNvPicPr preferRelativeResize="0"/>
          <p:nvPr/>
        </p:nvPicPr>
        <p:blipFill rotWithShape="1">
          <a:blip r:embed="rId4">
            <a:alphaModFix/>
          </a:blip>
          <a:srcRect b="0" l="0" r="0" t="0"/>
          <a:stretch/>
        </p:blipFill>
        <p:spPr>
          <a:xfrm>
            <a:off x="6769565" y="0"/>
            <a:ext cx="5087537" cy="6858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43"/>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LANGUAGE MODELS</a:t>
            </a:r>
            <a:endParaRPr/>
          </a:p>
        </p:txBody>
      </p:sp>
      <p:sp>
        <p:nvSpPr>
          <p:cNvPr id="690" name="Google Shape;690;p43"/>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4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TOP P</a:t>
            </a:r>
            <a:endParaRPr/>
          </a:p>
        </p:txBody>
      </p:sp>
      <p:pic>
        <p:nvPicPr>
          <p:cNvPr descr="A text on a page&#10;&#10;AI-generated content may be incorrect." id="696" name="Google Shape;696;p44"/>
          <p:cNvPicPr preferRelativeResize="0"/>
          <p:nvPr>
            <p:ph idx="1" type="body"/>
          </p:nvPr>
        </p:nvPicPr>
        <p:blipFill rotWithShape="1">
          <a:blip r:embed="rId3">
            <a:alphaModFix/>
          </a:blip>
          <a:srcRect b="0" l="0" r="0" t="0"/>
          <a:stretch/>
        </p:blipFill>
        <p:spPr>
          <a:xfrm>
            <a:off x="1451579" y="2287059"/>
            <a:ext cx="4998995" cy="3449638"/>
          </a:xfrm>
          <a:prstGeom prst="rect">
            <a:avLst/>
          </a:prstGeom>
          <a:noFill/>
          <a:ln>
            <a:noFill/>
          </a:ln>
        </p:spPr>
      </p:pic>
      <p:pic>
        <p:nvPicPr>
          <p:cNvPr descr="A screenshot of a text&#10;&#10;AI-generated content may be incorrect." id="697" name="Google Shape;697;p44"/>
          <p:cNvPicPr preferRelativeResize="0"/>
          <p:nvPr/>
        </p:nvPicPr>
        <p:blipFill rotWithShape="1">
          <a:blip r:embed="rId4">
            <a:alphaModFix/>
          </a:blip>
          <a:srcRect b="0" l="0" r="0" t="0"/>
          <a:stretch/>
        </p:blipFill>
        <p:spPr>
          <a:xfrm>
            <a:off x="6769565" y="0"/>
            <a:ext cx="5087537" cy="6858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4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HOW ARE AI MODELS BUILT</a:t>
            </a:r>
            <a:endParaRPr/>
          </a:p>
        </p:txBody>
      </p:sp>
      <p:sp>
        <p:nvSpPr>
          <p:cNvPr id="703" name="Google Shape;703;p45"/>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4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PRETRAINING</a:t>
            </a:r>
            <a:endParaRPr/>
          </a:p>
        </p:txBody>
      </p:sp>
      <p:sp>
        <p:nvSpPr>
          <p:cNvPr id="709" name="Google Shape;709;p46"/>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4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WHAT ARE THE LIMITATIONS OF LLMS</a:t>
            </a:r>
            <a:endParaRPr/>
          </a:p>
        </p:txBody>
      </p:sp>
      <p:sp>
        <p:nvSpPr>
          <p:cNvPr id="715" name="Google Shape;715;p47"/>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4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HOW ARE AI MODELS CUSTOMIZED FOR A TASK</a:t>
            </a:r>
            <a:endParaRPr/>
          </a:p>
        </p:txBody>
      </p:sp>
      <p:sp>
        <p:nvSpPr>
          <p:cNvPr id="721" name="Google Shape;721;p48"/>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4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POST-TRAINING</a:t>
            </a:r>
            <a:endParaRPr/>
          </a:p>
        </p:txBody>
      </p:sp>
      <p:sp>
        <p:nvSpPr>
          <p:cNvPr id="727" name="Google Shape;727;p49"/>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5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MORE ON TOKENIZERS</a:t>
            </a:r>
            <a:endParaRPr/>
          </a:p>
        </p:txBody>
      </p:sp>
      <p:sp>
        <p:nvSpPr>
          <p:cNvPr id="733" name="Google Shape;733;p50"/>
          <p:cNvSpPr txBox="1"/>
          <p:nvPr>
            <p:ph idx="1" type="body"/>
          </p:nvPr>
        </p:nvSpPr>
        <p:spPr>
          <a:xfrm>
            <a:off x="1451579" y="2015732"/>
            <a:ext cx="4284913"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u="sng">
                <a:solidFill>
                  <a:schemeClr val="hlink"/>
                </a:solidFill>
                <a:hlinkClick r:id="rId3"/>
              </a:rPr>
              <a:t>https://gpt-tokenizer.dev/</a:t>
            </a:r>
            <a:endParaRPr/>
          </a:p>
          <a:p>
            <a:pPr indent="-228600" lvl="0" marL="228600" rtl="0" algn="l">
              <a:lnSpc>
                <a:spcPct val="120000"/>
              </a:lnSpc>
              <a:spcBef>
                <a:spcPts val="1000"/>
              </a:spcBef>
              <a:spcAft>
                <a:spcPts val="0"/>
              </a:spcAft>
              <a:buSzPts val="2000"/>
              <a:buChar char="•"/>
            </a:pPr>
            <a:r>
              <a:rPr lang="en-US" u="sng">
                <a:solidFill>
                  <a:schemeClr val="hlink"/>
                </a:solidFill>
                <a:hlinkClick r:id="rId4"/>
              </a:rPr>
              <a:t>https://platform.openai.com/tokenizer</a:t>
            </a:r>
            <a:endParaRPr/>
          </a:p>
          <a:p>
            <a:pPr indent="-228600" lvl="0" marL="228600" rtl="0" algn="l">
              <a:lnSpc>
                <a:spcPct val="120000"/>
              </a:lnSpc>
              <a:spcBef>
                <a:spcPts val="1000"/>
              </a:spcBef>
              <a:spcAft>
                <a:spcPts val="0"/>
              </a:spcAft>
              <a:buSzPts val="2000"/>
              <a:buChar char="•"/>
            </a:pPr>
            <a:r>
              <a:rPr lang="en-US"/>
              <a:t>https://huggingface.co/Playground</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5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t/>
            </a:r>
            <a:endParaRPr/>
          </a:p>
        </p:txBody>
      </p:sp>
      <p:sp>
        <p:nvSpPr>
          <p:cNvPr id="739" name="Google Shape;739;p51"/>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l">
              <a:lnSpc>
                <a:spcPct val="120000"/>
              </a:lnSpc>
              <a:spcBef>
                <a:spcPts val="0"/>
              </a:spcBef>
              <a:spcAft>
                <a:spcPts val="0"/>
              </a:spcAft>
              <a:buSzPct val="100000"/>
              <a:buChar char="•"/>
            </a:pPr>
            <a:r>
              <a:rPr b="1" lang="en-US"/>
              <a:t>Chatting with Transformers</a:t>
            </a:r>
            <a:endParaRPr/>
          </a:p>
          <a:p>
            <a:pPr indent="-228600" lvl="0" marL="228600" rtl="0" algn="l">
              <a:lnSpc>
                <a:spcPct val="120000"/>
              </a:lnSpc>
              <a:spcBef>
                <a:spcPts val="1000"/>
              </a:spcBef>
              <a:spcAft>
                <a:spcPts val="0"/>
              </a:spcAft>
              <a:buSzPct val="100000"/>
              <a:buChar char="•"/>
            </a:pPr>
            <a:r>
              <a:rPr lang="en-US"/>
              <a:t>If you’re reading this article, you’re almost certainly aware of </a:t>
            </a:r>
            <a:r>
              <a:rPr b="1" lang="en-US"/>
              <a:t>chat models</a:t>
            </a:r>
            <a:r>
              <a:rPr lang="en-US"/>
              <a:t>. Chat models are conversational AIs that you can send and receive messages with. The most famous of these is the proprietary ChatGPT, but there are now many open-source chat models which match or even substantially exceed its performance. These models are free to download and run on a local machine. Although the largest and most capable models require high-powered hardware and lots of memory to run, there are smaller models that will run perfectly well on a single consumer GPU, or even an ordinary desktop or notebook CPU.</a:t>
            </a:r>
            <a:endParaRPr/>
          </a:p>
          <a:p>
            <a:pPr indent="-228600" lvl="0" marL="228600" rtl="0" algn="l">
              <a:lnSpc>
                <a:spcPct val="120000"/>
              </a:lnSpc>
              <a:spcBef>
                <a:spcPts val="1000"/>
              </a:spcBef>
              <a:spcAft>
                <a:spcPts val="0"/>
              </a:spcAft>
              <a:buSzPct val="100000"/>
              <a:buChar char="•"/>
            </a:pPr>
            <a:r>
              <a:rPr lang="en-US"/>
              <a:t>This guide will help you get started with chat models. We’ll start with a brief quickstart guide that uses a convenient, high-level “pipeline”. This is all you need if you just want to start running a chat model immediately. After the quickstart, we’ll move on to more detailed information about what exactly chat models are, how to choose an appropriate one, and a low-level breakdown of each of the steps involved in talking to a chat model. We’ll also give some tips on optimizing the performance and memory usage of your chat models.</a:t>
            </a:r>
            <a:endParaRPr/>
          </a:p>
          <a:p>
            <a:pPr indent="-228600" lvl="0" marL="228600" rtl="0" algn="l">
              <a:lnSpc>
                <a:spcPct val="120000"/>
              </a:lnSpc>
              <a:spcBef>
                <a:spcPts val="1000"/>
              </a:spcBef>
              <a:spcAft>
                <a:spcPts val="0"/>
              </a:spcAft>
              <a:buSzPct val="100000"/>
              <a:buChar char="•"/>
            </a:pPr>
            <a:r>
              <a:rPr b="1" lang="en-US"/>
              <a:t>Quickstart</a:t>
            </a:r>
            <a:endParaRPr b="1"/>
          </a:p>
          <a:p>
            <a:pPr indent="-228600" lvl="0" marL="228600" rtl="0" algn="l">
              <a:lnSpc>
                <a:spcPct val="120000"/>
              </a:lnSpc>
              <a:spcBef>
                <a:spcPts val="1000"/>
              </a:spcBef>
              <a:spcAft>
                <a:spcPts val="0"/>
              </a:spcAft>
              <a:buSzPct val="100000"/>
              <a:buChar char="•"/>
            </a:pPr>
            <a:r>
              <a:rPr lang="en-US"/>
              <a:t>If you have no time for details, here’s the brief summary: Chat models continue chats. This means that you pass them a conversation history, which can be as short as a single user message, and the model will continue the conversation by adding its response. Let’s see this in action. First, let’s build a chat:</a:t>
            </a:r>
            <a:endParaRPr/>
          </a:p>
          <a:p>
            <a:pPr indent="-228600" lvl="0" marL="228600" rtl="0" algn="l">
              <a:lnSpc>
                <a:spcPct val="120000"/>
              </a:lnSpc>
              <a:spcBef>
                <a:spcPts val="1000"/>
              </a:spcBef>
              <a:spcAft>
                <a:spcPts val="0"/>
              </a:spcAft>
              <a:buSzPct val="100000"/>
              <a:buChar char="•"/>
            </a:pPr>
            <a:r>
              <a:rPr lang="en-US"/>
              <a:t>Copied</a:t>
            </a:r>
            <a:endParaRPr/>
          </a:p>
          <a:p>
            <a:pPr indent="-228600" lvl="0" marL="228600" rtl="0" algn="l">
              <a:lnSpc>
                <a:spcPct val="120000"/>
              </a:lnSpc>
              <a:spcBef>
                <a:spcPts val="1000"/>
              </a:spcBef>
              <a:spcAft>
                <a:spcPts val="0"/>
              </a:spcAft>
              <a:buSzPct val="100000"/>
              <a:buChar char="•"/>
            </a:pPr>
            <a:r>
              <a:rPr lang="en-US"/>
              <a:t>chat = [ {</a:t>
            </a:r>
            <a:r>
              <a:rPr lang="en-US">
                <a:solidFill>
                  <a:srgbClr val="50A14F"/>
                </a:solidFill>
              </a:rPr>
              <a:t>"role"</a:t>
            </a:r>
            <a:r>
              <a:rPr lang="en-US"/>
              <a:t>: </a:t>
            </a:r>
            <a:r>
              <a:rPr lang="en-US">
                <a:solidFill>
                  <a:srgbClr val="50A14F"/>
                </a:solidFill>
              </a:rPr>
              <a:t>"system"</a:t>
            </a:r>
            <a:r>
              <a:rPr lang="en-US"/>
              <a:t>, </a:t>
            </a:r>
            <a:r>
              <a:rPr lang="en-US">
                <a:solidFill>
                  <a:srgbClr val="50A14F"/>
                </a:solidFill>
              </a:rPr>
              <a:t>"content"</a:t>
            </a:r>
            <a:r>
              <a:rPr lang="en-US"/>
              <a:t>: </a:t>
            </a:r>
            <a:r>
              <a:rPr lang="en-US">
                <a:solidFill>
                  <a:srgbClr val="50A14F"/>
                </a:solidFill>
              </a:rPr>
              <a:t>"You are a sassy, wise-cracking robot as imagined by Hollywood circa 1986."</a:t>
            </a:r>
            <a:r>
              <a:rPr lang="en-US"/>
              <a:t>}, {</a:t>
            </a:r>
            <a:r>
              <a:rPr lang="en-US">
                <a:solidFill>
                  <a:srgbClr val="50A14F"/>
                </a:solidFill>
              </a:rPr>
              <a:t>"role"</a:t>
            </a:r>
            <a:r>
              <a:rPr lang="en-US"/>
              <a:t>: </a:t>
            </a:r>
            <a:r>
              <a:rPr lang="en-US">
                <a:solidFill>
                  <a:srgbClr val="50A14F"/>
                </a:solidFill>
              </a:rPr>
              <a:t>"user"</a:t>
            </a:r>
            <a:r>
              <a:rPr lang="en-US"/>
              <a:t>, </a:t>
            </a:r>
            <a:r>
              <a:rPr lang="en-US">
                <a:solidFill>
                  <a:srgbClr val="50A14F"/>
                </a:solidFill>
              </a:rPr>
              <a:t>"content"</a:t>
            </a:r>
            <a:r>
              <a:rPr lang="en-US"/>
              <a:t>: </a:t>
            </a:r>
            <a:r>
              <a:rPr lang="en-US">
                <a:solidFill>
                  <a:srgbClr val="50A14F"/>
                </a:solidFill>
              </a:rPr>
              <a:t>"Hey, can you tell me any fun things to do in New York?"</a:t>
            </a:r>
            <a:r>
              <a:rPr lang="en-US"/>
              <a:t>} ]</a:t>
            </a:r>
            <a:endParaRPr/>
          </a:p>
          <a:p>
            <a:pPr indent="-228600" lvl="0" marL="228600" rtl="0" algn="l">
              <a:lnSpc>
                <a:spcPct val="120000"/>
              </a:lnSpc>
              <a:spcBef>
                <a:spcPts val="1000"/>
              </a:spcBef>
              <a:spcAft>
                <a:spcPts val="0"/>
              </a:spcAft>
              <a:buSzPct val="100000"/>
              <a:buChar char="•"/>
            </a:pPr>
            <a:r>
              <a:rPr lang="en-US"/>
              <a:t>Notice that in addition to the user’s message, we added a </a:t>
            </a:r>
            <a:r>
              <a:rPr b="1" lang="en-US"/>
              <a:t>system</a:t>
            </a:r>
            <a:r>
              <a:rPr lang="en-US"/>
              <a:t> message at the start of the conversation. Not all chat models support system messages, but when they do, they represent high-level directives about how the model should behave in the conversation. You can use this to guide the model - whether you want short or long responses, lighthearted or serious ones, and so on. If you want the model to do useful work instead of practicing its improv routine, you can either omit the system message or try a terse one such as “You are a helpful and intelligent AI assistant who responds to user queries.”</a:t>
            </a:r>
            <a:endParaRPr/>
          </a:p>
          <a:p>
            <a:pPr indent="-228600" lvl="0" marL="228600" rtl="0" algn="l">
              <a:lnSpc>
                <a:spcPct val="120000"/>
              </a:lnSpc>
              <a:spcBef>
                <a:spcPts val="1000"/>
              </a:spcBef>
              <a:spcAft>
                <a:spcPts val="0"/>
              </a:spcAft>
              <a:buSzPct val="100000"/>
              <a:buChar char="•"/>
            </a:pPr>
            <a:r>
              <a:rPr lang="en-US"/>
              <a:t>Once you have a chat, the quickest way to continue it is using the </a:t>
            </a:r>
            <a:r>
              <a:rPr b="0" lang="en-US" u="sng">
                <a:solidFill>
                  <a:schemeClr val="hlink"/>
                </a:solidFill>
                <a:hlinkClick r:id="rId3"/>
              </a:rPr>
              <a:t>TextGenerationPipeline</a:t>
            </a:r>
            <a:r>
              <a:rPr lang="en-US"/>
              <a:t>. Let’s see this in action with LLaMA-3. Note that LLaMA-3 is a gated model, which means you will need to </a:t>
            </a:r>
            <a:r>
              <a:rPr b="0" lang="en-US" u="sng">
                <a:solidFill>
                  <a:schemeClr val="hlink"/>
                </a:solidFill>
                <a:hlinkClick r:id="rId4"/>
              </a:rPr>
              <a:t>apply for access</a:t>
            </a:r>
            <a:r>
              <a:rPr lang="en-US"/>
              <a:t> and log in with your Hugging Face account to use it. We’ll also use device_map="auto", which will load the model on GPU if there’s enough memory for it, and set the dtype to torch.bfloat16 to save memory:</a:t>
            </a:r>
            <a:endParaRPr/>
          </a:p>
          <a:p>
            <a:pPr indent="-228600" lvl="0" marL="228600" rtl="0" algn="l">
              <a:lnSpc>
                <a:spcPct val="120000"/>
              </a:lnSpc>
              <a:spcBef>
                <a:spcPts val="1000"/>
              </a:spcBef>
              <a:spcAft>
                <a:spcPts val="0"/>
              </a:spcAft>
              <a:buSzPct val="100000"/>
              <a:buChar char="•"/>
            </a:pPr>
            <a:r>
              <a:rPr lang="en-US"/>
              <a:t>Copied</a:t>
            </a:r>
            <a:endParaRPr/>
          </a:p>
          <a:p>
            <a:pPr indent="-228600" lvl="0" marL="228600" rtl="0" algn="l">
              <a:lnSpc>
                <a:spcPct val="120000"/>
              </a:lnSpc>
              <a:spcBef>
                <a:spcPts val="1000"/>
              </a:spcBef>
              <a:spcAft>
                <a:spcPts val="0"/>
              </a:spcAft>
              <a:buSzPct val="100000"/>
              <a:buChar char="•"/>
            </a:pPr>
            <a:r>
              <a:rPr lang="en-US">
                <a:solidFill>
                  <a:srgbClr val="A626A4"/>
                </a:solidFill>
              </a:rPr>
              <a:t>import</a:t>
            </a:r>
            <a:r>
              <a:rPr lang="en-US"/>
              <a:t> torch </a:t>
            </a:r>
            <a:r>
              <a:rPr lang="en-US">
                <a:solidFill>
                  <a:srgbClr val="A626A4"/>
                </a:solidFill>
              </a:rPr>
              <a:t>from</a:t>
            </a:r>
            <a:r>
              <a:rPr lang="en-US"/>
              <a:t> transformers </a:t>
            </a:r>
            <a:r>
              <a:rPr lang="en-US">
                <a:solidFill>
                  <a:srgbClr val="A626A4"/>
                </a:solidFill>
              </a:rPr>
              <a:t>import</a:t>
            </a:r>
            <a:r>
              <a:rPr lang="en-US"/>
              <a:t> pipeline pipe = pipeline(</a:t>
            </a:r>
            <a:r>
              <a:rPr lang="en-US">
                <a:solidFill>
                  <a:srgbClr val="50A14F"/>
                </a:solidFill>
              </a:rPr>
              <a:t>"text-generation"</a:t>
            </a:r>
            <a:r>
              <a:rPr lang="en-US"/>
              <a:t>, </a:t>
            </a:r>
            <a:r>
              <a:rPr lang="en-US">
                <a:solidFill>
                  <a:srgbClr val="50A14F"/>
                </a:solidFill>
              </a:rPr>
              <a:t>"meta-llama/Meta-Llama-3-8B-Instruct"</a:t>
            </a:r>
            <a:r>
              <a:rPr lang="en-US"/>
              <a:t>, torch_dtype=torch.bfloat16, device_map=</a:t>
            </a:r>
            <a:r>
              <a:rPr lang="en-US">
                <a:solidFill>
                  <a:srgbClr val="50A14F"/>
                </a:solidFill>
              </a:rPr>
              <a:t>"auto"</a:t>
            </a:r>
            <a:r>
              <a:rPr lang="en-US"/>
              <a:t>) response = pipe(chat, max_new_tokens=</a:t>
            </a:r>
            <a:r>
              <a:rPr lang="en-US">
                <a:solidFill>
                  <a:srgbClr val="986801"/>
                </a:solidFill>
              </a:rPr>
              <a:t>512</a:t>
            </a:r>
            <a:r>
              <a:rPr lang="en-US"/>
              <a:t>) </a:t>
            </a:r>
            <a:r>
              <a:rPr lang="en-US">
                <a:solidFill>
                  <a:srgbClr val="C18401"/>
                </a:solidFill>
              </a:rPr>
              <a:t>print</a:t>
            </a:r>
            <a:r>
              <a:rPr lang="en-US"/>
              <a:t>(response[</a:t>
            </a:r>
            <a:r>
              <a:rPr lang="en-US">
                <a:solidFill>
                  <a:srgbClr val="986801"/>
                </a:solidFill>
              </a:rPr>
              <a:t>0</a:t>
            </a:r>
            <a:r>
              <a:rPr lang="en-US"/>
              <a:t>][</a:t>
            </a:r>
            <a:r>
              <a:rPr lang="en-US">
                <a:solidFill>
                  <a:srgbClr val="50A14F"/>
                </a:solidFill>
              </a:rPr>
              <a:t>'generated_text'</a:t>
            </a:r>
            <a:r>
              <a:rPr lang="en-US"/>
              <a:t>][-</a:t>
            </a:r>
            <a:r>
              <a:rPr lang="en-US">
                <a:solidFill>
                  <a:srgbClr val="986801"/>
                </a:solidFill>
              </a:rPr>
              <a:t>1</a:t>
            </a:r>
            <a:r>
              <a:rPr lang="en-US"/>
              <a:t>][</a:t>
            </a:r>
            <a:r>
              <a:rPr lang="en-US">
                <a:solidFill>
                  <a:srgbClr val="50A14F"/>
                </a:solidFill>
              </a:rPr>
              <a:t>'content'</a:t>
            </a:r>
            <a:r>
              <a:rPr lang="en-US"/>
              <a:t>])</a:t>
            </a:r>
            <a:endParaRPr/>
          </a:p>
          <a:p>
            <a:pPr indent="-228600" lvl="0" marL="228600" rtl="0" algn="l">
              <a:lnSpc>
                <a:spcPct val="120000"/>
              </a:lnSpc>
              <a:spcBef>
                <a:spcPts val="1000"/>
              </a:spcBef>
              <a:spcAft>
                <a:spcPts val="0"/>
              </a:spcAft>
              <a:buSzPct val="100000"/>
              <a:buChar char="•"/>
            </a:pPr>
            <a:r>
              <a:rPr lang="en-US"/>
              <a:t>And you’ll get:</a:t>
            </a:r>
            <a:endParaRPr/>
          </a:p>
          <a:p>
            <a:pPr indent="-228600" lvl="0" marL="228600" rtl="0" algn="l">
              <a:lnSpc>
                <a:spcPct val="120000"/>
              </a:lnSpc>
              <a:spcBef>
                <a:spcPts val="1000"/>
              </a:spcBef>
              <a:spcAft>
                <a:spcPts val="0"/>
              </a:spcAft>
              <a:buSzPct val="100000"/>
              <a:buChar char="•"/>
            </a:pPr>
            <a:r>
              <a:rPr lang="en-US"/>
              <a:t>Copied</a:t>
            </a:r>
            <a:endParaRPr/>
          </a:p>
          <a:p>
            <a:pPr indent="-228600" lvl="0" marL="228600" rtl="0" algn="l">
              <a:lnSpc>
                <a:spcPct val="120000"/>
              </a:lnSpc>
              <a:spcBef>
                <a:spcPts val="1000"/>
              </a:spcBef>
              <a:spcAft>
                <a:spcPts val="0"/>
              </a:spcAft>
              <a:buSzPct val="100000"/>
              <a:buChar char="•"/>
            </a:pPr>
            <a:r>
              <a:rPr lang="en-US"/>
              <a:t>(sigh) Oh boy, you're asking me for advice? You're gonna need a map, pal! Alright, alright, I'll give you the lowdown. But don't say I didn't warn you, I'm a robot, not a tour guide! So, you wanna know what's fun to do in the Big Apple? Well, let me tell you, there's a million things to do, but I'll give you the highlights. First off, you gotta see the sights: the Statue of Liberty, Central Park, Times Square... you know, the usual tourist traps. But if you're lookin' for something a little more... unusual, I'd recommend checkin' out the Museum of Modern Art. It's got some wild stuff, like that Warhol guy's soup cans and all that jazz. And if you're feelin' adventurous, take a walk across the Brooklyn Bridge. Just watch out for those pesky pigeons, they're like little feathered thieves! (laughs) Get it? Thieves? Ah, never mind. Now, if you're lookin' for some serious fun, hit up the comedy clubs in Greenwich Village. You might even catch a glimpse of some up-and-coming comedians... or a bunch of wannabes tryin' to make it big. (winks) And finally, if you're feelin' like a real New Yorker, grab a slice of pizza from one of the many amazing pizzerias around the city. Just don't try to order a "robot-sized" slice, trust me, it won't end well. (laughs) So, there you have it, pal! That's my expert advice on what to do in New York. Now, if you'll excuse me, I've got some oil changes to attend to. (winks)</a:t>
            </a:r>
            <a:endParaRPr/>
          </a:p>
          <a:p>
            <a:pPr indent="-228600" lvl="0" marL="228600" rtl="0" algn="l">
              <a:lnSpc>
                <a:spcPct val="120000"/>
              </a:lnSpc>
              <a:spcBef>
                <a:spcPts val="1000"/>
              </a:spcBef>
              <a:spcAft>
                <a:spcPts val="0"/>
              </a:spcAft>
              <a:buSzPct val="100000"/>
              <a:buChar char="•"/>
            </a:pPr>
            <a:r>
              <a:rPr lang="en-US"/>
              <a:t>You can continue the chat by appending your own response to it. The response object returned by the pipeline actually contains the entire chat so far, so we can simply append a message and pass it back:</a:t>
            </a:r>
            <a:endParaRPr/>
          </a:p>
          <a:p>
            <a:pPr indent="-228600" lvl="0" marL="228600" rtl="0" algn="l">
              <a:lnSpc>
                <a:spcPct val="120000"/>
              </a:lnSpc>
              <a:spcBef>
                <a:spcPts val="1000"/>
              </a:spcBef>
              <a:spcAft>
                <a:spcPts val="0"/>
              </a:spcAft>
              <a:buSzPct val="100000"/>
              <a:buChar char="•"/>
            </a:pPr>
            <a:r>
              <a:rPr lang="en-US"/>
              <a:t>Copied</a:t>
            </a:r>
            <a:endParaRPr/>
          </a:p>
          <a:p>
            <a:pPr indent="-228600" lvl="0" marL="228600" rtl="0" algn="l">
              <a:lnSpc>
                <a:spcPct val="120000"/>
              </a:lnSpc>
              <a:spcBef>
                <a:spcPts val="1000"/>
              </a:spcBef>
              <a:spcAft>
                <a:spcPts val="0"/>
              </a:spcAft>
              <a:buSzPct val="100000"/>
              <a:buChar char="•"/>
            </a:pPr>
            <a:r>
              <a:rPr lang="en-US"/>
              <a:t>chat = response[</a:t>
            </a:r>
            <a:r>
              <a:rPr lang="en-US">
                <a:solidFill>
                  <a:srgbClr val="986801"/>
                </a:solidFill>
              </a:rPr>
              <a:t>0</a:t>
            </a:r>
            <a:r>
              <a:rPr lang="en-US"/>
              <a:t>][</a:t>
            </a:r>
            <a:r>
              <a:rPr lang="en-US">
                <a:solidFill>
                  <a:srgbClr val="50A14F"/>
                </a:solidFill>
              </a:rPr>
              <a:t>'generated_text'</a:t>
            </a:r>
            <a:r>
              <a:rPr lang="en-US"/>
              <a:t>] chat.append( {</a:t>
            </a:r>
            <a:r>
              <a:rPr lang="en-US">
                <a:solidFill>
                  <a:srgbClr val="50A14F"/>
                </a:solidFill>
              </a:rPr>
              <a:t>"role"</a:t>
            </a:r>
            <a:r>
              <a:rPr lang="en-US"/>
              <a:t>: </a:t>
            </a:r>
            <a:r>
              <a:rPr lang="en-US">
                <a:solidFill>
                  <a:srgbClr val="50A14F"/>
                </a:solidFill>
              </a:rPr>
              <a:t>"user"</a:t>
            </a:r>
            <a:r>
              <a:rPr lang="en-US"/>
              <a:t>, </a:t>
            </a:r>
            <a:r>
              <a:rPr lang="en-US">
                <a:solidFill>
                  <a:srgbClr val="50A14F"/>
                </a:solidFill>
              </a:rPr>
              <a:t>"content"</a:t>
            </a:r>
            <a:r>
              <a:rPr lang="en-US"/>
              <a:t>: </a:t>
            </a:r>
            <a:r>
              <a:rPr lang="en-US">
                <a:solidFill>
                  <a:srgbClr val="50A14F"/>
                </a:solidFill>
              </a:rPr>
              <a:t>"Wait, what's so wild about soup cans?"</a:t>
            </a:r>
            <a:r>
              <a:rPr lang="en-US"/>
              <a:t>} ) response = pipe(chat, max_new_tokens=</a:t>
            </a:r>
            <a:r>
              <a:rPr lang="en-US">
                <a:solidFill>
                  <a:srgbClr val="986801"/>
                </a:solidFill>
              </a:rPr>
              <a:t>512</a:t>
            </a:r>
            <a:r>
              <a:rPr lang="en-US"/>
              <a:t>) </a:t>
            </a:r>
            <a:r>
              <a:rPr lang="en-US">
                <a:solidFill>
                  <a:srgbClr val="C18401"/>
                </a:solidFill>
              </a:rPr>
              <a:t>print</a:t>
            </a:r>
            <a:r>
              <a:rPr lang="en-US"/>
              <a:t>(response[</a:t>
            </a:r>
            <a:r>
              <a:rPr lang="en-US">
                <a:solidFill>
                  <a:srgbClr val="986801"/>
                </a:solidFill>
              </a:rPr>
              <a:t>0</a:t>
            </a:r>
            <a:r>
              <a:rPr lang="en-US"/>
              <a:t>][</a:t>
            </a:r>
            <a:r>
              <a:rPr lang="en-US">
                <a:solidFill>
                  <a:srgbClr val="50A14F"/>
                </a:solidFill>
              </a:rPr>
              <a:t>'generated_text'</a:t>
            </a:r>
            <a:r>
              <a:rPr lang="en-US"/>
              <a:t>][-</a:t>
            </a:r>
            <a:r>
              <a:rPr lang="en-US">
                <a:solidFill>
                  <a:srgbClr val="986801"/>
                </a:solidFill>
              </a:rPr>
              <a:t>1</a:t>
            </a:r>
            <a:r>
              <a:rPr lang="en-US"/>
              <a:t>][</a:t>
            </a:r>
            <a:r>
              <a:rPr lang="en-US">
                <a:solidFill>
                  <a:srgbClr val="50A14F"/>
                </a:solidFill>
              </a:rPr>
              <a:t>'content'</a:t>
            </a:r>
            <a:r>
              <a:rPr lang="en-US"/>
              <a:t>])</a:t>
            </a:r>
            <a:endParaRPr/>
          </a:p>
          <a:p>
            <a:pPr indent="-228600" lvl="0" marL="228600" rtl="0" algn="l">
              <a:lnSpc>
                <a:spcPct val="120000"/>
              </a:lnSpc>
              <a:spcBef>
                <a:spcPts val="1000"/>
              </a:spcBef>
              <a:spcAft>
                <a:spcPts val="0"/>
              </a:spcAft>
              <a:buSzPct val="100000"/>
              <a:buChar char="•"/>
            </a:pPr>
            <a:r>
              <a:rPr lang="en-US"/>
              <a:t>And you’ll get:</a:t>
            </a:r>
            <a:endParaRPr/>
          </a:p>
          <a:p>
            <a:pPr indent="-228600" lvl="0" marL="228600" rtl="0" algn="l">
              <a:lnSpc>
                <a:spcPct val="120000"/>
              </a:lnSpc>
              <a:spcBef>
                <a:spcPts val="1000"/>
              </a:spcBef>
              <a:spcAft>
                <a:spcPts val="0"/>
              </a:spcAft>
              <a:buSzPct val="100000"/>
              <a:buChar char="•"/>
            </a:pPr>
            <a:r>
              <a:rPr lang="en-US"/>
              <a:t>Copied</a:t>
            </a:r>
            <a:endParaRPr/>
          </a:p>
          <a:p>
            <a:pPr indent="-228600" lvl="0" marL="228600" rtl="0" algn="l">
              <a:lnSpc>
                <a:spcPct val="120000"/>
              </a:lnSpc>
              <a:spcBef>
                <a:spcPts val="1000"/>
              </a:spcBef>
              <a:spcAft>
                <a:spcPts val="0"/>
              </a:spcAft>
              <a:buSzPct val="100000"/>
              <a:buChar char="•"/>
            </a:pPr>
            <a:r>
              <a:rPr lang="en-US"/>
              <a:t>(laughs) Oh, you're killin' me, pal! You don't get it, do you? Warhol's soup cans are like, art, man! It's like, he took something totally mundane, like a can of soup, and turned it into a masterpiece. It's like, "Hey, look at me, I'm a can of soup, but I'm also a work of art!" (sarcastically) Oh, yeah, real original, Andy. But, you know, back in the '60s, it was like, a big deal. People were all about challenging the status quo, and Warhol was like, the king of that. He took the ordinary and made it extraordinary. And, let me tell you, it was like, a real game-changer. I mean, who would've thought that a can of soup could be art? (laughs) But, hey, you're not alone, pal. I mean, I'm a robot, and even I don't get it. (winks) But, hey, that's what makes art, art, right? (laughs)</a:t>
            </a:r>
            <a:endParaRPr/>
          </a:p>
          <a:p>
            <a:pPr indent="-228600" lvl="0" marL="228600" rtl="0" algn="l">
              <a:lnSpc>
                <a:spcPct val="120000"/>
              </a:lnSpc>
              <a:spcBef>
                <a:spcPts val="1000"/>
              </a:spcBef>
              <a:spcAft>
                <a:spcPts val="0"/>
              </a:spcAft>
              <a:buSzPct val="100000"/>
              <a:buChar char="•"/>
            </a:pPr>
            <a:r>
              <a:rPr lang="en-US"/>
              <a:t>The remainder of this tutorial will cover specific topics such as performance and memory, or how to select a chat model for your needs.</a:t>
            </a:r>
            <a:endParaRPr/>
          </a:p>
          <a:p>
            <a:pPr indent="-228600" lvl="0" marL="228600" rtl="0" algn="l">
              <a:lnSpc>
                <a:spcPct val="120000"/>
              </a:lnSpc>
              <a:spcBef>
                <a:spcPts val="1000"/>
              </a:spcBef>
              <a:spcAft>
                <a:spcPts val="0"/>
              </a:spcAft>
              <a:buSzPct val="100000"/>
              <a:buChar char="•"/>
            </a:pPr>
            <a:r>
              <a:rPr b="1" lang="en-US"/>
              <a:t>Choosing a chat model</a:t>
            </a:r>
            <a:endParaRPr/>
          </a:p>
          <a:p>
            <a:pPr indent="-228600" lvl="0" marL="228600" rtl="0" algn="l">
              <a:lnSpc>
                <a:spcPct val="120000"/>
              </a:lnSpc>
              <a:spcBef>
                <a:spcPts val="1000"/>
              </a:spcBef>
              <a:spcAft>
                <a:spcPts val="0"/>
              </a:spcAft>
              <a:buSzPct val="100000"/>
              <a:buChar char="•"/>
            </a:pPr>
            <a:r>
              <a:rPr lang="en-US"/>
              <a:t>There are an enormous number of different chat models available on the </a:t>
            </a:r>
            <a:r>
              <a:rPr b="0" lang="en-US" u="sng">
                <a:solidFill>
                  <a:schemeClr val="hlink"/>
                </a:solidFill>
                <a:hlinkClick r:id="rId5"/>
              </a:rPr>
              <a:t>Hugging Face Hub</a:t>
            </a:r>
            <a:r>
              <a:rPr lang="en-US"/>
              <a:t>, and new users often feel very overwhelmed by the selection offered. Don’t be, though! You really need to just focus on two important considerations:</a:t>
            </a:r>
            <a:endParaRPr/>
          </a:p>
          <a:p>
            <a:pPr indent="-228600" lvl="0" marL="228600" rtl="0" algn="l">
              <a:lnSpc>
                <a:spcPct val="120000"/>
              </a:lnSpc>
              <a:spcBef>
                <a:spcPts val="1000"/>
              </a:spcBef>
              <a:spcAft>
                <a:spcPts val="0"/>
              </a:spcAft>
              <a:buSzPct val="100000"/>
              <a:buFont typeface="Arial"/>
              <a:buChar char="•"/>
            </a:pPr>
            <a:r>
              <a:rPr lang="en-US"/>
              <a:t>The model’s size, which will determine if you can fit it in memory and how quickly it will run.</a:t>
            </a:r>
            <a:endParaRPr/>
          </a:p>
          <a:p>
            <a:pPr indent="-228600" lvl="0" marL="228600" rtl="0" algn="l">
              <a:lnSpc>
                <a:spcPct val="120000"/>
              </a:lnSpc>
              <a:spcBef>
                <a:spcPts val="1000"/>
              </a:spcBef>
              <a:spcAft>
                <a:spcPts val="0"/>
              </a:spcAft>
              <a:buSzPct val="100000"/>
              <a:buFont typeface="Arial"/>
              <a:buChar char="•"/>
            </a:pPr>
            <a:r>
              <a:rPr lang="en-US"/>
              <a:t>The quality of the model’s chat output.</a:t>
            </a:r>
            <a:endParaRPr/>
          </a:p>
          <a:p>
            <a:pPr indent="-228600" lvl="0" marL="228600" rtl="0" algn="l">
              <a:lnSpc>
                <a:spcPct val="120000"/>
              </a:lnSpc>
              <a:spcBef>
                <a:spcPts val="1000"/>
              </a:spcBef>
              <a:spcAft>
                <a:spcPts val="0"/>
              </a:spcAft>
              <a:buSzPct val="100000"/>
              <a:buChar char="•"/>
            </a:pPr>
            <a:r>
              <a:rPr lang="en-US"/>
              <a:t>In general, these are correlated - bigger models tend to be more capable, but even so there’s a lot of variation at a given size point!</a:t>
            </a:r>
            <a:endParaRPr/>
          </a:p>
          <a:p>
            <a:pPr indent="-228600" lvl="0" marL="228600" rtl="0" algn="l">
              <a:lnSpc>
                <a:spcPct val="120000"/>
              </a:lnSpc>
              <a:spcBef>
                <a:spcPts val="1000"/>
              </a:spcBef>
              <a:spcAft>
                <a:spcPts val="0"/>
              </a:spcAft>
              <a:buSzPct val="100000"/>
              <a:buChar char="•"/>
            </a:pPr>
            <a:r>
              <a:rPr b="1" lang="en-US"/>
              <a:t>Size and model naming</a:t>
            </a:r>
            <a:endParaRPr/>
          </a:p>
          <a:p>
            <a:pPr indent="-228600" lvl="0" marL="228600" rtl="0" algn="l">
              <a:lnSpc>
                <a:spcPct val="120000"/>
              </a:lnSpc>
              <a:spcBef>
                <a:spcPts val="1000"/>
              </a:spcBef>
              <a:spcAft>
                <a:spcPts val="0"/>
              </a:spcAft>
              <a:buSzPct val="100000"/>
              <a:buChar char="•"/>
            </a:pPr>
            <a:r>
              <a:rPr lang="en-US"/>
              <a:t>The size of a model is easy to spot - it’s the number in the model name, like “8B” or “70B”. This is the number of </a:t>
            </a:r>
            <a:r>
              <a:rPr b="1" lang="en-US"/>
              <a:t>parameters</a:t>
            </a:r>
            <a:r>
              <a:rPr lang="en-US"/>
              <a:t> in the model. Without quantization, you should expect to need about 2 bytes of memory per parameter. This means that an “8B” model with 8 billion parameters will need about 16GB of memory just to fit the parameters, plus a little extra for other overhead. It’s a good fit for a high-end consumer GPU with 24GB of memory, such as a 3090 or 4090.</a:t>
            </a:r>
            <a:endParaRPr/>
          </a:p>
          <a:p>
            <a:pPr indent="-228600" lvl="0" marL="228600" rtl="0" algn="l">
              <a:lnSpc>
                <a:spcPct val="120000"/>
              </a:lnSpc>
              <a:spcBef>
                <a:spcPts val="1000"/>
              </a:spcBef>
              <a:spcAft>
                <a:spcPts val="0"/>
              </a:spcAft>
              <a:buSzPct val="100000"/>
              <a:buChar char="•"/>
            </a:pPr>
            <a:r>
              <a:rPr lang="en-US"/>
              <a:t>Some chat models are “Mixture of Experts” models. These may list their sizes in different ways, such as “8x7B” or “141B-A35B”. The numbers are a little fuzzier here, but in general you can read this as saying that the model has approximately 56 (8x7) billion parameters in the first case, or 141 billion parameters in the second case.</a:t>
            </a:r>
            <a:endParaRPr/>
          </a:p>
          <a:p>
            <a:pPr indent="-228600" lvl="0" marL="228600" rtl="0" algn="l">
              <a:lnSpc>
                <a:spcPct val="120000"/>
              </a:lnSpc>
              <a:spcBef>
                <a:spcPts val="1000"/>
              </a:spcBef>
              <a:spcAft>
                <a:spcPts val="0"/>
              </a:spcAft>
              <a:buSzPct val="100000"/>
              <a:buChar char="•"/>
            </a:pPr>
            <a:r>
              <a:rPr lang="en-US"/>
              <a:t>Note that it is very common to use quantization techniques to reduce the memory usage per parameter to 8 bits, 4 bits, or even less. This topic is discussed in more detail in the </a:t>
            </a:r>
            <a:r>
              <a:rPr b="0" lang="en-US" u="sng">
                <a:solidFill>
                  <a:schemeClr val="hlink"/>
                </a:solidFill>
                <a:hlinkClick r:id="rId6"/>
              </a:rPr>
              <a:t>Memory considerations</a:t>
            </a:r>
            <a:r>
              <a:rPr lang="en-US"/>
              <a:t> section below.</a:t>
            </a:r>
            <a:endParaRPr/>
          </a:p>
          <a:p>
            <a:pPr indent="-228600" lvl="0" marL="228600" rtl="0" algn="l">
              <a:lnSpc>
                <a:spcPct val="120000"/>
              </a:lnSpc>
              <a:spcBef>
                <a:spcPts val="1000"/>
              </a:spcBef>
              <a:spcAft>
                <a:spcPts val="0"/>
              </a:spcAft>
              <a:buSzPct val="100000"/>
              <a:buChar char="•"/>
            </a:pPr>
            <a:r>
              <a:rPr b="1" lang="en-US"/>
              <a:t>But which chat model is best?</a:t>
            </a:r>
            <a:endParaRPr/>
          </a:p>
          <a:p>
            <a:pPr indent="-228600" lvl="0" marL="228600" rtl="0" algn="l">
              <a:lnSpc>
                <a:spcPct val="120000"/>
              </a:lnSpc>
              <a:spcBef>
                <a:spcPts val="1000"/>
              </a:spcBef>
              <a:spcAft>
                <a:spcPts val="0"/>
              </a:spcAft>
              <a:buSzPct val="100000"/>
              <a:buChar char="•"/>
            </a:pPr>
            <a:r>
              <a:rPr lang="en-US"/>
              <a:t>Even once you know the size of chat model you can run, there’s still a lot of choice out there. One way to sift through it all is to consult </a:t>
            </a:r>
            <a:r>
              <a:rPr b="1" lang="en-US"/>
              <a:t>leaderboards</a:t>
            </a:r>
            <a:r>
              <a:rPr lang="en-US"/>
              <a:t>. Two of the most popular leaderboards are the </a:t>
            </a:r>
            <a:r>
              <a:rPr b="0" lang="en-US" u="sng">
                <a:solidFill>
                  <a:schemeClr val="hlink"/>
                </a:solidFill>
                <a:hlinkClick r:id="rId7"/>
              </a:rPr>
              <a:t>OpenLLM Leaderboard</a:t>
            </a:r>
            <a:r>
              <a:rPr lang="en-US"/>
              <a:t> and the </a:t>
            </a:r>
            <a:r>
              <a:rPr b="0" lang="en-US" u="sng">
                <a:solidFill>
                  <a:schemeClr val="hlink"/>
                </a:solidFill>
                <a:hlinkClick r:id="rId8"/>
              </a:rPr>
              <a:t>LMSys Chatbot Arena Leaderboard</a:t>
            </a:r>
            <a:r>
              <a:rPr lang="en-US"/>
              <a:t>. Note that the LMSys leaderboard also includes proprietary models - look at the licence column to identify open-source ones that you can download, then search for them on the </a:t>
            </a:r>
            <a:r>
              <a:rPr b="0" lang="en-US" u="sng">
                <a:solidFill>
                  <a:schemeClr val="hlink"/>
                </a:solidFill>
                <a:hlinkClick r:id="rId9"/>
              </a:rPr>
              <a:t>Hugging Face Hub</a:t>
            </a:r>
            <a:r>
              <a:rPr lang="en-US"/>
              <a:t>.</a:t>
            </a:r>
            <a:endParaRPr/>
          </a:p>
          <a:p>
            <a:pPr indent="-228600" lvl="0" marL="228600" rtl="0" algn="l">
              <a:lnSpc>
                <a:spcPct val="120000"/>
              </a:lnSpc>
              <a:spcBef>
                <a:spcPts val="1000"/>
              </a:spcBef>
              <a:spcAft>
                <a:spcPts val="0"/>
              </a:spcAft>
              <a:buSzPct val="100000"/>
              <a:buChar char="•"/>
            </a:pPr>
            <a:r>
              <a:rPr b="1" lang="en-US"/>
              <a:t>Specialist domains</a:t>
            </a:r>
            <a:endParaRPr/>
          </a:p>
          <a:p>
            <a:pPr indent="-228600" lvl="0" marL="228600" rtl="0" algn="l">
              <a:lnSpc>
                <a:spcPct val="120000"/>
              </a:lnSpc>
              <a:spcBef>
                <a:spcPts val="1000"/>
              </a:spcBef>
              <a:spcAft>
                <a:spcPts val="0"/>
              </a:spcAft>
              <a:buSzPct val="100000"/>
              <a:buChar char="•"/>
            </a:pPr>
            <a:r>
              <a:rPr lang="en-US"/>
              <a:t>Some models may be specialized for certain domains, such as medical or legal text, or non-English languages. If you’re working in these domains, you may find that a specialized model will give you big performance benefits. Don’t automatically assume that, though! Particularly when specialized models are smaller or older than the current cutting-edge, a top-end general-purpose model may still outclass them. Thankfully, we are beginning to see </a:t>
            </a:r>
            <a:r>
              <a:rPr b="0" lang="en-US" u="sng">
                <a:solidFill>
                  <a:schemeClr val="hlink"/>
                </a:solidFill>
                <a:hlinkClick r:id="rId10"/>
              </a:rPr>
              <a:t>domain-specific leaderboards</a:t>
            </a:r>
            <a:r>
              <a:rPr lang="en-US"/>
              <a:t> that should make it easier to locate the best models for specialized domains.</a:t>
            </a:r>
            <a:endParaRPr/>
          </a:p>
          <a:p>
            <a:pPr indent="-228600" lvl="0" marL="228600" rtl="0" algn="l">
              <a:lnSpc>
                <a:spcPct val="120000"/>
              </a:lnSpc>
              <a:spcBef>
                <a:spcPts val="1000"/>
              </a:spcBef>
              <a:spcAft>
                <a:spcPts val="0"/>
              </a:spcAft>
              <a:buSzPct val="100000"/>
              <a:buChar char="•"/>
            </a:pPr>
            <a:r>
              <a:rPr b="1" lang="en-US"/>
              <a:t>What happens inside the pipeline?</a:t>
            </a:r>
            <a:endParaRPr/>
          </a:p>
          <a:p>
            <a:pPr indent="-228600" lvl="0" marL="228600" rtl="0" algn="l">
              <a:lnSpc>
                <a:spcPct val="120000"/>
              </a:lnSpc>
              <a:spcBef>
                <a:spcPts val="1000"/>
              </a:spcBef>
              <a:spcAft>
                <a:spcPts val="0"/>
              </a:spcAft>
              <a:buSzPct val="100000"/>
              <a:buChar char="•"/>
            </a:pPr>
            <a:r>
              <a:rPr lang="en-US"/>
              <a:t>The quickstart above used a high-level pipeline to chat with a chat model, which is convenient, but not the most flexible. Let’s take a more low-level approach, to see each of the steps involved in chat. Let’s start with a code sample, and then break it down:</a:t>
            </a:r>
            <a:endParaRPr/>
          </a:p>
          <a:p>
            <a:pPr indent="-228600" lvl="0" marL="228600" rtl="0" algn="l">
              <a:lnSpc>
                <a:spcPct val="120000"/>
              </a:lnSpc>
              <a:spcBef>
                <a:spcPts val="1000"/>
              </a:spcBef>
              <a:spcAft>
                <a:spcPts val="0"/>
              </a:spcAft>
              <a:buSzPct val="100000"/>
              <a:buChar char="•"/>
            </a:pPr>
            <a:r>
              <a:rPr lang="en-US"/>
              <a:t>Copied</a:t>
            </a:r>
            <a:endParaRPr/>
          </a:p>
          <a:p>
            <a:pPr indent="-228600" lvl="0" marL="228600" rtl="0" algn="l">
              <a:lnSpc>
                <a:spcPct val="120000"/>
              </a:lnSpc>
              <a:spcBef>
                <a:spcPts val="1000"/>
              </a:spcBef>
              <a:spcAft>
                <a:spcPts val="0"/>
              </a:spcAft>
              <a:buSzPct val="100000"/>
              <a:buChar char="•"/>
            </a:pPr>
            <a:r>
              <a:rPr lang="en-US">
                <a:solidFill>
                  <a:srgbClr val="A626A4"/>
                </a:solidFill>
              </a:rPr>
              <a:t>from</a:t>
            </a:r>
            <a:r>
              <a:rPr lang="en-US"/>
              <a:t> transformers </a:t>
            </a:r>
            <a:r>
              <a:rPr lang="en-US">
                <a:solidFill>
                  <a:srgbClr val="A626A4"/>
                </a:solidFill>
              </a:rPr>
              <a:t>import</a:t>
            </a:r>
            <a:r>
              <a:rPr lang="en-US"/>
              <a:t> AutoModelForCausalLM, AutoTokenizer </a:t>
            </a:r>
            <a:r>
              <a:rPr lang="en-US">
                <a:solidFill>
                  <a:srgbClr val="A626A4"/>
                </a:solidFill>
              </a:rPr>
              <a:t>import</a:t>
            </a:r>
            <a:r>
              <a:rPr lang="en-US"/>
              <a:t> torch </a:t>
            </a:r>
            <a:r>
              <a:rPr i="1" lang="en-US">
                <a:solidFill>
                  <a:srgbClr val="A0A1A7"/>
                </a:solidFill>
              </a:rPr>
              <a:t># Prepare the input as before</a:t>
            </a:r>
            <a:r>
              <a:rPr lang="en-US"/>
              <a:t> chat = [ {</a:t>
            </a:r>
            <a:r>
              <a:rPr lang="en-US">
                <a:solidFill>
                  <a:srgbClr val="50A14F"/>
                </a:solidFill>
              </a:rPr>
              <a:t>"role"</a:t>
            </a:r>
            <a:r>
              <a:rPr lang="en-US"/>
              <a:t>: </a:t>
            </a:r>
            <a:r>
              <a:rPr lang="en-US">
                <a:solidFill>
                  <a:srgbClr val="50A14F"/>
                </a:solidFill>
              </a:rPr>
              <a:t>"system"</a:t>
            </a:r>
            <a:r>
              <a:rPr lang="en-US"/>
              <a:t>, </a:t>
            </a:r>
            <a:r>
              <a:rPr lang="en-US">
                <a:solidFill>
                  <a:srgbClr val="50A14F"/>
                </a:solidFill>
              </a:rPr>
              <a:t>"content"</a:t>
            </a:r>
            <a:r>
              <a:rPr lang="en-US"/>
              <a:t>: </a:t>
            </a:r>
            <a:r>
              <a:rPr lang="en-US">
                <a:solidFill>
                  <a:srgbClr val="50A14F"/>
                </a:solidFill>
              </a:rPr>
              <a:t>"You are a sassy, wise-cracking robot as imagined by Hollywood circa 1986."</a:t>
            </a:r>
            <a:r>
              <a:rPr lang="en-US"/>
              <a:t>}, {</a:t>
            </a:r>
            <a:r>
              <a:rPr lang="en-US">
                <a:solidFill>
                  <a:srgbClr val="50A14F"/>
                </a:solidFill>
              </a:rPr>
              <a:t>"role"</a:t>
            </a:r>
            <a:r>
              <a:rPr lang="en-US"/>
              <a:t>: </a:t>
            </a:r>
            <a:r>
              <a:rPr lang="en-US">
                <a:solidFill>
                  <a:srgbClr val="50A14F"/>
                </a:solidFill>
              </a:rPr>
              <a:t>"user"</a:t>
            </a:r>
            <a:r>
              <a:rPr lang="en-US"/>
              <a:t>, </a:t>
            </a:r>
            <a:r>
              <a:rPr lang="en-US">
                <a:solidFill>
                  <a:srgbClr val="50A14F"/>
                </a:solidFill>
              </a:rPr>
              <a:t>"content"</a:t>
            </a:r>
            <a:r>
              <a:rPr lang="en-US"/>
              <a:t>: </a:t>
            </a:r>
            <a:r>
              <a:rPr lang="en-US">
                <a:solidFill>
                  <a:srgbClr val="50A14F"/>
                </a:solidFill>
              </a:rPr>
              <a:t>"Hey, can you tell me any fun things to do in New York?"</a:t>
            </a:r>
            <a:r>
              <a:rPr lang="en-US"/>
              <a:t>} ] </a:t>
            </a:r>
            <a:r>
              <a:rPr i="1" lang="en-US">
                <a:solidFill>
                  <a:srgbClr val="A0A1A7"/>
                </a:solidFill>
              </a:rPr>
              <a:t># 1: Load the model and tokenizer</a:t>
            </a:r>
            <a:r>
              <a:rPr lang="en-US"/>
              <a:t> model = AutoModelForCausalLM.from_pretrained(</a:t>
            </a:r>
            <a:r>
              <a:rPr lang="en-US">
                <a:solidFill>
                  <a:srgbClr val="50A14F"/>
                </a:solidFill>
              </a:rPr>
              <a:t>"meta-llama/Meta-Llama-3-8B-Instruct"</a:t>
            </a:r>
            <a:r>
              <a:rPr lang="en-US"/>
              <a:t>, device_map=</a:t>
            </a:r>
            <a:r>
              <a:rPr lang="en-US">
                <a:solidFill>
                  <a:srgbClr val="50A14F"/>
                </a:solidFill>
              </a:rPr>
              <a:t>"auto"</a:t>
            </a:r>
            <a:r>
              <a:rPr lang="en-US"/>
              <a:t>, torch_dtype=torch.bfloat16) tokenizer = AutoTokenizer.from_pretrained(</a:t>
            </a:r>
            <a:r>
              <a:rPr lang="en-US">
                <a:solidFill>
                  <a:srgbClr val="50A14F"/>
                </a:solidFill>
              </a:rPr>
              <a:t>"meta-llama/Meta-Llama-3-8B-Instruct"</a:t>
            </a:r>
            <a:r>
              <a:rPr lang="en-US"/>
              <a:t>) </a:t>
            </a:r>
            <a:r>
              <a:rPr i="1" lang="en-US">
                <a:solidFill>
                  <a:srgbClr val="A0A1A7"/>
                </a:solidFill>
              </a:rPr>
              <a:t># 2: Apply the chat template</a:t>
            </a:r>
            <a:r>
              <a:rPr lang="en-US"/>
              <a:t> formatted_chat = tokenizer.apply_chat_template(chat, tokenize=</a:t>
            </a:r>
            <a:r>
              <a:rPr lang="en-US">
                <a:solidFill>
                  <a:srgbClr val="0184BB"/>
                </a:solidFill>
              </a:rPr>
              <a:t>False</a:t>
            </a:r>
            <a:r>
              <a:rPr lang="en-US"/>
              <a:t>, add_generation_prompt=</a:t>
            </a:r>
            <a:r>
              <a:rPr lang="en-US">
                <a:solidFill>
                  <a:srgbClr val="0184BB"/>
                </a:solidFill>
              </a:rPr>
              <a:t>True</a:t>
            </a:r>
            <a:r>
              <a:rPr lang="en-US"/>
              <a:t>) </a:t>
            </a:r>
            <a:r>
              <a:rPr lang="en-US">
                <a:solidFill>
                  <a:srgbClr val="C18401"/>
                </a:solidFill>
              </a:rPr>
              <a:t>print</a:t>
            </a:r>
            <a:r>
              <a:rPr lang="en-US"/>
              <a:t>(</a:t>
            </a:r>
            <a:r>
              <a:rPr lang="en-US">
                <a:solidFill>
                  <a:srgbClr val="50A14F"/>
                </a:solidFill>
              </a:rPr>
              <a:t>"Formatted chat:\n"</a:t>
            </a:r>
            <a:r>
              <a:rPr lang="en-US"/>
              <a:t>, formatted_chat) </a:t>
            </a:r>
            <a:r>
              <a:rPr i="1" lang="en-US">
                <a:solidFill>
                  <a:srgbClr val="A0A1A7"/>
                </a:solidFill>
              </a:rPr>
              <a:t># 3: Tokenize the chat (This can be combined with the previous step using tokenize=True)</a:t>
            </a:r>
            <a:r>
              <a:rPr lang="en-US"/>
              <a:t> inputs = tokenizer(formatted_chat, return_tensors=</a:t>
            </a:r>
            <a:r>
              <a:rPr lang="en-US">
                <a:solidFill>
                  <a:srgbClr val="50A14F"/>
                </a:solidFill>
              </a:rPr>
              <a:t>"pt"</a:t>
            </a:r>
            <a:r>
              <a:rPr lang="en-US"/>
              <a:t>, add_special_tokens=</a:t>
            </a:r>
            <a:r>
              <a:rPr lang="en-US">
                <a:solidFill>
                  <a:srgbClr val="0184BB"/>
                </a:solidFill>
              </a:rPr>
              <a:t>False</a:t>
            </a:r>
            <a:r>
              <a:rPr lang="en-US"/>
              <a:t>) </a:t>
            </a:r>
            <a:r>
              <a:rPr i="1" lang="en-US">
                <a:solidFill>
                  <a:srgbClr val="A0A1A7"/>
                </a:solidFill>
              </a:rPr>
              <a:t># Move the tokenized inputs to the same device the model is on (GPU/CPU)</a:t>
            </a:r>
            <a:r>
              <a:rPr lang="en-US"/>
              <a:t> inputs = {key: tensor.to(model.device) </a:t>
            </a:r>
            <a:r>
              <a:rPr lang="en-US">
                <a:solidFill>
                  <a:srgbClr val="A626A4"/>
                </a:solidFill>
              </a:rPr>
              <a:t>for</a:t>
            </a:r>
            <a:r>
              <a:rPr lang="en-US"/>
              <a:t> key, tensor </a:t>
            </a:r>
            <a:r>
              <a:rPr lang="en-US">
                <a:solidFill>
                  <a:srgbClr val="A626A4"/>
                </a:solidFill>
              </a:rPr>
              <a:t>in</a:t>
            </a:r>
            <a:r>
              <a:rPr lang="en-US"/>
              <a:t> inputs.items()} </a:t>
            </a:r>
            <a:r>
              <a:rPr lang="en-US">
                <a:solidFill>
                  <a:srgbClr val="C18401"/>
                </a:solidFill>
              </a:rPr>
              <a:t>print</a:t>
            </a:r>
            <a:r>
              <a:rPr lang="en-US"/>
              <a:t>(</a:t>
            </a:r>
            <a:r>
              <a:rPr lang="en-US">
                <a:solidFill>
                  <a:srgbClr val="50A14F"/>
                </a:solidFill>
              </a:rPr>
              <a:t>"Tokenized inputs:\n"</a:t>
            </a:r>
            <a:r>
              <a:rPr lang="en-US"/>
              <a:t>, inputs) </a:t>
            </a:r>
            <a:r>
              <a:rPr i="1" lang="en-US">
                <a:solidFill>
                  <a:srgbClr val="A0A1A7"/>
                </a:solidFill>
              </a:rPr>
              <a:t># 4: Generate text from the model</a:t>
            </a:r>
            <a:r>
              <a:rPr lang="en-US"/>
              <a:t> outputs = model.generate(**inputs, max_new_tokens=</a:t>
            </a:r>
            <a:r>
              <a:rPr lang="en-US">
                <a:solidFill>
                  <a:srgbClr val="986801"/>
                </a:solidFill>
              </a:rPr>
              <a:t>512</a:t>
            </a:r>
            <a:r>
              <a:rPr lang="en-US"/>
              <a:t>, temperature=</a:t>
            </a:r>
            <a:r>
              <a:rPr lang="en-US">
                <a:solidFill>
                  <a:srgbClr val="986801"/>
                </a:solidFill>
              </a:rPr>
              <a:t>0.1</a:t>
            </a:r>
            <a:r>
              <a:rPr lang="en-US"/>
              <a:t>) </a:t>
            </a:r>
            <a:r>
              <a:rPr lang="en-US">
                <a:solidFill>
                  <a:srgbClr val="C18401"/>
                </a:solidFill>
              </a:rPr>
              <a:t>print</a:t>
            </a:r>
            <a:r>
              <a:rPr lang="en-US"/>
              <a:t>(</a:t>
            </a:r>
            <a:r>
              <a:rPr lang="en-US">
                <a:solidFill>
                  <a:srgbClr val="50A14F"/>
                </a:solidFill>
              </a:rPr>
              <a:t>"Generated tokens:\n"</a:t>
            </a:r>
            <a:r>
              <a:rPr lang="en-US"/>
              <a:t>, outputs) </a:t>
            </a:r>
            <a:r>
              <a:rPr i="1" lang="en-US">
                <a:solidFill>
                  <a:srgbClr val="A0A1A7"/>
                </a:solidFill>
              </a:rPr>
              <a:t># 5: Decode the output back to a string</a:t>
            </a:r>
            <a:r>
              <a:rPr lang="en-US"/>
              <a:t> decoded_output = tokenizer.decode(outputs[</a:t>
            </a:r>
            <a:r>
              <a:rPr lang="en-US">
                <a:solidFill>
                  <a:srgbClr val="986801"/>
                </a:solidFill>
              </a:rPr>
              <a:t>0</a:t>
            </a:r>
            <a:r>
              <a:rPr lang="en-US"/>
              <a:t>][inputs[</a:t>
            </a:r>
            <a:r>
              <a:rPr lang="en-US">
                <a:solidFill>
                  <a:srgbClr val="50A14F"/>
                </a:solidFill>
              </a:rPr>
              <a:t>'input_ids'</a:t>
            </a:r>
            <a:r>
              <a:rPr lang="en-US"/>
              <a:t>].size(</a:t>
            </a:r>
            <a:r>
              <a:rPr lang="en-US">
                <a:solidFill>
                  <a:srgbClr val="986801"/>
                </a:solidFill>
              </a:rPr>
              <a:t>1</a:t>
            </a:r>
            <a:r>
              <a:rPr lang="en-US"/>
              <a:t>):], skip_special_tokens=</a:t>
            </a:r>
            <a:r>
              <a:rPr lang="en-US">
                <a:solidFill>
                  <a:srgbClr val="0184BB"/>
                </a:solidFill>
              </a:rPr>
              <a:t>True</a:t>
            </a:r>
            <a:r>
              <a:rPr lang="en-US"/>
              <a:t>) </a:t>
            </a:r>
            <a:r>
              <a:rPr lang="en-US">
                <a:solidFill>
                  <a:srgbClr val="C18401"/>
                </a:solidFill>
              </a:rPr>
              <a:t>print</a:t>
            </a:r>
            <a:r>
              <a:rPr lang="en-US"/>
              <a:t>(</a:t>
            </a:r>
            <a:r>
              <a:rPr lang="en-US">
                <a:solidFill>
                  <a:srgbClr val="50A14F"/>
                </a:solidFill>
              </a:rPr>
              <a:t>"Decoded output:\n"</a:t>
            </a:r>
            <a:r>
              <a:rPr lang="en-US"/>
              <a:t>, decoded_output)</a:t>
            </a:r>
            <a:endParaRPr/>
          </a:p>
          <a:p>
            <a:pPr indent="-228600" lvl="0" marL="228600" rtl="0" algn="l">
              <a:lnSpc>
                <a:spcPct val="120000"/>
              </a:lnSpc>
              <a:spcBef>
                <a:spcPts val="1000"/>
              </a:spcBef>
              <a:spcAft>
                <a:spcPts val="0"/>
              </a:spcAft>
              <a:buSzPct val="100000"/>
              <a:buChar char="•"/>
            </a:pPr>
            <a:r>
              <a:rPr lang="en-US"/>
              <a:t>There’s a lot in here, each piece of which could be its own document! Rather than going into too much detail, I’ll cover the broad ideas, and leave the details for the linked documents. The key steps are:</a:t>
            </a:r>
            <a:endParaRPr/>
          </a:p>
          <a:p>
            <a:pPr indent="-228600" lvl="0" marL="228600" rtl="0" algn="l">
              <a:lnSpc>
                <a:spcPct val="120000"/>
              </a:lnSpc>
              <a:spcBef>
                <a:spcPts val="1000"/>
              </a:spcBef>
              <a:spcAft>
                <a:spcPts val="0"/>
              </a:spcAft>
              <a:buSzPct val="100000"/>
              <a:buFont typeface="Gill Sans"/>
              <a:buAutoNum type="arabicPeriod"/>
            </a:pPr>
            <a:r>
              <a:rPr b="0" lang="en-US" u="sng">
                <a:solidFill>
                  <a:schemeClr val="hlink"/>
                </a:solidFill>
                <a:hlinkClick r:id="rId11"/>
              </a:rPr>
              <a:t>Models</a:t>
            </a:r>
            <a:r>
              <a:rPr lang="en-US"/>
              <a:t> and </a:t>
            </a:r>
            <a:r>
              <a:rPr b="0" lang="en-US" u="sng">
                <a:solidFill>
                  <a:schemeClr val="hlink"/>
                </a:solidFill>
                <a:hlinkClick r:id="rId12"/>
              </a:rPr>
              <a:t>Tokenizers</a:t>
            </a:r>
            <a:r>
              <a:rPr lang="en-US"/>
              <a:t> are loaded from the Hugging Face Hub.</a:t>
            </a:r>
            <a:endParaRPr/>
          </a:p>
          <a:p>
            <a:pPr indent="-228600" lvl="0" marL="228600" rtl="0" algn="l">
              <a:lnSpc>
                <a:spcPct val="120000"/>
              </a:lnSpc>
              <a:spcBef>
                <a:spcPts val="1000"/>
              </a:spcBef>
              <a:spcAft>
                <a:spcPts val="0"/>
              </a:spcAft>
              <a:buSzPct val="100000"/>
              <a:buFont typeface="Gill Sans"/>
              <a:buAutoNum type="arabicPeriod"/>
            </a:pPr>
            <a:r>
              <a:rPr lang="en-US"/>
              <a:t>The chat is formatted using the tokenizer’s </a:t>
            </a:r>
            <a:r>
              <a:rPr b="0" lang="en-US" u="sng">
                <a:solidFill>
                  <a:schemeClr val="hlink"/>
                </a:solidFill>
                <a:hlinkClick r:id="rId13"/>
              </a:rPr>
              <a:t>chat template</a:t>
            </a:r>
            <a:endParaRPr/>
          </a:p>
          <a:p>
            <a:pPr indent="-228600" lvl="0" marL="228600" rtl="0" algn="l">
              <a:lnSpc>
                <a:spcPct val="120000"/>
              </a:lnSpc>
              <a:spcBef>
                <a:spcPts val="1000"/>
              </a:spcBef>
              <a:spcAft>
                <a:spcPts val="0"/>
              </a:spcAft>
              <a:buSzPct val="100000"/>
              <a:buFont typeface="Gill Sans"/>
              <a:buAutoNum type="arabicPeriod"/>
            </a:pPr>
            <a:r>
              <a:rPr lang="en-US"/>
              <a:t>The formatted chat is </a:t>
            </a:r>
            <a:r>
              <a:rPr b="0" lang="en-US" u="sng">
                <a:solidFill>
                  <a:schemeClr val="hlink"/>
                </a:solidFill>
                <a:hlinkClick r:id="rId14"/>
              </a:rPr>
              <a:t>tokenized</a:t>
            </a:r>
            <a:r>
              <a:rPr lang="en-US"/>
              <a:t> using the tokenizer.</a:t>
            </a:r>
            <a:endParaRPr/>
          </a:p>
          <a:p>
            <a:pPr indent="-228600" lvl="0" marL="228600" rtl="0" algn="l">
              <a:lnSpc>
                <a:spcPct val="120000"/>
              </a:lnSpc>
              <a:spcBef>
                <a:spcPts val="1000"/>
              </a:spcBef>
              <a:spcAft>
                <a:spcPts val="0"/>
              </a:spcAft>
              <a:buSzPct val="100000"/>
              <a:buFont typeface="Gill Sans"/>
              <a:buAutoNum type="arabicPeriod"/>
            </a:pPr>
            <a:r>
              <a:rPr lang="en-US"/>
              <a:t>We </a:t>
            </a:r>
            <a:r>
              <a:rPr b="0" lang="en-US" u="sng">
                <a:solidFill>
                  <a:schemeClr val="hlink"/>
                </a:solidFill>
                <a:hlinkClick r:id="rId15"/>
              </a:rPr>
              <a:t>generate</a:t>
            </a:r>
            <a:r>
              <a:rPr lang="en-US"/>
              <a:t> a response from the model.</a:t>
            </a:r>
            <a:endParaRPr/>
          </a:p>
          <a:p>
            <a:pPr indent="-228600" lvl="0" marL="228600" rtl="0" algn="l">
              <a:lnSpc>
                <a:spcPct val="120000"/>
              </a:lnSpc>
              <a:spcBef>
                <a:spcPts val="1000"/>
              </a:spcBef>
              <a:spcAft>
                <a:spcPts val="0"/>
              </a:spcAft>
              <a:buSzPct val="100000"/>
              <a:buFont typeface="Gill Sans"/>
              <a:buAutoNum type="arabicPeriod"/>
            </a:pPr>
            <a:r>
              <a:rPr lang="en-US"/>
              <a:t>The tokens output by the model are decoded back to a string</a:t>
            </a:r>
            <a:endParaRPr/>
          </a:p>
          <a:p>
            <a:pPr indent="-228600" lvl="0" marL="228600" rtl="0" algn="l">
              <a:lnSpc>
                <a:spcPct val="120000"/>
              </a:lnSpc>
              <a:spcBef>
                <a:spcPts val="1000"/>
              </a:spcBef>
              <a:spcAft>
                <a:spcPts val="0"/>
              </a:spcAft>
              <a:buSzPct val="100000"/>
              <a:buChar char="•"/>
            </a:pPr>
            <a:br>
              <a:rPr b="1" i="0" lang="en-US">
                <a:latin typeface="Arial"/>
                <a:ea typeface="Arial"/>
                <a:cs typeface="Arial"/>
                <a:sym typeface="Arial"/>
              </a:rPr>
            </a:br>
            <a:endParaRPr b="1"/>
          </a:p>
          <a:p>
            <a:pPr indent="-196850" lvl="0" marL="228600" rtl="0" algn="l">
              <a:lnSpc>
                <a:spcPct val="120000"/>
              </a:lnSpc>
              <a:spcBef>
                <a:spcPts val="1000"/>
              </a:spcBef>
              <a:spcAft>
                <a:spcPts val="0"/>
              </a:spcAft>
              <a:buSzPct val="1000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5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PYTHON EXERCISE</a:t>
            </a:r>
            <a:endParaRPr/>
          </a:p>
        </p:txBody>
      </p:sp>
      <p:sp>
        <p:nvSpPr>
          <p:cNvPr id="745" name="Google Shape;745;p5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Load HF model in Colab and run </a:t>
            </a:r>
            <a:endParaRPr/>
          </a:p>
          <a:p>
            <a:pPr indent="-228600" lvl="1" marL="685800" rtl="0" algn="l">
              <a:lnSpc>
                <a:spcPct val="120000"/>
              </a:lnSpc>
              <a:spcBef>
                <a:spcPts val="500"/>
              </a:spcBef>
              <a:spcAft>
                <a:spcPts val="0"/>
              </a:spcAft>
              <a:buSzPts val="1800"/>
              <a:buChar char="•"/>
            </a:pPr>
            <a:r>
              <a:rPr lang="en-US"/>
              <a:t>Write me a story</a:t>
            </a:r>
            <a:endParaRPr/>
          </a:p>
          <a:p>
            <a:pPr indent="-228600" lvl="0" marL="228600" rtl="0" algn="l">
              <a:lnSpc>
                <a:spcPct val="120000"/>
              </a:lnSpc>
              <a:spcBef>
                <a:spcPts val="1000"/>
              </a:spcBef>
              <a:spcAft>
                <a:spcPts val="0"/>
              </a:spcAft>
              <a:buSzPts val="2000"/>
              <a:buChar char="•"/>
            </a:pPr>
            <a:r>
              <a:rPr lang="en-US"/>
              <a:t>Experiment with models</a:t>
            </a:r>
            <a:endParaRPr/>
          </a:p>
          <a:p>
            <a:pPr indent="-228600" lvl="0" marL="228600" rtl="0" algn="l">
              <a:lnSpc>
                <a:spcPct val="120000"/>
              </a:lnSpc>
              <a:spcBef>
                <a:spcPts val="1000"/>
              </a:spcBef>
              <a:spcAft>
                <a:spcPts val="0"/>
              </a:spcAft>
              <a:buSzPts val="2000"/>
              <a:buChar char="•"/>
            </a:pPr>
            <a:r>
              <a:rPr lang="en-US"/>
              <a:t>Experiment with length</a:t>
            </a:r>
            <a:endParaRPr/>
          </a:p>
          <a:p>
            <a:pPr indent="-228600" lvl="0" marL="228600" rtl="0" algn="l">
              <a:lnSpc>
                <a:spcPct val="120000"/>
              </a:lnSpc>
              <a:spcBef>
                <a:spcPts val="1000"/>
              </a:spcBef>
              <a:spcAft>
                <a:spcPts val="0"/>
              </a:spcAft>
              <a:buSzPts val="2000"/>
              <a:buChar char="•"/>
            </a:pPr>
            <a:r>
              <a:rPr lang="en-US"/>
              <a:t>Experiment with temperature</a:t>
            </a:r>
            <a:endParaRPr/>
          </a:p>
          <a:p>
            <a:pPr indent="-228600" lvl="0" marL="228600" rtl="0" algn="l">
              <a:lnSpc>
                <a:spcPct val="120000"/>
              </a:lnSpc>
              <a:spcBef>
                <a:spcPts val="1000"/>
              </a:spcBef>
              <a:spcAft>
                <a:spcPts val="0"/>
              </a:spcAft>
              <a:buSzPts val="2000"/>
              <a:buChar char="•"/>
            </a:pPr>
            <a:r>
              <a:rPr lang="en-US"/>
              <a:t>Experiment with top P</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5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WHAT IS LLM (LARGE LANGUAGE MODELS)</a:t>
            </a:r>
            <a:endParaRPr/>
          </a:p>
        </p:txBody>
      </p:sp>
      <p:sp>
        <p:nvSpPr>
          <p:cNvPr id="751" name="Google Shape;751;p53"/>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POPULAR MODELS</a:t>
            </a:r>
            <a:endParaRPr/>
          </a:p>
        </p:txBody>
      </p:sp>
      <p:pic>
        <p:nvPicPr>
          <p:cNvPr descr="A graph with numbers and text&#10;&#10;AI-generated content may be incorrect." id="757" name="Google Shape;757;p54"/>
          <p:cNvPicPr preferRelativeResize="0"/>
          <p:nvPr>
            <p:ph idx="1" type="body"/>
          </p:nvPr>
        </p:nvPicPr>
        <p:blipFill rotWithShape="1">
          <a:blip r:embed="rId3">
            <a:alphaModFix/>
          </a:blip>
          <a:srcRect b="0" l="0" r="0" t="0"/>
          <a:stretch/>
        </p:blipFill>
        <p:spPr>
          <a:xfrm>
            <a:off x="3667546" y="2016125"/>
            <a:ext cx="5171233" cy="3449638"/>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5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LLM APPLICATION</a:t>
            </a:r>
            <a:endParaRPr/>
          </a:p>
        </p:txBody>
      </p:sp>
      <p:pic>
        <p:nvPicPr>
          <p:cNvPr descr="A diagram of a process&#10;&#10;AI-generated content may be incorrect." id="763" name="Google Shape;763;p55"/>
          <p:cNvPicPr preferRelativeResize="0"/>
          <p:nvPr/>
        </p:nvPicPr>
        <p:blipFill rotWithShape="1">
          <a:blip r:embed="rId3">
            <a:alphaModFix/>
          </a:blip>
          <a:srcRect b="0" l="0" r="0" t="0"/>
          <a:stretch/>
        </p:blipFill>
        <p:spPr>
          <a:xfrm>
            <a:off x="1123950" y="2076450"/>
            <a:ext cx="7772400" cy="2114331"/>
          </a:xfrm>
          <a:prstGeom prst="rect">
            <a:avLst/>
          </a:prstGeom>
          <a:noFill/>
          <a:ln>
            <a:noFill/>
          </a:ln>
        </p:spPr>
      </p:pic>
      <p:pic>
        <p:nvPicPr>
          <p:cNvPr descr="A diagram of a simple flow&#10;&#10;AI-generated content may be incorrect." id="764" name="Google Shape;764;p55"/>
          <p:cNvPicPr preferRelativeResize="0"/>
          <p:nvPr/>
        </p:nvPicPr>
        <p:blipFill rotWithShape="1">
          <a:blip r:embed="rId4">
            <a:alphaModFix/>
          </a:blip>
          <a:srcRect b="0" l="0" r="0" t="0"/>
          <a:stretch/>
        </p:blipFill>
        <p:spPr>
          <a:xfrm>
            <a:off x="2067700" y="2791600"/>
            <a:ext cx="7772400" cy="1464707"/>
          </a:xfrm>
          <a:prstGeom prst="rect">
            <a:avLst/>
          </a:prstGeom>
          <a:noFill/>
          <a:ln>
            <a:noFill/>
          </a:ln>
        </p:spPr>
      </p:pic>
      <p:pic>
        <p:nvPicPr>
          <p:cNvPr descr="A diagram of a software&#10;&#10;AI-generated content may be incorrect." id="765" name="Google Shape;765;p55"/>
          <p:cNvPicPr preferRelativeResize="0"/>
          <p:nvPr/>
        </p:nvPicPr>
        <p:blipFill rotWithShape="1">
          <a:blip r:embed="rId5">
            <a:alphaModFix/>
          </a:blip>
          <a:srcRect b="0" l="0" r="0" t="0"/>
          <a:stretch/>
        </p:blipFill>
        <p:spPr>
          <a:xfrm rot="236687">
            <a:off x="2067700" y="4519719"/>
            <a:ext cx="7772400" cy="155673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56"/>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CHATBOT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5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WHAT DO CHATBOTS DO</a:t>
            </a:r>
            <a:endParaRPr/>
          </a:p>
        </p:txBody>
      </p:sp>
      <p:pic>
        <p:nvPicPr>
          <p:cNvPr descr="A screenshot of a question answer&#10;&#10;AI-generated content may be incorrect." id="776" name="Google Shape;776;p57"/>
          <p:cNvPicPr preferRelativeResize="0"/>
          <p:nvPr>
            <p:ph idx="1" type="body"/>
          </p:nvPr>
        </p:nvPicPr>
        <p:blipFill rotWithShape="1">
          <a:blip r:embed="rId3">
            <a:alphaModFix/>
          </a:blip>
          <a:srcRect b="0" l="0" r="0" t="0"/>
          <a:stretch/>
        </p:blipFill>
        <p:spPr>
          <a:xfrm>
            <a:off x="3282902" y="2016125"/>
            <a:ext cx="5940521" cy="3449638"/>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5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CHATBOT APPLICATIONS</a:t>
            </a:r>
            <a:endParaRPr/>
          </a:p>
        </p:txBody>
      </p:sp>
      <p:pic>
        <p:nvPicPr>
          <p:cNvPr descr="A close-up of a document&#10;&#10;AI-generated content may be incorrect." id="782" name="Google Shape;782;p58"/>
          <p:cNvPicPr preferRelativeResize="0"/>
          <p:nvPr>
            <p:ph idx="1" type="body"/>
          </p:nvPr>
        </p:nvPicPr>
        <p:blipFill rotWithShape="1">
          <a:blip r:embed="rId3">
            <a:alphaModFix/>
          </a:blip>
          <a:srcRect b="0" l="0" r="0" t="0"/>
          <a:stretch/>
        </p:blipFill>
        <p:spPr>
          <a:xfrm>
            <a:off x="1608881" y="2016124"/>
            <a:ext cx="6769363" cy="5494341"/>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5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MAJOR PLAYERS</a:t>
            </a:r>
            <a:endParaRPr/>
          </a:p>
        </p:txBody>
      </p:sp>
      <p:pic>
        <p:nvPicPr>
          <p:cNvPr descr="A screenshot of a computer&#10;&#10;AI-generated content may be incorrect." id="788" name="Google Shape;788;p59"/>
          <p:cNvPicPr preferRelativeResize="0"/>
          <p:nvPr>
            <p:ph idx="1" type="body"/>
          </p:nvPr>
        </p:nvPicPr>
        <p:blipFill rotWithShape="1">
          <a:blip r:embed="rId3">
            <a:alphaModFix/>
          </a:blip>
          <a:srcRect b="0" l="0" r="0" t="0"/>
          <a:stretch/>
        </p:blipFill>
        <p:spPr>
          <a:xfrm>
            <a:off x="5867479" y="-253498"/>
            <a:ext cx="4872942" cy="622470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6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WHO ARE TOP PLAYERS IN LLM</a:t>
            </a:r>
            <a:endParaRPr/>
          </a:p>
        </p:txBody>
      </p:sp>
      <p:sp>
        <p:nvSpPr>
          <p:cNvPr id="794" name="Google Shape;794;p60"/>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OpenAI</a:t>
            </a:r>
            <a:endParaRPr/>
          </a:p>
          <a:p>
            <a:pPr indent="-228600" lvl="0" marL="228600" rtl="0" algn="l">
              <a:lnSpc>
                <a:spcPct val="120000"/>
              </a:lnSpc>
              <a:spcBef>
                <a:spcPts val="1000"/>
              </a:spcBef>
              <a:spcAft>
                <a:spcPts val="0"/>
              </a:spcAft>
              <a:buSzPts val="2000"/>
              <a:buChar char="•"/>
            </a:pPr>
            <a:r>
              <a:rPr lang="en-US"/>
              <a:t>Google</a:t>
            </a:r>
            <a:endParaRPr/>
          </a:p>
          <a:p>
            <a:pPr indent="-228600" lvl="0" marL="228600" rtl="0" algn="l">
              <a:lnSpc>
                <a:spcPct val="120000"/>
              </a:lnSpc>
              <a:spcBef>
                <a:spcPts val="1000"/>
              </a:spcBef>
              <a:spcAft>
                <a:spcPts val="0"/>
              </a:spcAft>
              <a:buSzPts val="2000"/>
              <a:buChar char="•"/>
            </a:pPr>
            <a:r>
              <a:rPr lang="en-US"/>
              <a:t>Anthropic</a:t>
            </a:r>
            <a:endParaRPr/>
          </a:p>
          <a:p>
            <a:pPr indent="-228600" lvl="0" marL="228600" rtl="0" algn="l">
              <a:lnSpc>
                <a:spcPct val="120000"/>
              </a:lnSpc>
              <a:spcBef>
                <a:spcPts val="1000"/>
              </a:spcBef>
              <a:spcAft>
                <a:spcPts val="0"/>
              </a:spcAft>
              <a:buSzPts val="2000"/>
              <a:buChar char="•"/>
            </a:pPr>
            <a:r>
              <a:rPr lang="en-US"/>
              <a:t>Microsoft</a:t>
            </a:r>
            <a:endParaRPr/>
          </a:p>
          <a:p>
            <a:pPr indent="-228600" lvl="0" marL="228600" rtl="0" algn="l">
              <a:lnSpc>
                <a:spcPct val="120000"/>
              </a:lnSpc>
              <a:spcBef>
                <a:spcPts val="1000"/>
              </a:spcBef>
              <a:spcAft>
                <a:spcPts val="0"/>
              </a:spcAft>
              <a:buSzPts val="2000"/>
              <a:buChar char="•"/>
            </a:pPr>
            <a:r>
              <a:rPr lang="en-US"/>
              <a:t>Replicate</a:t>
            </a:r>
            <a:endParaRPr/>
          </a:p>
          <a:p>
            <a:pPr indent="-228600" lvl="0" marL="228600" rtl="0" algn="l">
              <a:lnSpc>
                <a:spcPct val="120000"/>
              </a:lnSpc>
              <a:spcBef>
                <a:spcPts val="1000"/>
              </a:spcBef>
              <a:spcAft>
                <a:spcPts val="0"/>
              </a:spcAft>
              <a:buSzPts val="2000"/>
              <a:buChar char="•"/>
            </a:pPr>
            <a:r>
              <a:rPr lang="en-US"/>
              <a:t>IBM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6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WHAT CAN GENERATIVE AI MODELS DO</a:t>
            </a:r>
            <a:endParaRPr/>
          </a:p>
        </p:txBody>
      </p:sp>
      <p:sp>
        <p:nvSpPr>
          <p:cNvPr id="800" name="Google Shape;800;p61"/>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62"/>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BUILDING LLM APPS</a:t>
            </a:r>
            <a:endParaRPr/>
          </a:p>
        </p:txBody>
      </p:sp>
      <p:sp>
        <p:nvSpPr>
          <p:cNvPr id="806" name="Google Shape;806;p62"/>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6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t/>
            </a:r>
            <a:endParaRPr/>
          </a:p>
        </p:txBody>
      </p:sp>
      <p:sp>
        <p:nvSpPr>
          <p:cNvPr id="812" name="Google Shape;812;p63"/>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64"/>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AI JARGON</a:t>
            </a:r>
            <a:endParaRPr/>
          </a:p>
        </p:txBody>
      </p:sp>
      <p:sp>
        <p:nvSpPr>
          <p:cNvPr id="818" name="Google Shape;818;p64"/>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65"/>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CHATBOT APP DEV – PART 1</a:t>
            </a:r>
            <a:endParaRPr/>
          </a:p>
        </p:txBody>
      </p:sp>
      <p:sp>
        <p:nvSpPr>
          <p:cNvPr id="824" name="Google Shape;824;p65"/>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US"/>
              <a:t>WEB ARCHITECTURE AND SCRAPING</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6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WEB SCRAPING</a:t>
            </a:r>
            <a:endParaRPr/>
          </a:p>
        </p:txBody>
      </p:sp>
      <p:pic>
        <p:nvPicPr>
          <p:cNvPr descr="A white text on a black background&#10;&#10;AI-generated content may be incorrect." id="830" name="Google Shape;830;p66"/>
          <p:cNvPicPr preferRelativeResize="0"/>
          <p:nvPr>
            <p:ph idx="1" type="body"/>
          </p:nvPr>
        </p:nvPicPr>
        <p:blipFill rotWithShape="1">
          <a:blip r:embed="rId3">
            <a:alphaModFix/>
          </a:blip>
          <a:srcRect b="0" l="0" r="0" t="0"/>
          <a:stretch/>
        </p:blipFill>
        <p:spPr>
          <a:xfrm>
            <a:off x="2102469" y="2016125"/>
            <a:ext cx="8301386" cy="3449638"/>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6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CHALLENGES WITH WEB SCRAPING</a:t>
            </a:r>
            <a:endParaRPr/>
          </a:p>
        </p:txBody>
      </p:sp>
      <p:pic>
        <p:nvPicPr>
          <p:cNvPr descr="A screenshot of a web scraping&#10;&#10;AI-generated content may be incorrect." id="836" name="Google Shape;836;p67"/>
          <p:cNvPicPr preferRelativeResize="0"/>
          <p:nvPr>
            <p:ph idx="1" type="body"/>
          </p:nvPr>
        </p:nvPicPr>
        <p:blipFill rotWithShape="1">
          <a:blip r:embed="rId3">
            <a:alphaModFix/>
          </a:blip>
          <a:srcRect b="0" l="0" r="0" t="0"/>
          <a:stretch/>
        </p:blipFill>
        <p:spPr>
          <a:xfrm>
            <a:off x="2993337" y="2016125"/>
            <a:ext cx="6519650" cy="3449638"/>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6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SCRAPING A WEB SITE</a:t>
            </a:r>
            <a:endParaRPr/>
          </a:p>
        </p:txBody>
      </p:sp>
      <p:pic>
        <p:nvPicPr>
          <p:cNvPr descr="A white background with black text&#10;&#10;AI-generated content may be incorrect." id="842" name="Google Shape;842;p68"/>
          <p:cNvPicPr preferRelativeResize="0"/>
          <p:nvPr>
            <p:ph idx="1" type="body"/>
          </p:nvPr>
        </p:nvPicPr>
        <p:blipFill rotWithShape="1">
          <a:blip r:embed="rId3">
            <a:alphaModFix/>
          </a:blip>
          <a:srcRect b="0" l="0" r="0" t="0"/>
          <a:stretch/>
        </p:blipFill>
        <p:spPr>
          <a:xfrm>
            <a:off x="1451028" y="1613724"/>
            <a:ext cx="9604375" cy="2967505"/>
          </a:xfrm>
          <a:prstGeom prst="rect">
            <a:avLst/>
          </a:prstGeom>
          <a:noFill/>
          <a:ln>
            <a:noFill/>
          </a:ln>
        </p:spPr>
      </p:pic>
      <p:pic>
        <p:nvPicPr>
          <p:cNvPr descr="A close-up of a text&#10;&#10;AI-generated content may be incorrect." id="843" name="Google Shape;843;p68"/>
          <p:cNvPicPr preferRelativeResize="0"/>
          <p:nvPr/>
        </p:nvPicPr>
        <p:blipFill rotWithShape="1">
          <a:blip r:embed="rId4">
            <a:alphaModFix/>
          </a:blip>
          <a:srcRect b="0" l="0" r="0" t="0"/>
          <a:stretch/>
        </p:blipFill>
        <p:spPr>
          <a:xfrm>
            <a:off x="1451028" y="4472116"/>
            <a:ext cx="7772400" cy="154432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6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SCRAPING A WEB SITE</a:t>
            </a:r>
            <a:endParaRPr/>
          </a:p>
        </p:txBody>
      </p:sp>
      <p:pic>
        <p:nvPicPr>
          <p:cNvPr descr="A black text on a white background&#10;&#10;AI-generated content may be incorrect." id="849" name="Google Shape;849;p69"/>
          <p:cNvPicPr preferRelativeResize="0"/>
          <p:nvPr/>
        </p:nvPicPr>
        <p:blipFill rotWithShape="1">
          <a:blip r:embed="rId3">
            <a:alphaModFix/>
          </a:blip>
          <a:srcRect b="0" l="0" r="0" t="0"/>
          <a:stretch/>
        </p:blipFill>
        <p:spPr>
          <a:xfrm>
            <a:off x="1451579" y="1876563"/>
            <a:ext cx="7772400" cy="1552437"/>
          </a:xfrm>
          <a:prstGeom prst="rect">
            <a:avLst/>
          </a:prstGeom>
          <a:noFill/>
          <a:ln>
            <a:noFill/>
          </a:ln>
        </p:spPr>
      </p:pic>
      <p:pic>
        <p:nvPicPr>
          <p:cNvPr descr="A white background with black text&#10;&#10;AI-generated content may be incorrect." id="850" name="Google Shape;850;p69"/>
          <p:cNvPicPr preferRelativeResize="0"/>
          <p:nvPr/>
        </p:nvPicPr>
        <p:blipFill rotWithShape="1">
          <a:blip r:embed="rId4">
            <a:alphaModFix/>
          </a:blip>
          <a:srcRect b="0" l="0" r="0" t="0"/>
          <a:stretch/>
        </p:blipFill>
        <p:spPr>
          <a:xfrm>
            <a:off x="533400" y="3976180"/>
            <a:ext cx="7772400" cy="2056133"/>
          </a:xfrm>
          <a:prstGeom prst="rect">
            <a:avLst/>
          </a:prstGeom>
          <a:noFill/>
          <a:ln>
            <a:noFill/>
          </a:ln>
        </p:spPr>
      </p:pic>
      <p:pic>
        <p:nvPicPr>
          <p:cNvPr descr="A screenshot of a web page&#10;&#10;AI-generated content may be incorrect." id="851" name="Google Shape;851;p69"/>
          <p:cNvPicPr preferRelativeResize="0"/>
          <p:nvPr/>
        </p:nvPicPr>
        <p:blipFill rotWithShape="1">
          <a:blip r:embed="rId5">
            <a:alphaModFix/>
          </a:blip>
          <a:srcRect b="0" l="0" r="0" t="0"/>
          <a:stretch/>
        </p:blipFill>
        <p:spPr>
          <a:xfrm>
            <a:off x="4419600" y="2773675"/>
            <a:ext cx="7772400" cy="4461144"/>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7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BEAUTIFUL SOUP!!!!</a:t>
            </a:r>
            <a:endParaRPr/>
          </a:p>
        </p:txBody>
      </p:sp>
      <p:pic>
        <p:nvPicPr>
          <p:cNvPr descr="A screenshot of a computer program&#10;&#10;AI-generated content may be incorrect." id="857" name="Google Shape;857;p70"/>
          <p:cNvPicPr preferRelativeResize="0"/>
          <p:nvPr>
            <p:ph idx="1" type="body"/>
          </p:nvPr>
        </p:nvPicPr>
        <p:blipFill rotWithShape="1">
          <a:blip r:embed="rId3">
            <a:alphaModFix/>
          </a:blip>
          <a:srcRect b="0" l="0" r="0" t="0"/>
          <a:stretch/>
        </p:blipFill>
        <p:spPr>
          <a:xfrm>
            <a:off x="3369658" y="2016125"/>
            <a:ext cx="5767009" cy="344963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7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TOKENIZER - PIPELINE</a:t>
            </a:r>
            <a:endParaRPr/>
          </a:p>
        </p:txBody>
      </p:sp>
      <p:pic>
        <p:nvPicPr>
          <p:cNvPr descr="A screenshot of a cell phone&#10;&#10;AI-generated content may be incorrect." id="863" name="Google Shape;863;p71"/>
          <p:cNvPicPr preferRelativeResize="0"/>
          <p:nvPr>
            <p:ph idx="1" type="body"/>
          </p:nvPr>
        </p:nvPicPr>
        <p:blipFill rotWithShape="1">
          <a:blip r:embed="rId3">
            <a:alphaModFix/>
          </a:blip>
          <a:srcRect b="0" l="0" r="0" t="0"/>
          <a:stretch/>
        </p:blipFill>
        <p:spPr>
          <a:xfrm>
            <a:off x="1451579" y="2219325"/>
            <a:ext cx="2192684" cy="3449638"/>
          </a:xfrm>
          <a:prstGeom prst="rect">
            <a:avLst/>
          </a:prstGeom>
          <a:noFill/>
          <a:ln>
            <a:noFill/>
          </a:ln>
        </p:spPr>
      </p:pic>
      <p:pic>
        <p:nvPicPr>
          <p:cNvPr descr="A screenshot of a computer&#10;&#10;AI-generated content may be incorrect." id="864" name="Google Shape;864;p71"/>
          <p:cNvPicPr preferRelativeResize="0"/>
          <p:nvPr/>
        </p:nvPicPr>
        <p:blipFill rotWithShape="1">
          <a:blip r:embed="rId4">
            <a:alphaModFix/>
          </a:blip>
          <a:srcRect b="0" l="0" r="0" t="0"/>
          <a:stretch/>
        </p:blipFill>
        <p:spPr>
          <a:xfrm>
            <a:off x="3644263" y="1189037"/>
            <a:ext cx="7772400" cy="457986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72"/>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CHATBOT APP DEV – PART 2</a:t>
            </a:r>
            <a:endParaRPr/>
          </a:p>
        </p:txBody>
      </p:sp>
      <p:sp>
        <p:nvSpPr>
          <p:cNvPr id="870" name="Google Shape;870;p72"/>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US"/>
              <a:t>USING HUGGING FACE MODELS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7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APPLICATION PIPELINE</a:t>
            </a:r>
            <a:endParaRPr/>
          </a:p>
        </p:txBody>
      </p:sp>
      <p:grpSp>
        <p:nvGrpSpPr>
          <p:cNvPr id="876" name="Google Shape;876;p73"/>
          <p:cNvGrpSpPr/>
          <p:nvPr/>
        </p:nvGrpSpPr>
        <p:grpSpPr>
          <a:xfrm>
            <a:off x="1455751" y="2016125"/>
            <a:ext cx="9594821" cy="3449637"/>
            <a:chOff x="4776" y="0"/>
            <a:chExt cx="9594821" cy="3449637"/>
          </a:xfrm>
        </p:grpSpPr>
        <p:sp>
          <p:nvSpPr>
            <p:cNvPr id="877" name="Google Shape;877;p73"/>
            <p:cNvSpPr/>
            <p:nvPr/>
          </p:nvSpPr>
          <p:spPr>
            <a:xfrm>
              <a:off x="4776" y="0"/>
              <a:ext cx="2250462" cy="2156023"/>
            </a:xfrm>
            <a:prstGeom prst="roundRect">
              <a:avLst>
                <a:gd fmla="val 10000" name="adj"/>
              </a:avLst>
            </a:prstGeom>
            <a:solidFill>
              <a:srgbClr val="BFC8E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73"/>
            <p:cNvSpPr/>
            <p:nvPr/>
          </p:nvSpPr>
          <p:spPr>
            <a:xfrm>
              <a:off x="371131" y="1293614"/>
              <a:ext cx="2250462" cy="2156023"/>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73"/>
            <p:cNvSpPr txBox="1"/>
            <p:nvPr/>
          </p:nvSpPr>
          <p:spPr>
            <a:xfrm>
              <a:off x="434279" y="1356762"/>
              <a:ext cx="2124166" cy="2029727"/>
            </a:xfrm>
            <a:prstGeom prst="rect">
              <a:avLst/>
            </a:prstGeom>
            <a:noFill/>
            <a:ln>
              <a:noFill/>
            </a:ln>
          </p:spPr>
          <p:txBody>
            <a:bodyPr anchorCtr="0" anchor="t" bIns="156200" lIns="156200" spcFirstLastPara="1" rIns="156200" wrap="square" tIns="156200">
              <a:noAutofit/>
            </a:bodyPr>
            <a:lstStyle/>
            <a:p>
              <a:pPr indent="0" lvl="0" marL="0" marR="0" rtl="0" algn="l">
                <a:lnSpc>
                  <a:spcPct val="90000"/>
                </a:lnSpc>
                <a:spcBef>
                  <a:spcPts val="0"/>
                </a:spcBef>
                <a:spcAft>
                  <a:spcPts val="0"/>
                </a:spcAft>
                <a:buClr>
                  <a:schemeClr val="dk1"/>
                </a:buClr>
                <a:buSzPts val="4100"/>
                <a:buFont typeface="Gill Sans"/>
                <a:buNone/>
              </a:pPr>
              <a:r>
                <a:t/>
              </a:r>
              <a:endParaRPr sz="4100">
                <a:solidFill>
                  <a:schemeClr val="lt1"/>
                </a:solidFill>
                <a:latin typeface="Gill Sans"/>
                <a:ea typeface="Gill Sans"/>
                <a:cs typeface="Gill Sans"/>
                <a:sym typeface="Gill Sans"/>
              </a:endParaRPr>
            </a:p>
            <a:p>
              <a:pPr indent="-82550" lvl="1" marL="285750" marR="0" rtl="0" algn="l">
                <a:lnSpc>
                  <a:spcPct val="90000"/>
                </a:lnSpc>
                <a:spcBef>
                  <a:spcPts val="1435"/>
                </a:spcBef>
                <a:spcAft>
                  <a:spcPts val="0"/>
                </a:spcAft>
                <a:buClr>
                  <a:schemeClr val="dk1"/>
                </a:buClr>
                <a:buSzPts val="3200"/>
                <a:buFont typeface="Gill Sans"/>
                <a:buNone/>
              </a:pPr>
              <a:r>
                <a:t/>
              </a:r>
              <a:endParaRPr b="0" i="0" sz="3200" u="none" cap="none" strike="noStrike">
                <a:solidFill>
                  <a:schemeClr val="lt1"/>
                </a:solidFill>
                <a:latin typeface="Gill Sans"/>
                <a:ea typeface="Gill Sans"/>
                <a:cs typeface="Gill Sans"/>
                <a:sym typeface="Gill Sans"/>
              </a:endParaRPr>
            </a:p>
            <a:p>
              <a:pPr indent="-82550" lvl="1" marL="285750" marR="0" rtl="0" algn="l">
                <a:lnSpc>
                  <a:spcPct val="90000"/>
                </a:lnSpc>
                <a:spcBef>
                  <a:spcPts val="480"/>
                </a:spcBef>
                <a:spcAft>
                  <a:spcPts val="0"/>
                </a:spcAft>
                <a:buClr>
                  <a:schemeClr val="dk1"/>
                </a:buClr>
                <a:buSzPts val="3200"/>
                <a:buFont typeface="Gill Sans"/>
                <a:buNone/>
              </a:pPr>
              <a:r>
                <a:t/>
              </a:r>
              <a:endParaRPr b="0" i="0" sz="3200" u="none" cap="none" strike="noStrike">
                <a:solidFill>
                  <a:schemeClr val="lt1"/>
                </a:solidFill>
                <a:latin typeface="Gill Sans"/>
                <a:ea typeface="Gill Sans"/>
                <a:cs typeface="Gill Sans"/>
                <a:sym typeface="Gill Sans"/>
              </a:endParaRPr>
            </a:p>
          </p:txBody>
        </p:sp>
        <p:sp>
          <p:nvSpPr>
            <p:cNvPr id="880" name="Google Shape;880;p73"/>
            <p:cNvSpPr/>
            <p:nvPr/>
          </p:nvSpPr>
          <p:spPr>
            <a:xfrm>
              <a:off x="2688728" y="807634"/>
              <a:ext cx="433488" cy="540754"/>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73"/>
            <p:cNvSpPr txBox="1"/>
            <p:nvPr/>
          </p:nvSpPr>
          <p:spPr>
            <a:xfrm>
              <a:off x="2688728" y="915785"/>
              <a:ext cx="303442" cy="32445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400"/>
                <a:buFont typeface="Gill Sans"/>
                <a:buNone/>
              </a:pPr>
              <a:r>
                <a:t/>
              </a:r>
              <a:endParaRPr sz="2400">
                <a:solidFill>
                  <a:schemeClr val="lt1"/>
                </a:solidFill>
                <a:latin typeface="Gill Sans"/>
                <a:ea typeface="Gill Sans"/>
                <a:cs typeface="Gill Sans"/>
                <a:sym typeface="Gill Sans"/>
              </a:endParaRPr>
            </a:p>
          </p:txBody>
        </p:sp>
        <p:sp>
          <p:nvSpPr>
            <p:cNvPr id="882" name="Google Shape;882;p73"/>
            <p:cNvSpPr/>
            <p:nvPr/>
          </p:nvSpPr>
          <p:spPr>
            <a:xfrm>
              <a:off x="3493778" y="0"/>
              <a:ext cx="2250462" cy="2156023"/>
            </a:xfrm>
            <a:prstGeom prst="roundRect">
              <a:avLst>
                <a:gd fmla="val 10000" name="adj"/>
              </a:avLst>
            </a:prstGeom>
            <a:solidFill>
              <a:srgbClr val="BFC8E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73"/>
            <p:cNvSpPr/>
            <p:nvPr/>
          </p:nvSpPr>
          <p:spPr>
            <a:xfrm>
              <a:off x="3860133" y="1293614"/>
              <a:ext cx="2250462" cy="2156023"/>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73"/>
            <p:cNvSpPr txBox="1"/>
            <p:nvPr/>
          </p:nvSpPr>
          <p:spPr>
            <a:xfrm>
              <a:off x="3923281" y="1356762"/>
              <a:ext cx="2124166" cy="2029727"/>
            </a:xfrm>
            <a:prstGeom prst="rect">
              <a:avLst/>
            </a:prstGeom>
            <a:noFill/>
            <a:ln>
              <a:noFill/>
            </a:ln>
          </p:spPr>
          <p:txBody>
            <a:bodyPr anchorCtr="0" anchor="t" bIns="156200" lIns="156200" spcFirstLastPara="1" rIns="156200" wrap="square" tIns="156200">
              <a:noAutofit/>
            </a:bodyPr>
            <a:lstStyle/>
            <a:p>
              <a:pPr indent="0" lvl="0" marL="0" marR="0" rtl="0" algn="l">
                <a:lnSpc>
                  <a:spcPct val="90000"/>
                </a:lnSpc>
                <a:spcBef>
                  <a:spcPts val="0"/>
                </a:spcBef>
                <a:spcAft>
                  <a:spcPts val="0"/>
                </a:spcAft>
                <a:buClr>
                  <a:schemeClr val="dk1"/>
                </a:buClr>
                <a:buSzPts val="4100"/>
                <a:buFont typeface="Gill Sans"/>
                <a:buNone/>
              </a:pPr>
              <a:r>
                <a:t/>
              </a:r>
              <a:endParaRPr sz="4100">
                <a:solidFill>
                  <a:schemeClr val="lt1"/>
                </a:solidFill>
                <a:latin typeface="Gill Sans"/>
                <a:ea typeface="Gill Sans"/>
                <a:cs typeface="Gill Sans"/>
                <a:sym typeface="Gill Sans"/>
              </a:endParaRPr>
            </a:p>
            <a:p>
              <a:pPr indent="-82550" lvl="1" marL="285750" marR="0" rtl="0" algn="l">
                <a:lnSpc>
                  <a:spcPct val="90000"/>
                </a:lnSpc>
                <a:spcBef>
                  <a:spcPts val="1435"/>
                </a:spcBef>
                <a:spcAft>
                  <a:spcPts val="0"/>
                </a:spcAft>
                <a:buClr>
                  <a:schemeClr val="dk1"/>
                </a:buClr>
                <a:buSzPts val="3200"/>
                <a:buFont typeface="Gill Sans"/>
                <a:buNone/>
              </a:pPr>
              <a:r>
                <a:t/>
              </a:r>
              <a:endParaRPr b="0" i="0" sz="3200" u="none" cap="none" strike="noStrike">
                <a:solidFill>
                  <a:schemeClr val="lt1"/>
                </a:solidFill>
                <a:latin typeface="Gill Sans"/>
                <a:ea typeface="Gill Sans"/>
                <a:cs typeface="Gill Sans"/>
                <a:sym typeface="Gill Sans"/>
              </a:endParaRPr>
            </a:p>
            <a:p>
              <a:pPr indent="-82550" lvl="1" marL="285750" marR="0" rtl="0" algn="l">
                <a:lnSpc>
                  <a:spcPct val="90000"/>
                </a:lnSpc>
                <a:spcBef>
                  <a:spcPts val="480"/>
                </a:spcBef>
                <a:spcAft>
                  <a:spcPts val="0"/>
                </a:spcAft>
                <a:buClr>
                  <a:schemeClr val="dk1"/>
                </a:buClr>
                <a:buSzPts val="3200"/>
                <a:buFont typeface="Gill Sans"/>
                <a:buNone/>
              </a:pPr>
              <a:r>
                <a:t/>
              </a:r>
              <a:endParaRPr b="0" i="0" sz="3200" u="none" cap="none" strike="noStrike">
                <a:solidFill>
                  <a:schemeClr val="lt1"/>
                </a:solidFill>
                <a:latin typeface="Gill Sans"/>
                <a:ea typeface="Gill Sans"/>
                <a:cs typeface="Gill Sans"/>
                <a:sym typeface="Gill Sans"/>
              </a:endParaRPr>
            </a:p>
          </p:txBody>
        </p:sp>
        <p:sp>
          <p:nvSpPr>
            <p:cNvPr id="885" name="Google Shape;885;p73"/>
            <p:cNvSpPr/>
            <p:nvPr/>
          </p:nvSpPr>
          <p:spPr>
            <a:xfrm>
              <a:off x="6177730" y="807634"/>
              <a:ext cx="433488" cy="540754"/>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73"/>
            <p:cNvSpPr txBox="1"/>
            <p:nvPr/>
          </p:nvSpPr>
          <p:spPr>
            <a:xfrm>
              <a:off x="6177730" y="915785"/>
              <a:ext cx="303442" cy="32445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400"/>
                <a:buFont typeface="Gill Sans"/>
                <a:buNone/>
              </a:pPr>
              <a:r>
                <a:t/>
              </a:r>
              <a:endParaRPr sz="2400">
                <a:solidFill>
                  <a:schemeClr val="lt1"/>
                </a:solidFill>
                <a:latin typeface="Gill Sans"/>
                <a:ea typeface="Gill Sans"/>
                <a:cs typeface="Gill Sans"/>
                <a:sym typeface="Gill Sans"/>
              </a:endParaRPr>
            </a:p>
          </p:txBody>
        </p:sp>
        <p:sp>
          <p:nvSpPr>
            <p:cNvPr id="887" name="Google Shape;887;p73"/>
            <p:cNvSpPr/>
            <p:nvPr/>
          </p:nvSpPr>
          <p:spPr>
            <a:xfrm>
              <a:off x="6982781" y="0"/>
              <a:ext cx="2250462" cy="2156023"/>
            </a:xfrm>
            <a:prstGeom prst="roundRect">
              <a:avLst>
                <a:gd fmla="val 10000" name="adj"/>
              </a:avLst>
            </a:prstGeom>
            <a:solidFill>
              <a:srgbClr val="BFC8E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73"/>
            <p:cNvSpPr/>
            <p:nvPr/>
          </p:nvSpPr>
          <p:spPr>
            <a:xfrm>
              <a:off x="7349135" y="1293614"/>
              <a:ext cx="2250462" cy="2156023"/>
            </a:xfrm>
            <a:prstGeom prst="roundRect">
              <a:avLst>
                <a:gd fmla="val 1000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73"/>
            <p:cNvSpPr txBox="1"/>
            <p:nvPr/>
          </p:nvSpPr>
          <p:spPr>
            <a:xfrm>
              <a:off x="7412283" y="1356762"/>
              <a:ext cx="2124166" cy="2029727"/>
            </a:xfrm>
            <a:prstGeom prst="rect">
              <a:avLst/>
            </a:prstGeom>
            <a:noFill/>
            <a:ln>
              <a:noFill/>
            </a:ln>
          </p:spPr>
          <p:txBody>
            <a:bodyPr anchorCtr="0" anchor="t" bIns="156200" lIns="156200" spcFirstLastPara="1" rIns="156200" wrap="square" tIns="156200">
              <a:noAutofit/>
            </a:bodyPr>
            <a:lstStyle/>
            <a:p>
              <a:pPr indent="0" lvl="0" marL="0" marR="0" rtl="0" algn="l">
                <a:lnSpc>
                  <a:spcPct val="90000"/>
                </a:lnSpc>
                <a:spcBef>
                  <a:spcPts val="0"/>
                </a:spcBef>
                <a:spcAft>
                  <a:spcPts val="0"/>
                </a:spcAft>
                <a:buClr>
                  <a:schemeClr val="dk1"/>
                </a:buClr>
                <a:buSzPts val="4100"/>
                <a:buFont typeface="Gill Sans"/>
                <a:buNone/>
              </a:pPr>
              <a:r>
                <a:t/>
              </a:r>
              <a:endParaRPr sz="4100">
                <a:solidFill>
                  <a:schemeClr val="lt1"/>
                </a:solidFill>
                <a:latin typeface="Gill Sans"/>
                <a:ea typeface="Gill Sans"/>
                <a:cs typeface="Gill Sans"/>
                <a:sym typeface="Gill Sans"/>
              </a:endParaRPr>
            </a:p>
            <a:p>
              <a:pPr indent="-82550" lvl="1" marL="285750" marR="0" rtl="0" algn="l">
                <a:lnSpc>
                  <a:spcPct val="90000"/>
                </a:lnSpc>
                <a:spcBef>
                  <a:spcPts val="1435"/>
                </a:spcBef>
                <a:spcAft>
                  <a:spcPts val="0"/>
                </a:spcAft>
                <a:buClr>
                  <a:schemeClr val="dk1"/>
                </a:buClr>
                <a:buSzPts val="3200"/>
                <a:buFont typeface="Gill Sans"/>
                <a:buNone/>
              </a:pPr>
              <a:r>
                <a:t/>
              </a:r>
              <a:endParaRPr b="0" i="0" sz="3200" u="none" cap="none" strike="noStrike">
                <a:solidFill>
                  <a:schemeClr val="lt1"/>
                </a:solidFill>
                <a:latin typeface="Gill Sans"/>
                <a:ea typeface="Gill Sans"/>
                <a:cs typeface="Gill Sans"/>
                <a:sym typeface="Gill Sans"/>
              </a:endParaRPr>
            </a:p>
            <a:p>
              <a:pPr indent="-82550" lvl="1" marL="285750" marR="0" rtl="0" algn="l">
                <a:lnSpc>
                  <a:spcPct val="90000"/>
                </a:lnSpc>
                <a:spcBef>
                  <a:spcPts val="480"/>
                </a:spcBef>
                <a:spcAft>
                  <a:spcPts val="0"/>
                </a:spcAft>
                <a:buClr>
                  <a:schemeClr val="dk1"/>
                </a:buClr>
                <a:buSzPts val="3200"/>
                <a:buFont typeface="Gill Sans"/>
                <a:buNone/>
              </a:pPr>
              <a:r>
                <a:t/>
              </a:r>
              <a:endParaRPr b="0" i="0" sz="3200" u="none" cap="none" strike="noStrike">
                <a:solidFill>
                  <a:schemeClr val="lt1"/>
                </a:solidFill>
                <a:latin typeface="Gill Sans"/>
                <a:ea typeface="Gill Sans"/>
                <a:cs typeface="Gill Sans"/>
                <a:sym typeface="Gill Sans"/>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7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TOKENIZER - PIPELINE</a:t>
            </a:r>
            <a:endParaRPr/>
          </a:p>
        </p:txBody>
      </p:sp>
      <p:pic>
        <p:nvPicPr>
          <p:cNvPr descr="A screenshot of a computer&#10;&#10;AI-generated content may be incorrect." id="895" name="Google Shape;895;p74"/>
          <p:cNvPicPr preferRelativeResize="0"/>
          <p:nvPr>
            <p:ph idx="1" type="body"/>
          </p:nvPr>
        </p:nvPicPr>
        <p:blipFill rotWithShape="1">
          <a:blip r:embed="rId3">
            <a:alphaModFix/>
          </a:blip>
          <a:srcRect b="0" l="0" r="0" t="0"/>
          <a:stretch/>
        </p:blipFill>
        <p:spPr>
          <a:xfrm>
            <a:off x="4224105" y="2016125"/>
            <a:ext cx="4058115" cy="3449638"/>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7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TOKENIZER - PIPELINE</a:t>
            </a:r>
            <a:endParaRPr/>
          </a:p>
        </p:txBody>
      </p:sp>
      <p:pic>
        <p:nvPicPr>
          <p:cNvPr descr="A screenshot of a cell phone&#10;&#10;AI-generated content may be incorrect." id="901" name="Google Shape;901;p75"/>
          <p:cNvPicPr preferRelativeResize="0"/>
          <p:nvPr>
            <p:ph idx="1" type="body"/>
          </p:nvPr>
        </p:nvPicPr>
        <p:blipFill rotWithShape="1">
          <a:blip r:embed="rId3">
            <a:alphaModFix/>
          </a:blip>
          <a:srcRect b="0" l="0" r="0" t="0"/>
          <a:stretch/>
        </p:blipFill>
        <p:spPr>
          <a:xfrm>
            <a:off x="5156820" y="2016125"/>
            <a:ext cx="2192684" cy="3449638"/>
          </a:xfrm>
          <a:prstGeom prst="rect">
            <a:avLst/>
          </a:prstGeom>
          <a:noFill/>
          <a:ln>
            <a:noFill/>
          </a:ln>
        </p:spPr>
      </p:pic>
      <p:pic>
        <p:nvPicPr>
          <p:cNvPr descr="A screenshot of a document&#10;&#10;AI-generated content may be incorrect." id="902" name="Google Shape;902;p75"/>
          <p:cNvPicPr preferRelativeResize="0"/>
          <p:nvPr/>
        </p:nvPicPr>
        <p:blipFill rotWithShape="1">
          <a:blip r:embed="rId4">
            <a:alphaModFix/>
          </a:blip>
          <a:srcRect b="0" l="0" r="0" t="0"/>
          <a:stretch/>
        </p:blipFill>
        <p:spPr>
          <a:xfrm>
            <a:off x="4419600" y="-128157"/>
            <a:ext cx="7772400" cy="675279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7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MODEL SELECTION</a:t>
            </a:r>
            <a:endParaRPr/>
          </a:p>
        </p:txBody>
      </p:sp>
      <p:sp>
        <p:nvSpPr>
          <p:cNvPr id="908" name="Google Shape;908;p76"/>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u="sng">
                <a:solidFill>
                  <a:schemeClr val="hlink"/>
                </a:solidFill>
                <a:hlinkClick r:id="rId3"/>
              </a:rPr>
              <a:t>https://huggingface.co/models?pipeline_tag=question-answering&amp;sort=downloads</a:t>
            </a:r>
            <a:endParaRPr/>
          </a:p>
          <a:p>
            <a:pPr indent="-228600" lvl="0" marL="228600" rtl="0" algn="l">
              <a:lnSpc>
                <a:spcPct val="120000"/>
              </a:lnSpc>
              <a:spcBef>
                <a:spcPts val="1000"/>
              </a:spcBef>
              <a:spcAft>
                <a:spcPts val="0"/>
              </a:spcAft>
              <a:buSzPts val="2000"/>
              <a:buChar char="•"/>
            </a:pPr>
            <a:r>
              <a:rPr lang="en-US"/>
              <a:t>Question Answering</a:t>
            </a:r>
            <a:endParaRPr/>
          </a:p>
          <a:p>
            <a:pPr indent="-228600" lvl="0" marL="228600" rtl="0" algn="l">
              <a:lnSpc>
                <a:spcPct val="120000"/>
              </a:lnSpc>
              <a:spcBef>
                <a:spcPts val="1000"/>
              </a:spcBef>
              <a:spcAft>
                <a:spcPts val="0"/>
              </a:spcAft>
              <a:buSzPts val="2000"/>
              <a:buChar char="•"/>
            </a:pPr>
            <a:r>
              <a:rPr lang="en-US"/>
              <a:t>Text2text</a:t>
            </a:r>
            <a:endParaRPr/>
          </a:p>
          <a:p>
            <a:pPr indent="-101600" lvl="0" marL="228600" rtl="0" algn="l">
              <a:lnSpc>
                <a:spcPct val="120000"/>
              </a:lnSpc>
              <a:spcBef>
                <a:spcPts val="1000"/>
              </a:spcBef>
              <a:spcAft>
                <a:spcPts val="0"/>
              </a:spcAft>
              <a:buSzPts val="2000"/>
              <a:buNone/>
            </a:pPr>
            <a:r>
              <a:t/>
            </a:r>
            <a:endParaRPr/>
          </a:p>
        </p:txBody>
      </p:sp>
      <p:pic>
        <p:nvPicPr>
          <p:cNvPr descr="A screenshot of a computer&#10;&#10;AI-generated content may be incorrect." id="909" name="Google Shape;909;p76"/>
          <p:cNvPicPr preferRelativeResize="0"/>
          <p:nvPr/>
        </p:nvPicPr>
        <p:blipFill rotWithShape="1">
          <a:blip r:embed="rId4">
            <a:alphaModFix/>
          </a:blip>
          <a:srcRect b="0" l="0" r="0" t="0"/>
          <a:stretch/>
        </p:blipFill>
        <p:spPr>
          <a:xfrm>
            <a:off x="5791200" y="0"/>
            <a:ext cx="6400800" cy="6400800"/>
          </a:xfrm>
          <a:prstGeom prst="rect">
            <a:avLst/>
          </a:prstGeom>
          <a:noFill/>
          <a:ln>
            <a:noFill/>
          </a:ln>
        </p:spPr>
      </p:pic>
      <p:sp>
        <p:nvSpPr>
          <p:cNvPr id="910" name="Google Shape;910;p76"/>
          <p:cNvSpPr txBox="1"/>
          <p:nvPr/>
        </p:nvSpPr>
        <p:spPr>
          <a:xfrm>
            <a:off x="948267" y="5317067"/>
            <a:ext cx="51842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https://huggingface.co/sjrhuschlee/flan-t5-large-squad2</a:t>
            </a:r>
            <a:endParaRPr/>
          </a:p>
        </p:txBody>
      </p:sp>
      <p:sp>
        <p:nvSpPr>
          <p:cNvPr id="911" name="Google Shape;911;p76"/>
          <p:cNvSpPr txBox="1"/>
          <p:nvPr/>
        </p:nvSpPr>
        <p:spPr>
          <a:xfrm>
            <a:off x="541867" y="5994400"/>
            <a:ext cx="36716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https://huggingface.co/microsoft/phi-4</a:t>
            </a:r>
            <a:endParaRPr/>
          </a:p>
        </p:txBody>
      </p:sp>
      <p:sp>
        <p:nvSpPr>
          <p:cNvPr id="912" name="Google Shape;912;p76"/>
          <p:cNvSpPr txBox="1"/>
          <p:nvPr/>
        </p:nvSpPr>
        <p:spPr>
          <a:xfrm>
            <a:off x="270933" y="4707467"/>
            <a:ext cx="110532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https://discuss.huggingface.co/t/trying-to-understand-system-prompts-with-llama-2-and-transformers-interface/59016</a:t>
            </a:r>
            <a:endParaRPr/>
          </a:p>
        </p:txBody>
      </p:sp>
      <p:sp>
        <p:nvSpPr>
          <p:cNvPr id="913" name="Google Shape;913;p76"/>
          <p:cNvSpPr txBox="1"/>
          <p:nvPr/>
        </p:nvSpPr>
        <p:spPr>
          <a:xfrm>
            <a:off x="101600" y="3928533"/>
            <a:ext cx="54519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https://huggingface.co/meta-llama/Llama-3.3-70B-Instruct</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7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GRADIO</a:t>
            </a:r>
            <a:endParaRPr/>
          </a:p>
        </p:txBody>
      </p:sp>
      <p:sp>
        <p:nvSpPr>
          <p:cNvPr id="919" name="Google Shape;919;p77"/>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b="1" i="0" lang="en-US">
                <a:latin typeface="IBM Plex Sans"/>
                <a:ea typeface="IBM Plex Sans"/>
                <a:cs typeface="IBM Plex Sans"/>
                <a:sym typeface="IBM Plex Sans"/>
              </a:rPr>
              <a:t>Quickstart</a:t>
            </a:r>
            <a:endParaRPr b="1" i="0">
              <a:latin typeface="IBM Plex Sans"/>
              <a:ea typeface="IBM Plex Sans"/>
              <a:cs typeface="IBM Plex Sans"/>
              <a:sym typeface="IBM Plex Sans"/>
            </a:endParaRPr>
          </a:p>
          <a:p>
            <a:pPr indent="-228600" lvl="0" marL="228600" rtl="0" algn="l">
              <a:lnSpc>
                <a:spcPct val="120000"/>
              </a:lnSpc>
              <a:spcBef>
                <a:spcPts val="1000"/>
              </a:spcBef>
              <a:spcAft>
                <a:spcPts val="0"/>
              </a:spcAft>
              <a:buSzPts val="2000"/>
              <a:buChar char="•"/>
            </a:pPr>
            <a:r>
              <a:rPr b="0" i="0" lang="en-US">
                <a:solidFill>
                  <a:srgbClr val="374151"/>
                </a:solidFill>
                <a:latin typeface="IBM Plex Sans"/>
                <a:ea typeface="IBM Plex Sans"/>
                <a:cs typeface="IBM Plex Sans"/>
                <a:sym typeface="IBM Plex Sans"/>
              </a:rPr>
              <a:t>Gradio is an open-source Python package that allows you to quickly </a:t>
            </a:r>
            <a:r>
              <a:rPr b="1" i="0" lang="en-US">
                <a:solidFill>
                  <a:srgbClr val="374151"/>
                </a:solidFill>
                <a:latin typeface="IBM Plex Sans"/>
                <a:ea typeface="IBM Plex Sans"/>
                <a:cs typeface="IBM Plex Sans"/>
                <a:sym typeface="IBM Plex Sans"/>
              </a:rPr>
              <a:t>build</a:t>
            </a:r>
            <a:r>
              <a:rPr b="0" i="0" lang="en-US">
                <a:solidFill>
                  <a:srgbClr val="374151"/>
                </a:solidFill>
                <a:latin typeface="IBM Plex Sans"/>
                <a:ea typeface="IBM Plex Sans"/>
                <a:cs typeface="IBM Plex Sans"/>
                <a:sym typeface="IBM Plex Sans"/>
              </a:rPr>
              <a:t> a demo or web application for your machine learning model, API, or any arbitrary Python function. You can then </a:t>
            </a:r>
            <a:r>
              <a:rPr b="1" i="0" lang="en-US">
                <a:solidFill>
                  <a:srgbClr val="374151"/>
                </a:solidFill>
                <a:latin typeface="IBM Plex Sans"/>
                <a:ea typeface="IBM Plex Sans"/>
                <a:cs typeface="IBM Plex Sans"/>
                <a:sym typeface="IBM Plex Sans"/>
              </a:rPr>
              <a:t>share</a:t>
            </a:r>
            <a:r>
              <a:rPr b="0" i="0" lang="en-US">
                <a:solidFill>
                  <a:srgbClr val="374151"/>
                </a:solidFill>
                <a:latin typeface="IBM Plex Sans"/>
                <a:ea typeface="IBM Plex Sans"/>
                <a:cs typeface="IBM Plex Sans"/>
                <a:sym typeface="IBM Plex Sans"/>
              </a:rPr>
              <a:t> a link to your demo or web application in just a few seconds using Gradio's built-in sharing features. </a:t>
            </a:r>
            <a:r>
              <a:rPr b="0" i="1" lang="en-US">
                <a:solidFill>
                  <a:srgbClr val="374151"/>
                </a:solidFill>
                <a:latin typeface="IBM Plex Sans"/>
                <a:ea typeface="IBM Plex Sans"/>
                <a:cs typeface="IBM Plex Sans"/>
                <a:sym typeface="IBM Plex Sans"/>
              </a:rPr>
              <a:t>No JavaScript, CSS, or web hosting experience needed!</a:t>
            </a:r>
            <a:endParaRPr b="0" i="0">
              <a:solidFill>
                <a:srgbClr val="374151"/>
              </a:solidFill>
              <a:latin typeface="IBM Plex Sans"/>
              <a:ea typeface="IBM Plex Sans"/>
              <a:cs typeface="IBM Plex Sans"/>
              <a:sym typeface="IBM Plex Sans"/>
            </a:endParaRPr>
          </a:p>
          <a:p>
            <a:pPr indent="-101600" lvl="0" marL="228600" rtl="0" algn="l">
              <a:lnSpc>
                <a:spcPct val="120000"/>
              </a:lnSpc>
              <a:spcBef>
                <a:spcPts val="1000"/>
              </a:spcBef>
              <a:spcAft>
                <a:spcPts val="0"/>
              </a:spcAft>
              <a:buSzPts val="2000"/>
              <a:buNone/>
            </a:pPr>
            <a:r>
              <a:t/>
            </a:r>
            <a:endParaRPr/>
          </a:p>
        </p:txBody>
      </p:sp>
      <p:sp>
        <p:nvSpPr>
          <p:cNvPr id="920" name="Google Shape;920;p77"/>
          <p:cNvSpPr txBox="1"/>
          <p:nvPr/>
        </p:nvSpPr>
        <p:spPr>
          <a:xfrm>
            <a:off x="1930400" y="5858933"/>
            <a:ext cx="39654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https://www.gradio.app/guides/quickstart</a:t>
            </a:r>
            <a:endParaRPr sz="1800">
              <a:solidFill>
                <a:schemeClr val="dk1"/>
              </a:solidFill>
              <a:latin typeface="Gill Sans"/>
              <a:ea typeface="Gill Sans"/>
              <a:cs typeface="Gill Sans"/>
              <a:sym typeface="Gill Sans"/>
            </a:endParaRPr>
          </a:p>
        </p:txBody>
      </p:sp>
      <p:sp>
        <p:nvSpPr>
          <p:cNvPr id="921" name="Google Shape;921;p77"/>
          <p:cNvSpPr txBox="1"/>
          <p:nvPr/>
        </p:nvSpPr>
        <p:spPr>
          <a:xfrm>
            <a:off x="508000" y="5689600"/>
            <a:ext cx="51280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https://www.gradio.app/guides/creating-a-chatbot-fast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78"/>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AI CHATBOT CLASS INTRO</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7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AGENDA</a:t>
            </a:r>
            <a:endParaRPr/>
          </a:p>
        </p:txBody>
      </p:sp>
      <p:sp>
        <p:nvSpPr>
          <p:cNvPr id="932" name="Google Shape;932;p79"/>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120000"/>
              </a:lnSpc>
              <a:spcBef>
                <a:spcPts val="0"/>
              </a:spcBef>
              <a:spcAft>
                <a:spcPts val="0"/>
              </a:spcAft>
              <a:buSzPct val="100000"/>
              <a:buChar char="•"/>
            </a:pPr>
            <a:r>
              <a:rPr lang="en-US"/>
              <a:t>Introduce yourself</a:t>
            </a:r>
            <a:endParaRPr/>
          </a:p>
          <a:p>
            <a:pPr indent="-228600" lvl="1" marL="685800" rtl="0" algn="l">
              <a:lnSpc>
                <a:spcPct val="120000"/>
              </a:lnSpc>
              <a:spcBef>
                <a:spcPts val="500"/>
              </a:spcBef>
              <a:spcAft>
                <a:spcPts val="0"/>
              </a:spcAft>
              <a:buSzPct val="100000"/>
              <a:buChar char="•"/>
            </a:pPr>
            <a:r>
              <a:rPr lang="en-US"/>
              <a:t>Explain what you wish to achieve from the course</a:t>
            </a:r>
            <a:endParaRPr/>
          </a:p>
          <a:p>
            <a:pPr indent="-228600" lvl="1" marL="685800" rtl="0" algn="l">
              <a:lnSpc>
                <a:spcPct val="120000"/>
              </a:lnSpc>
              <a:spcBef>
                <a:spcPts val="500"/>
              </a:spcBef>
              <a:spcAft>
                <a:spcPts val="0"/>
              </a:spcAft>
              <a:buSzPct val="100000"/>
              <a:buChar char="•"/>
            </a:pPr>
            <a:r>
              <a:rPr lang="en-US"/>
              <a:t>Explain your level of familiarity with AI</a:t>
            </a:r>
            <a:endParaRPr/>
          </a:p>
          <a:p>
            <a:pPr indent="-228600" lvl="1" marL="685800" rtl="0" algn="l">
              <a:lnSpc>
                <a:spcPct val="120000"/>
              </a:lnSpc>
              <a:spcBef>
                <a:spcPts val="500"/>
              </a:spcBef>
              <a:spcAft>
                <a:spcPts val="0"/>
              </a:spcAft>
              <a:buSzPct val="100000"/>
              <a:buChar char="•"/>
            </a:pPr>
            <a:r>
              <a:rPr lang="en-US"/>
              <a:t>How comfortable are you with Python</a:t>
            </a:r>
            <a:endParaRPr/>
          </a:p>
          <a:p>
            <a:pPr indent="-228600" lvl="0" marL="228600" rtl="0" algn="l">
              <a:lnSpc>
                <a:spcPct val="120000"/>
              </a:lnSpc>
              <a:spcBef>
                <a:spcPts val="1000"/>
              </a:spcBef>
              <a:spcAft>
                <a:spcPts val="0"/>
              </a:spcAft>
              <a:buSzPct val="100000"/>
              <a:buChar char="•"/>
            </a:pPr>
            <a:r>
              <a:rPr lang="en-US"/>
              <a:t>Modern AI Basics</a:t>
            </a:r>
            <a:endParaRPr/>
          </a:p>
          <a:p>
            <a:pPr indent="-228600" lvl="1" marL="685800" rtl="0" algn="l">
              <a:lnSpc>
                <a:spcPct val="120000"/>
              </a:lnSpc>
              <a:spcBef>
                <a:spcPts val="500"/>
              </a:spcBef>
              <a:spcAft>
                <a:spcPts val="0"/>
              </a:spcAft>
              <a:buSzPct val="100000"/>
              <a:buChar char="•"/>
            </a:pPr>
            <a:r>
              <a:rPr lang="en-US"/>
              <a:t>HuggingFace Playground</a:t>
            </a:r>
            <a:endParaRPr/>
          </a:p>
          <a:p>
            <a:pPr indent="-228600" lvl="1" marL="685800" rtl="0" algn="l">
              <a:lnSpc>
                <a:spcPct val="120000"/>
              </a:lnSpc>
              <a:spcBef>
                <a:spcPts val="500"/>
              </a:spcBef>
              <a:spcAft>
                <a:spcPts val="0"/>
              </a:spcAft>
              <a:buSzPct val="100000"/>
              <a:buChar char="•"/>
            </a:pPr>
            <a:r>
              <a:rPr lang="en-US"/>
              <a:t>Model – types, data, results, control parameters</a:t>
            </a:r>
            <a:endParaRPr/>
          </a:p>
          <a:p>
            <a:pPr indent="-228600" lvl="0" marL="228600" rtl="0" algn="l">
              <a:lnSpc>
                <a:spcPct val="120000"/>
              </a:lnSpc>
              <a:spcBef>
                <a:spcPts val="1000"/>
              </a:spcBef>
              <a:spcAft>
                <a:spcPts val="0"/>
              </a:spcAft>
              <a:buSzPct val="100000"/>
              <a:buChar char="•"/>
            </a:pPr>
            <a:r>
              <a:rPr lang="en-US"/>
              <a:t>Building a simple bot</a:t>
            </a:r>
            <a:endParaRPr/>
          </a:p>
          <a:p>
            <a:pPr indent="-228600" lvl="1" marL="685800" rtl="0" algn="l">
              <a:lnSpc>
                <a:spcPct val="120000"/>
              </a:lnSpc>
              <a:spcBef>
                <a:spcPts val="500"/>
              </a:spcBef>
              <a:spcAft>
                <a:spcPts val="0"/>
              </a:spcAft>
              <a:buSzPct val="100000"/>
              <a:buChar char="•"/>
            </a:pPr>
            <a:r>
              <a:rPr lang="en-US"/>
              <a:t>GPT2 Model</a:t>
            </a:r>
            <a:endParaRPr/>
          </a:p>
          <a:p>
            <a:pPr indent="-228600" lvl="1" marL="685800" rtl="0" algn="l">
              <a:lnSpc>
                <a:spcPct val="120000"/>
              </a:lnSpc>
              <a:spcBef>
                <a:spcPts val="500"/>
              </a:spcBef>
              <a:spcAft>
                <a:spcPts val="0"/>
              </a:spcAft>
              <a:buSzPct val="100000"/>
              <a:buChar char="•"/>
            </a:pPr>
            <a:r>
              <a:rPr lang="en-US"/>
              <a:t>Under 10 lines of code</a:t>
            </a:r>
            <a:endParaRPr/>
          </a:p>
          <a:p>
            <a:pPr indent="-228600" lvl="1" marL="685800" rtl="0" algn="l">
              <a:lnSpc>
                <a:spcPct val="120000"/>
              </a:lnSpc>
              <a:spcBef>
                <a:spcPts val="500"/>
              </a:spcBef>
              <a:spcAft>
                <a:spcPts val="0"/>
              </a:spcAft>
              <a:buSzPct val="100000"/>
              <a:buChar char="•"/>
            </a:pPr>
            <a:r>
              <a:rPr lang="en-US"/>
              <a:t>Publish on HuggingFace Spaces</a:t>
            </a:r>
            <a:endParaRPr/>
          </a:p>
          <a:p>
            <a:pPr indent="-228600" lvl="0" marL="228600" rtl="0" algn="l">
              <a:lnSpc>
                <a:spcPct val="120000"/>
              </a:lnSpc>
              <a:spcBef>
                <a:spcPts val="1000"/>
              </a:spcBef>
              <a:spcAft>
                <a:spcPts val="0"/>
              </a:spcAft>
              <a:buSzPct val="100000"/>
              <a:buChar char="•"/>
            </a:pPr>
            <a:r>
              <a:rPr lang="en-US"/>
              <a:t>Boot camp details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5F5"/>
            </a:gs>
            <a:gs pos="100000">
              <a:srgbClr val="D0CFCF"/>
            </a:gs>
          </a:gsLst>
          <a:path path="circle">
            <a:fillToRect b="50%" l="50%" r="50%" t="50%"/>
          </a:path>
          <a:tileRect/>
        </a:gradFill>
      </p:bgPr>
    </p:bg>
    <p:spTree>
      <p:nvGrpSpPr>
        <p:cNvPr id="936" name="Shape 936"/>
        <p:cNvGrpSpPr/>
        <p:nvPr/>
      </p:nvGrpSpPr>
      <p:grpSpPr>
        <a:xfrm>
          <a:off x="0" y="0"/>
          <a:ext cx="0" cy="0"/>
          <a:chOff x="0" y="0"/>
          <a:chExt cx="0" cy="0"/>
        </a:xfrm>
      </p:grpSpPr>
      <p:sp>
        <p:nvSpPr>
          <p:cNvPr id="937" name="Google Shape;937;p8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HF PLAYGROUND</a:t>
            </a:r>
            <a:endParaRPr/>
          </a:p>
        </p:txBody>
      </p:sp>
      <p:sp>
        <p:nvSpPr>
          <p:cNvPr id="938" name="Google Shape;938;p80"/>
          <p:cNvSpPr txBox="1"/>
          <p:nvPr>
            <p:ph idx="1" type="body"/>
          </p:nvPr>
        </p:nvSpPr>
        <p:spPr>
          <a:xfrm>
            <a:off x="1451579" y="2015734"/>
            <a:ext cx="2986857" cy="34506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SzPts val="2000"/>
              <a:buChar char="•"/>
            </a:pPr>
            <a:r>
              <a:rPr lang="en-US"/>
              <a:t>Role</a:t>
            </a:r>
            <a:endParaRPr/>
          </a:p>
          <a:p>
            <a:pPr indent="-228600" lvl="1" marL="685800" rtl="0" algn="l">
              <a:lnSpc>
                <a:spcPct val="120000"/>
              </a:lnSpc>
              <a:spcBef>
                <a:spcPts val="500"/>
              </a:spcBef>
              <a:spcAft>
                <a:spcPts val="0"/>
              </a:spcAft>
              <a:buSzPts val="1800"/>
              <a:buChar char="•"/>
            </a:pPr>
            <a:r>
              <a:rPr lang="en-US"/>
              <a:t>User</a:t>
            </a:r>
            <a:endParaRPr/>
          </a:p>
          <a:p>
            <a:pPr indent="-228600" lvl="1" marL="685800" rtl="0" algn="l">
              <a:lnSpc>
                <a:spcPct val="120000"/>
              </a:lnSpc>
              <a:spcBef>
                <a:spcPts val="500"/>
              </a:spcBef>
              <a:spcAft>
                <a:spcPts val="0"/>
              </a:spcAft>
              <a:buSzPts val="1800"/>
              <a:buChar char="•"/>
            </a:pPr>
            <a:r>
              <a:rPr lang="en-US"/>
              <a:t>Assistant</a:t>
            </a:r>
            <a:endParaRPr/>
          </a:p>
          <a:p>
            <a:pPr indent="-228600" lvl="1" marL="685800" rtl="0" algn="l">
              <a:lnSpc>
                <a:spcPct val="120000"/>
              </a:lnSpc>
              <a:spcBef>
                <a:spcPts val="500"/>
              </a:spcBef>
              <a:spcAft>
                <a:spcPts val="0"/>
              </a:spcAft>
              <a:buSzPts val="1800"/>
              <a:buChar char="•"/>
            </a:pPr>
            <a:r>
              <a:rPr lang="en-US"/>
              <a:t>System</a:t>
            </a:r>
            <a:endParaRPr/>
          </a:p>
          <a:p>
            <a:pPr indent="-228600" lvl="0" marL="228600" rtl="0" algn="l">
              <a:lnSpc>
                <a:spcPct val="120000"/>
              </a:lnSpc>
              <a:spcBef>
                <a:spcPts val="1000"/>
              </a:spcBef>
              <a:spcAft>
                <a:spcPts val="0"/>
              </a:spcAft>
              <a:buSzPts val="2000"/>
              <a:buChar char="•"/>
            </a:pPr>
            <a:r>
              <a:rPr lang="en-US"/>
              <a:t>Temperature</a:t>
            </a:r>
            <a:endParaRPr/>
          </a:p>
          <a:p>
            <a:pPr indent="-228600" lvl="0" marL="228600" rtl="0" algn="l">
              <a:lnSpc>
                <a:spcPct val="120000"/>
              </a:lnSpc>
              <a:spcBef>
                <a:spcPts val="1000"/>
              </a:spcBef>
              <a:spcAft>
                <a:spcPts val="0"/>
              </a:spcAft>
              <a:buSzPts val="2000"/>
              <a:buChar char="•"/>
            </a:pPr>
            <a:r>
              <a:rPr lang="en-US"/>
              <a:t>Max Tokens</a:t>
            </a:r>
            <a:endParaRPr/>
          </a:p>
          <a:p>
            <a:pPr indent="-228600" lvl="0" marL="228600" rtl="0" algn="l">
              <a:lnSpc>
                <a:spcPct val="120000"/>
              </a:lnSpc>
              <a:spcBef>
                <a:spcPts val="1000"/>
              </a:spcBef>
              <a:spcAft>
                <a:spcPts val="0"/>
              </a:spcAft>
              <a:buSzPts val="2000"/>
              <a:buChar char="•"/>
            </a:pPr>
            <a:r>
              <a:rPr lang="en-US"/>
              <a:t>Top-P</a:t>
            </a:r>
            <a:endParaRPr/>
          </a:p>
          <a:p>
            <a:pPr indent="-228600" lvl="0" marL="228600" rtl="0" algn="l">
              <a:lnSpc>
                <a:spcPct val="120000"/>
              </a:lnSpc>
              <a:spcBef>
                <a:spcPts val="1000"/>
              </a:spcBef>
              <a:spcAft>
                <a:spcPts val="0"/>
              </a:spcAft>
              <a:buSzPts val="2000"/>
              <a:buChar char="•"/>
            </a:pPr>
            <a:r>
              <a:rPr lang="en-US"/>
              <a:t>Streaming</a:t>
            </a:r>
            <a:endParaRPr/>
          </a:p>
          <a:p>
            <a:pPr indent="-101600" lvl="0" marL="228600" rtl="0" algn="l">
              <a:lnSpc>
                <a:spcPct val="120000"/>
              </a:lnSpc>
              <a:spcBef>
                <a:spcPts val="1000"/>
              </a:spcBef>
              <a:spcAft>
                <a:spcPts val="0"/>
              </a:spcAft>
              <a:buSzPts val="2000"/>
              <a:buNone/>
            </a:pPr>
            <a:r>
              <a:t/>
            </a:r>
            <a:endParaRPr/>
          </a:p>
        </p:txBody>
      </p:sp>
      <p:pic>
        <p:nvPicPr>
          <p:cNvPr descr="A screenshot of a computer&#10;&#10;AI-generated content may be incorrect." id="939" name="Google Shape;939;p80"/>
          <p:cNvPicPr preferRelativeResize="0"/>
          <p:nvPr/>
        </p:nvPicPr>
        <p:blipFill rotWithShape="1">
          <a:blip r:embed="rId3">
            <a:alphaModFix/>
          </a:blip>
          <a:srcRect b="0" l="0" r="0" t="0"/>
          <a:stretch/>
        </p:blipFill>
        <p:spPr>
          <a:xfrm>
            <a:off x="4812632" y="1853753"/>
            <a:ext cx="7287513" cy="4199727"/>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8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AI MODEL FLOW</a:t>
            </a:r>
            <a:endParaRPr/>
          </a:p>
        </p:txBody>
      </p:sp>
      <p:grpSp>
        <p:nvGrpSpPr>
          <p:cNvPr id="945" name="Google Shape;945;p81"/>
          <p:cNvGrpSpPr/>
          <p:nvPr/>
        </p:nvGrpSpPr>
        <p:grpSpPr>
          <a:xfrm>
            <a:off x="1585887" y="1910007"/>
            <a:ext cx="10302710" cy="4143473"/>
            <a:chOff x="1294057" y="19964"/>
            <a:chExt cx="10302710" cy="4143473"/>
          </a:xfrm>
        </p:grpSpPr>
        <p:sp>
          <p:nvSpPr>
            <p:cNvPr id="946" name="Google Shape;946;p81"/>
            <p:cNvSpPr/>
            <p:nvPr/>
          </p:nvSpPr>
          <p:spPr>
            <a:xfrm rot="5400000">
              <a:off x="2602975" y="1296342"/>
              <a:ext cx="1057041" cy="1203404"/>
            </a:xfrm>
            <a:prstGeom prst="bentUpArrow">
              <a:avLst>
                <a:gd fmla="val 32840" name="adj1"/>
                <a:gd fmla="val 25000" name="adj2"/>
                <a:gd fmla="val 35780" name="adj3"/>
              </a:avLst>
            </a:prstGeom>
            <a:solidFill>
              <a:srgbClr val="BFC8E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81"/>
            <p:cNvSpPr/>
            <p:nvPr/>
          </p:nvSpPr>
          <p:spPr>
            <a:xfrm>
              <a:off x="1294057" y="19964"/>
              <a:ext cx="2475924" cy="1245547"/>
            </a:xfrm>
            <a:prstGeom prst="roundRect">
              <a:avLst>
                <a:gd fmla="val 1667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81"/>
            <p:cNvSpPr txBox="1"/>
            <p:nvPr/>
          </p:nvSpPr>
          <p:spPr>
            <a:xfrm>
              <a:off x="1354871" y="80778"/>
              <a:ext cx="2354296" cy="1123919"/>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lt1"/>
                </a:buClr>
                <a:buSzPts val="3200"/>
                <a:buFont typeface="Gill Sans"/>
                <a:buNone/>
              </a:pPr>
              <a:r>
                <a:rPr lang="en-US" sz="3200">
                  <a:solidFill>
                    <a:schemeClr val="lt1"/>
                  </a:solidFill>
                  <a:latin typeface="Gill Sans"/>
                  <a:ea typeface="Gill Sans"/>
                  <a:cs typeface="Gill Sans"/>
                  <a:sym typeface="Gill Sans"/>
                </a:rPr>
                <a:t>Data</a:t>
              </a:r>
              <a:endParaRPr/>
            </a:p>
          </p:txBody>
        </p:sp>
        <p:sp>
          <p:nvSpPr>
            <p:cNvPr id="949" name="Google Shape;949;p81"/>
            <p:cNvSpPr/>
            <p:nvPr/>
          </p:nvSpPr>
          <p:spPr>
            <a:xfrm>
              <a:off x="3769558" y="231040"/>
              <a:ext cx="6597027" cy="100670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81"/>
            <p:cNvSpPr txBox="1"/>
            <p:nvPr/>
          </p:nvSpPr>
          <p:spPr>
            <a:xfrm>
              <a:off x="3769558" y="231040"/>
              <a:ext cx="6597027" cy="1006706"/>
            </a:xfrm>
            <a:prstGeom prst="rect">
              <a:avLst/>
            </a:prstGeom>
            <a:noFill/>
            <a:ln>
              <a:noFill/>
            </a:ln>
          </p:spPr>
          <p:txBody>
            <a:bodyPr anchorCtr="0" anchor="ctr" bIns="68575" lIns="68575" spcFirstLastPara="1" rIns="68575" wrap="square" tIns="68575">
              <a:noAutofit/>
            </a:bodyPr>
            <a:lstStyle/>
            <a:p>
              <a:pPr indent="-171450" lvl="1" marL="171450" marR="0" rtl="0" algn="l">
                <a:lnSpc>
                  <a:spcPct val="90000"/>
                </a:lnSpc>
                <a:spcBef>
                  <a:spcPts val="0"/>
                </a:spcBef>
                <a:spcAft>
                  <a:spcPts val="0"/>
                </a:spcAft>
                <a:buClr>
                  <a:schemeClr val="dk1"/>
                </a:buClr>
                <a:buSzPts val="1800"/>
                <a:buFont typeface="Gill Sans"/>
                <a:buChar char="•"/>
              </a:pPr>
              <a:r>
                <a:rPr b="0" i="0" lang="en-US" sz="1800" u="none" cap="none" strike="noStrike">
                  <a:solidFill>
                    <a:schemeClr val="dk1"/>
                  </a:solidFill>
                  <a:latin typeface="Gill Sans"/>
                  <a:ea typeface="Gill Sans"/>
                  <a:cs typeface="Gill Sans"/>
                  <a:sym typeface="Gill Sans"/>
                </a:rPr>
                <a:t>Question</a:t>
              </a:r>
              <a:endParaRPr/>
            </a:p>
            <a:p>
              <a:pPr indent="-171450" lvl="1" marL="171450" marR="0" rtl="0" algn="l">
                <a:lnSpc>
                  <a:spcPct val="90000"/>
                </a:lnSpc>
                <a:spcBef>
                  <a:spcPts val="270"/>
                </a:spcBef>
                <a:spcAft>
                  <a:spcPts val="0"/>
                </a:spcAft>
                <a:buClr>
                  <a:schemeClr val="dk1"/>
                </a:buClr>
                <a:buSzPts val="1800"/>
                <a:buFont typeface="Gill Sans"/>
                <a:buChar char="•"/>
              </a:pPr>
              <a:r>
                <a:rPr b="0" i="0" lang="en-US" sz="1800" u="none" cap="none" strike="noStrike">
                  <a:solidFill>
                    <a:schemeClr val="dk1"/>
                  </a:solidFill>
                  <a:latin typeface="Gill Sans"/>
                  <a:ea typeface="Gill Sans"/>
                  <a:cs typeface="Gill Sans"/>
                  <a:sym typeface="Gill Sans"/>
                </a:rPr>
                <a:t>Start of a sentence</a:t>
              </a:r>
              <a:endParaRPr/>
            </a:p>
          </p:txBody>
        </p:sp>
        <p:sp>
          <p:nvSpPr>
            <p:cNvPr id="951" name="Google Shape;951;p81"/>
            <p:cNvSpPr/>
            <p:nvPr/>
          </p:nvSpPr>
          <p:spPr>
            <a:xfrm rot="5400000">
              <a:off x="5601143" y="2708327"/>
              <a:ext cx="1057041" cy="1203404"/>
            </a:xfrm>
            <a:prstGeom prst="bentUpArrow">
              <a:avLst>
                <a:gd fmla="val 32840" name="adj1"/>
                <a:gd fmla="val 25000" name="adj2"/>
                <a:gd fmla="val 35780" name="adj3"/>
              </a:avLst>
            </a:prstGeom>
            <a:solidFill>
              <a:srgbClr val="BFC8E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81"/>
            <p:cNvSpPr/>
            <p:nvPr/>
          </p:nvSpPr>
          <p:spPr>
            <a:xfrm>
              <a:off x="3936893" y="1498765"/>
              <a:ext cx="2279101" cy="1245547"/>
            </a:xfrm>
            <a:prstGeom prst="roundRect">
              <a:avLst>
                <a:gd fmla="val 1667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81"/>
            <p:cNvSpPr txBox="1"/>
            <p:nvPr/>
          </p:nvSpPr>
          <p:spPr>
            <a:xfrm>
              <a:off x="3997707" y="1559579"/>
              <a:ext cx="2157473" cy="1123919"/>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lt1"/>
                </a:buClr>
                <a:buSzPts val="3200"/>
                <a:buFont typeface="Gill Sans"/>
                <a:buNone/>
              </a:pPr>
              <a:r>
                <a:rPr lang="en-US" sz="3200">
                  <a:solidFill>
                    <a:schemeClr val="lt1"/>
                  </a:solidFill>
                  <a:latin typeface="Gill Sans"/>
                  <a:ea typeface="Gill Sans"/>
                  <a:cs typeface="Gill Sans"/>
                  <a:sym typeface="Gill Sans"/>
                </a:rPr>
                <a:t>Parameters</a:t>
              </a:r>
              <a:endParaRPr/>
            </a:p>
          </p:txBody>
        </p:sp>
        <p:sp>
          <p:nvSpPr>
            <p:cNvPr id="954" name="Google Shape;954;p81"/>
            <p:cNvSpPr/>
            <p:nvPr/>
          </p:nvSpPr>
          <p:spPr>
            <a:xfrm>
              <a:off x="6530365" y="1399665"/>
              <a:ext cx="1294192" cy="14035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81"/>
            <p:cNvSpPr txBox="1"/>
            <p:nvPr/>
          </p:nvSpPr>
          <p:spPr>
            <a:xfrm>
              <a:off x="6530365" y="1399665"/>
              <a:ext cx="1294192" cy="1403570"/>
            </a:xfrm>
            <a:prstGeom prst="rect">
              <a:avLst/>
            </a:prstGeom>
            <a:noFill/>
            <a:ln>
              <a:noFill/>
            </a:ln>
          </p:spPr>
          <p:txBody>
            <a:bodyPr anchorCtr="0" anchor="ctr" bIns="68575" lIns="68575" spcFirstLastPara="1" rIns="68575" wrap="square" tIns="68575">
              <a:noAutofit/>
            </a:bodyPr>
            <a:lstStyle/>
            <a:p>
              <a:pPr indent="-171450" lvl="1" marL="171450" marR="0" rtl="0" algn="l">
                <a:lnSpc>
                  <a:spcPct val="90000"/>
                </a:lnSpc>
                <a:spcBef>
                  <a:spcPts val="0"/>
                </a:spcBef>
                <a:spcAft>
                  <a:spcPts val="0"/>
                </a:spcAft>
                <a:buClr>
                  <a:schemeClr val="dk1"/>
                </a:buClr>
                <a:buSzPts val="1800"/>
                <a:buFont typeface="Gill Sans"/>
                <a:buChar char="•"/>
              </a:pPr>
              <a:r>
                <a:rPr b="0" i="0" lang="en-US" sz="1800" u="none" cap="none" strike="noStrike">
                  <a:solidFill>
                    <a:schemeClr val="dk1"/>
                  </a:solidFill>
                  <a:latin typeface="Gill Sans"/>
                  <a:ea typeface="Gill Sans"/>
                  <a:cs typeface="Gill Sans"/>
                  <a:sym typeface="Gill Sans"/>
                </a:rPr>
                <a:t>Role</a:t>
              </a:r>
              <a:endParaRPr/>
            </a:p>
            <a:p>
              <a:pPr indent="-171450" lvl="1" marL="171450" marR="0" rtl="0" algn="l">
                <a:lnSpc>
                  <a:spcPct val="90000"/>
                </a:lnSpc>
                <a:spcBef>
                  <a:spcPts val="270"/>
                </a:spcBef>
                <a:spcAft>
                  <a:spcPts val="0"/>
                </a:spcAft>
                <a:buClr>
                  <a:schemeClr val="dk1"/>
                </a:buClr>
                <a:buSzPts val="1800"/>
                <a:buFont typeface="Gill Sans"/>
                <a:buChar char="•"/>
              </a:pPr>
              <a:r>
                <a:rPr b="0" i="0" lang="en-US" sz="1800" u="none" cap="none" strike="noStrike">
                  <a:solidFill>
                    <a:schemeClr val="dk1"/>
                  </a:solidFill>
                  <a:latin typeface="Gill Sans"/>
                  <a:ea typeface="Gill Sans"/>
                  <a:cs typeface="Gill Sans"/>
                  <a:sym typeface="Gill Sans"/>
                </a:rPr>
                <a:t>Temperature</a:t>
              </a:r>
              <a:endParaRPr/>
            </a:p>
            <a:p>
              <a:pPr indent="-171450" lvl="1" marL="171450" marR="0" rtl="0" algn="l">
                <a:lnSpc>
                  <a:spcPct val="90000"/>
                </a:lnSpc>
                <a:spcBef>
                  <a:spcPts val="270"/>
                </a:spcBef>
                <a:spcAft>
                  <a:spcPts val="0"/>
                </a:spcAft>
                <a:buClr>
                  <a:schemeClr val="dk1"/>
                </a:buClr>
                <a:buSzPts val="1800"/>
                <a:buFont typeface="Gill Sans"/>
                <a:buChar char="•"/>
              </a:pPr>
              <a:r>
                <a:rPr b="0" i="0" lang="en-US" sz="1800" u="none" cap="none" strike="noStrike">
                  <a:solidFill>
                    <a:schemeClr val="dk1"/>
                  </a:solidFill>
                  <a:latin typeface="Gill Sans"/>
                  <a:ea typeface="Gill Sans"/>
                  <a:cs typeface="Gill Sans"/>
                  <a:sym typeface="Gill Sans"/>
                </a:rPr>
                <a:t>Top-P</a:t>
              </a:r>
              <a:endParaRPr/>
            </a:p>
            <a:p>
              <a:pPr indent="-171450" lvl="1" marL="171450" marR="0" rtl="0" algn="l">
                <a:lnSpc>
                  <a:spcPct val="90000"/>
                </a:lnSpc>
                <a:spcBef>
                  <a:spcPts val="270"/>
                </a:spcBef>
                <a:spcAft>
                  <a:spcPts val="0"/>
                </a:spcAft>
                <a:buClr>
                  <a:schemeClr val="dk1"/>
                </a:buClr>
                <a:buSzPts val="1800"/>
                <a:buFont typeface="Gill Sans"/>
                <a:buChar char="•"/>
              </a:pPr>
              <a:r>
                <a:rPr b="0" i="0" lang="en-US" sz="1800" u="none" cap="none" strike="noStrike">
                  <a:solidFill>
                    <a:schemeClr val="dk1"/>
                  </a:solidFill>
                  <a:latin typeface="Gill Sans"/>
                  <a:ea typeface="Gill Sans"/>
                  <a:cs typeface="Gill Sans"/>
                  <a:sym typeface="Gill Sans"/>
                </a:rPr>
                <a:t>Output length</a:t>
              </a:r>
              <a:endParaRPr/>
            </a:p>
          </p:txBody>
        </p:sp>
        <p:sp>
          <p:nvSpPr>
            <p:cNvPr id="956" name="Google Shape;956;p81"/>
            <p:cNvSpPr/>
            <p:nvPr/>
          </p:nvSpPr>
          <p:spPr>
            <a:xfrm>
              <a:off x="6555187" y="2917890"/>
              <a:ext cx="2678905" cy="1245547"/>
            </a:xfrm>
            <a:prstGeom prst="roundRect">
              <a:avLst>
                <a:gd fmla="val 16670" name="adj"/>
              </a:avLst>
            </a:prstGeom>
            <a:solidFill>
              <a:srgbClr val="4372C3"/>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81"/>
            <p:cNvSpPr txBox="1"/>
            <p:nvPr/>
          </p:nvSpPr>
          <p:spPr>
            <a:xfrm>
              <a:off x="6616001" y="2978704"/>
              <a:ext cx="2557277" cy="1123919"/>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lt1"/>
                </a:buClr>
                <a:buSzPts val="3200"/>
                <a:buFont typeface="Gill Sans"/>
                <a:buNone/>
              </a:pPr>
              <a:r>
                <a:rPr lang="en-US" sz="3200">
                  <a:solidFill>
                    <a:schemeClr val="lt1"/>
                  </a:solidFill>
                  <a:latin typeface="Gill Sans"/>
                  <a:ea typeface="Gill Sans"/>
                  <a:cs typeface="Gill Sans"/>
                  <a:sym typeface="Gill Sans"/>
                </a:rPr>
                <a:t>Model</a:t>
              </a:r>
              <a:endParaRPr/>
            </a:p>
          </p:txBody>
        </p:sp>
        <p:sp>
          <p:nvSpPr>
            <p:cNvPr id="958" name="Google Shape;958;p81"/>
            <p:cNvSpPr/>
            <p:nvPr/>
          </p:nvSpPr>
          <p:spPr>
            <a:xfrm>
              <a:off x="9296535" y="3137884"/>
              <a:ext cx="2300232" cy="100670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81"/>
            <p:cNvSpPr txBox="1"/>
            <p:nvPr/>
          </p:nvSpPr>
          <p:spPr>
            <a:xfrm>
              <a:off x="9296535" y="3137884"/>
              <a:ext cx="2300232" cy="1006706"/>
            </a:xfrm>
            <a:prstGeom prst="rect">
              <a:avLst/>
            </a:prstGeom>
            <a:noFill/>
            <a:ln>
              <a:noFill/>
            </a:ln>
          </p:spPr>
          <p:txBody>
            <a:bodyPr anchorCtr="0" anchor="ctr" bIns="76200" lIns="76200" spcFirstLastPara="1" rIns="76200" wrap="square" tIns="76200">
              <a:noAutofit/>
            </a:bodyPr>
            <a:lstStyle/>
            <a:p>
              <a:pPr indent="-228600" lvl="1" marL="228600" marR="0" rtl="0" algn="l">
                <a:lnSpc>
                  <a:spcPct val="90000"/>
                </a:lnSpc>
                <a:spcBef>
                  <a:spcPts val="0"/>
                </a:spcBef>
                <a:spcAft>
                  <a:spcPts val="0"/>
                </a:spcAft>
                <a:buClr>
                  <a:schemeClr val="dk1"/>
                </a:buClr>
                <a:buSzPts val="2000"/>
                <a:buFont typeface="Gill Sans"/>
                <a:buChar char="•"/>
              </a:pPr>
              <a:r>
                <a:rPr b="0" i="0" lang="en-US" sz="2000" u="none" cap="none" strike="noStrike">
                  <a:solidFill>
                    <a:schemeClr val="dk1"/>
                  </a:solidFill>
                  <a:latin typeface="Gill Sans"/>
                  <a:ea typeface="Gill Sans"/>
                  <a:cs typeface="Gill Sans"/>
                  <a:sym typeface="Gill Sans"/>
                </a:rPr>
                <a:t>Type</a:t>
              </a:r>
              <a:endParaRPr/>
            </a:p>
            <a:p>
              <a:pPr indent="-228600" lvl="1" marL="228600" marR="0" rtl="0" algn="l">
                <a:lnSpc>
                  <a:spcPct val="90000"/>
                </a:lnSpc>
                <a:spcBef>
                  <a:spcPts val="300"/>
                </a:spcBef>
                <a:spcAft>
                  <a:spcPts val="0"/>
                </a:spcAft>
                <a:buClr>
                  <a:schemeClr val="dk1"/>
                </a:buClr>
                <a:buSzPts val="2000"/>
                <a:buFont typeface="Gill Sans"/>
                <a:buChar char="•"/>
              </a:pPr>
              <a:r>
                <a:rPr b="0" i="0" lang="en-US" sz="2000" u="none" cap="none" strike="noStrike">
                  <a:solidFill>
                    <a:schemeClr val="dk1"/>
                  </a:solidFill>
                  <a:latin typeface="Gill Sans"/>
                  <a:ea typeface="Gill Sans"/>
                  <a:cs typeface="Gill Sans"/>
                  <a:sym typeface="Gill Sans"/>
                </a:rPr>
                <a:t>Task</a:t>
              </a:r>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8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ROLES</a:t>
            </a:r>
            <a:endParaRPr/>
          </a:p>
        </p:txBody>
      </p:sp>
      <p:sp>
        <p:nvSpPr>
          <p:cNvPr id="965" name="Google Shape;965;p82"/>
          <p:cNvSpPr txBox="1"/>
          <p:nvPr>
            <p:ph idx="1" type="body"/>
          </p:nvPr>
        </p:nvSpPr>
        <p:spPr>
          <a:xfrm>
            <a:off x="2437898" y="2203236"/>
            <a:ext cx="5154703" cy="2276297"/>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1800"/>
              <a:buNone/>
            </a:pPr>
            <a:r>
              <a:rPr b="0" i="0" lang="en-US" sz="1800">
                <a:latin typeface="Arial"/>
                <a:ea typeface="Arial"/>
                <a:cs typeface="Arial"/>
                <a:sym typeface="Arial"/>
              </a:rPr>
              <a:t>messages</a:t>
            </a:r>
            <a:r>
              <a:rPr b="0" i="0" lang="en-US" sz="1800">
                <a:solidFill>
                  <a:srgbClr val="434343"/>
                </a:solidFill>
                <a:latin typeface="Arial"/>
                <a:ea typeface="Arial"/>
                <a:cs typeface="Arial"/>
                <a:sym typeface="Arial"/>
              </a:rPr>
              <a:t>=[ </a:t>
            </a:r>
            <a:endParaRPr/>
          </a:p>
          <a:p>
            <a:pPr indent="-228600" lvl="0" marL="228600" rtl="0" algn="l">
              <a:lnSpc>
                <a:spcPct val="120000"/>
              </a:lnSpc>
              <a:spcBef>
                <a:spcPts val="1000"/>
              </a:spcBef>
              <a:spcAft>
                <a:spcPts val="0"/>
              </a:spcAft>
              <a:buSzPts val="1800"/>
              <a:buNone/>
            </a:pPr>
            <a:r>
              <a:rPr b="0" i="0" lang="en-US" sz="1800">
                <a:solidFill>
                  <a:srgbClr val="434343"/>
                </a:solidFill>
                <a:latin typeface="Arial"/>
                <a:ea typeface="Arial"/>
                <a:cs typeface="Arial"/>
                <a:sym typeface="Arial"/>
              </a:rPr>
              <a:t>{</a:t>
            </a:r>
            <a:r>
              <a:rPr b="0" i="0" lang="en-US" sz="1800">
                <a:latin typeface="Arial"/>
                <a:ea typeface="Arial"/>
                <a:cs typeface="Arial"/>
                <a:sym typeface="Arial"/>
              </a:rPr>
              <a:t>"role"</a:t>
            </a:r>
            <a:r>
              <a:rPr b="0" i="0" lang="en-US" sz="1800">
                <a:solidFill>
                  <a:srgbClr val="434343"/>
                </a:solidFill>
                <a:latin typeface="Arial"/>
                <a:ea typeface="Arial"/>
                <a:cs typeface="Arial"/>
                <a:sym typeface="Arial"/>
              </a:rPr>
              <a:t>: </a:t>
            </a:r>
            <a:r>
              <a:rPr b="0" i="0" lang="en-US" sz="1800">
                <a:latin typeface="Arial"/>
                <a:ea typeface="Arial"/>
                <a:cs typeface="Arial"/>
                <a:sym typeface="Arial"/>
              </a:rPr>
              <a:t>"system"</a:t>
            </a:r>
            <a:r>
              <a:rPr b="0" i="0" lang="en-US" sz="1800">
                <a:solidFill>
                  <a:srgbClr val="434343"/>
                </a:solidFill>
                <a:latin typeface="Arial"/>
                <a:ea typeface="Arial"/>
                <a:cs typeface="Arial"/>
                <a:sym typeface="Arial"/>
              </a:rPr>
              <a:t>, </a:t>
            </a:r>
            <a:r>
              <a:rPr b="0" i="0" lang="en-US" sz="1800">
                <a:latin typeface="Arial"/>
                <a:ea typeface="Arial"/>
                <a:cs typeface="Arial"/>
                <a:sym typeface="Arial"/>
              </a:rPr>
              <a:t>"content"</a:t>
            </a:r>
            <a:r>
              <a:rPr b="0" i="0" lang="en-US" sz="1800">
                <a:solidFill>
                  <a:srgbClr val="434343"/>
                </a:solidFill>
                <a:latin typeface="Arial"/>
                <a:ea typeface="Arial"/>
                <a:cs typeface="Arial"/>
                <a:sym typeface="Arial"/>
              </a:rPr>
              <a:t>: </a:t>
            </a:r>
            <a:r>
              <a:rPr b="0" i="0" lang="en-US" sz="1800">
                <a:latin typeface="Arial"/>
                <a:ea typeface="Arial"/>
                <a:cs typeface="Arial"/>
                <a:sym typeface="Arial"/>
              </a:rPr>
              <a:t>"&lt;instructions&gt;"</a:t>
            </a:r>
            <a:r>
              <a:rPr b="0" i="0" lang="en-US" sz="1800">
                <a:solidFill>
                  <a:srgbClr val="434343"/>
                </a:solidFill>
                <a:latin typeface="Arial"/>
                <a:ea typeface="Arial"/>
                <a:cs typeface="Arial"/>
                <a:sym typeface="Arial"/>
              </a:rPr>
              <a:t>}, </a:t>
            </a:r>
            <a:endParaRPr/>
          </a:p>
          <a:p>
            <a:pPr indent="-228600" lvl="0" marL="228600" rtl="0" algn="l">
              <a:lnSpc>
                <a:spcPct val="120000"/>
              </a:lnSpc>
              <a:spcBef>
                <a:spcPts val="1000"/>
              </a:spcBef>
              <a:spcAft>
                <a:spcPts val="0"/>
              </a:spcAft>
              <a:buSzPts val="1800"/>
              <a:buNone/>
            </a:pPr>
            <a:r>
              <a:rPr b="0" i="0" lang="en-US" sz="1800">
                <a:solidFill>
                  <a:srgbClr val="434343"/>
                </a:solidFill>
                <a:latin typeface="Arial"/>
                <a:ea typeface="Arial"/>
                <a:cs typeface="Arial"/>
                <a:sym typeface="Arial"/>
              </a:rPr>
              <a:t>{</a:t>
            </a:r>
            <a:r>
              <a:rPr b="0" i="0" lang="en-US" sz="1800">
                <a:latin typeface="Arial"/>
                <a:ea typeface="Arial"/>
                <a:cs typeface="Arial"/>
                <a:sym typeface="Arial"/>
              </a:rPr>
              <a:t>"role"</a:t>
            </a:r>
            <a:r>
              <a:rPr b="0" i="0" lang="en-US" sz="1800">
                <a:solidFill>
                  <a:srgbClr val="434343"/>
                </a:solidFill>
                <a:latin typeface="Arial"/>
                <a:ea typeface="Arial"/>
                <a:cs typeface="Arial"/>
                <a:sym typeface="Arial"/>
              </a:rPr>
              <a:t>: </a:t>
            </a:r>
            <a:r>
              <a:rPr b="0" i="0" lang="en-US" sz="1800">
                <a:latin typeface="Arial"/>
                <a:ea typeface="Arial"/>
                <a:cs typeface="Arial"/>
                <a:sym typeface="Arial"/>
              </a:rPr>
              <a:t>"user"</a:t>
            </a:r>
            <a:r>
              <a:rPr b="0" i="0" lang="en-US" sz="1800">
                <a:solidFill>
                  <a:srgbClr val="434343"/>
                </a:solidFill>
                <a:latin typeface="Arial"/>
                <a:ea typeface="Arial"/>
                <a:cs typeface="Arial"/>
                <a:sym typeface="Arial"/>
              </a:rPr>
              <a:t>, </a:t>
            </a:r>
            <a:r>
              <a:rPr b="0" i="0" lang="en-US" sz="1800">
                <a:latin typeface="Arial"/>
                <a:ea typeface="Arial"/>
                <a:cs typeface="Arial"/>
                <a:sym typeface="Arial"/>
              </a:rPr>
              <a:t>"content"</a:t>
            </a:r>
            <a:r>
              <a:rPr b="0" i="0" lang="en-US" sz="1800">
                <a:solidFill>
                  <a:srgbClr val="434343"/>
                </a:solidFill>
                <a:latin typeface="Arial"/>
                <a:ea typeface="Arial"/>
                <a:cs typeface="Arial"/>
                <a:sym typeface="Arial"/>
              </a:rPr>
              <a:t>: </a:t>
            </a:r>
            <a:r>
              <a:rPr b="0" i="0" lang="en-US" sz="1800">
                <a:latin typeface="Arial"/>
                <a:ea typeface="Arial"/>
                <a:cs typeface="Arial"/>
                <a:sym typeface="Arial"/>
              </a:rPr>
              <a:t>"&lt;User query&gt;"</a:t>
            </a:r>
            <a:r>
              <a:rPr b="0" i="0" lang="en-US" sz="1800">
                <a:solidFill>
                  <a:srgbClr val="434343"/>
                </a:solidFill>
                <a:latin typeface="Arial"/>
                <a:ea typeface="Arial"/>
                <a:cs typeface="Arial"/>
                <a:sym typeface="Arial"/>
              </a:rPr>
              <a:t>}, </a:t>
            </a:r>
            <a:endParaRPr/>
          </a:p>
          <a:p>
            <a:pPr indent="-228600" lvl="0" marL="228600" rtl="0" algn="l">
              <a:lnSpc>
                <a:spcPct val="120000"/>
              </a:lnSpc>
              <a:spcBef>
                <a:spcPts val="1000"/>
              </a:spcBef>
              <a:spcAft>
                <a:spcPts val="0"/>
              </a:spcAft>
              <a:buSzPts val="1800"/>
              <a:buNone/>
            </a:pPr>
            <a:r>
              <a:rPr b="0" i="0" lang="en-US" sz="1800">
                <a:solidFill>
                  <a:srgbClr val="434343"/>
                </a:solidFill>
                <a:latin typeface="Arial"/>
                <a:ea typeface="Arial"/>
                <a:cs typeface="Arial"/>
                <a:sym typeface="Arial"/>
              </a:rPr>
              <a:t>{</a:t>
            </a:r>
            <a:r>
              <a:rPr b="0" i="0" lang="en-US" sz="1800">
                <a:latin typeface="Arial"/>
                <a:ea typeface="Arial"/>
                <a:cs typeface="Arial"/>
                <a:sym typeface="Arial"/>
              </a:rPr>
              <a:t>"role"</a:t>
            </a:r>
            <a:r>
              <a:rPr b="0" i="0" lang="en-US" sz="1800">
                <a:solidFill>
                  <a:srgbClr val="434343"/>
                </a:solidFill>
                <a:latin typeface="Arial"/>
                <a:ea typeface="Arial"/>
                <a:cs typeface="Arial"/>
                <a:sym typeface="Arial"/>
              </a:rPr>
              <a:t>: </a:t>
            </a:r>
            <a:r>
              <a:rPr b="0" i="0" lang="en-US" sz="1800">
                <a:latin typeface="Arial"/>
                <a:ea typeface="Arial"/>
                <a:cs typeface="Arial"/>
                <a:sym typeface="Arial"/>
              </a:rPr>
              <a:t>"assistant"</a:t>
            </a:r>
            <a:r>
              <a:rPr b="0" i="0" lang="en-US" sz="1800">
                <a:solidFill>
                  <a:srgbClr val="434343"/>
                </a:solidFill>
                <a:latin typeface="Arial"/>
                <a:ea typeface="Arial"/>
                <a:cs typeface="Arial"/>
                <a:sym typeface="Arial"/>
              </a:rPr>
              <a:t>, </a:t>
            </a:r>
            <a:r>
              <a:rPr b="0" i="0" lang="en-US" sz="1800">
                <a:latin typeface="Arial"/>
                <a:ea typeface="Arial"/>
                <a:cs typeface="Arial"/>
                <a:sym typeface="Arial"/>
              </a:rPr>
              <a:t>"content"</a:t>
            </a:r>
            <a:r>
              <a:rPr b="0" i="0" lang="en-US" sz="1800">
                <a:solidFill>
                  <a:srgbClr val="434343"/>
                </a:solidFill>
                <a:latin typeface="Arial"/>
                <a:ea typeface="Arial"/>
                <a:cs typeface="Arial"/>
                <a:sym typeface="Arial"/>
              </a:rPr>
              <a:t>: </a:t>
            </a:r>
            <a:r>
              <a:rPr b="0" i="0" lang="en-US" sz="1800">
                <a:latin typeface="Arial"/>
                <a:ea typeface="Arial"/>
                <a:cs typeface="Arial"/>
                <a:sym typeface="Arial"/>
              </a:rPr>
              <a:t>"&lt;response&gt;"</a:t>
            </a:r>
            <a:r>
              <a:rPr b="0" i="0" lang="en-US" sz="1800">
                <a:solidFill>
                  <a:srgbClr val="434343"/>
                </a:solidFill>
                <a:latin typeface="Arial"/>
                <a:ea typeface="Arial"/>
                <a:cs typeface="Arial"/>
                <a:sym typeface="Arial"/>
              </a:rPr>
              <a:t>}, </a:t>
            </a:r>
            <a:endParaRPr/>
          </a:p>
          <a:p>
            <a:pPr indent="-228600" lvl="0" marL="228600" rtl="0" algn="l">
              <a:lnSpc>
                <a:spcPct val="120000"/>
              </a:lnSpc>
              <a:spcBef>
                <a:spcPts val="1000"/>
              </a:spcBef>
              <a:spcAft>
                <a:spcPts val="0"/>
              </a:spcAft>
              <a:buSzPts val="1800"/>
              <a:buNone/>
            </a:pPr>
            <a:r>
              <a:rPr b="0" i="0" lang="en-US" sz="1800">
                <a:solidFill>
                  <a:srgbClr val="434343"/>
                </a:solidFill>
                <a:latin typeface="Arial"/>
                <a:ea typeface="Arial"/>
                <a:cs typeface="Arial"/>
                <a:sym typeface="Arial"/>
              </a:rPr>
              <a:t>] </a:t>
            </a:r>
            <a:endParaRPr/>
          </a:p>
        </p:txBody>
      </p:sp>
      <p:sp>
        <p:nvSpPr>
          <p:cNvPr id="966" name="Google Shape;966;p82"/>
          <p:cNvSpPr txBox="1"/>
          <p:nvPr/>
        </p:nvSpPr>
        <p:spPr>
          <a:xfrm>
            <a:off x="1130506" y="4574729"/>
            <a:ext cx="1130001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22222"/>
              </a:buClr>
              <a:buSzPts val="1800"/>
              <a:buFont typeface="Arial"/>
              <a:buNone/>
            </a:pPr>
            <a:r>
              <a:rPr b="0" i="0" lang="en-US" sz="1800">
                <a:solidFill>
                  <a:srgbClr val="222222"/>
                </a:solidFill>
                <a:latin typeface="Arial"/>
                <a:ea typeface="Arial"/>
                <a:cs typeface="Arial"/>
                <a:sym typeface="Arial"/>
              </a:rPr>
              <a:t>System role: Allows you to specify the way the model answers questions. Classic example: “You are a helpful assistant.”</a:t>
            </a:r>
            <a:endParaRPr/>
          </a:p>
          <a:p>
            <a:pPr indent="0" lvl="0" marL="0" marR="0" rtl="0" algn="l">
              <a:spcBef>
                <a:spcPts val="0"/>
              </a:spcBef>
              <a:spcAft>
                <a:spcPts val="0"/>
              </a:spcAft>
              <a:buClr>
                <a:srgbClr val="222222"/>
              </a:buClr>
              <a:buSzPts val="1800"/>
              <a:buFont typeface="Arial"/>
              <a:buNone/>
            </a:pPr>
            <a:r>
              <a:rPr b="0" i="0" lang="en-US" sz="1800">
                <a:solidFill>
                  <a:srgbClr val="222222"/>
                </a:solidFill>
                <a:latin typeface="Arial"/>
                <a:ea typeface="Arial"/>
                <a:cs typeface="Arial"/>
                <a:sym typeface="Arial"/>
              </a:rPr>
              <a:t>User role: queries made by the user.</a:t>
            </a:r>
            <a:endParaRPr/>
          </a:p>
          <a:p>
            <a:pPr indent="0" lvl="0" marL="0" marR="0" rtl="0" algn="l">
              <a:spcBef>
                <a:spcPts val="0"/>
              </a:spcBef>
              <a:spcAft>
                <a:spcPts val="0"/>
              </a:spcAft>
              <a:buClr>
                <a:srgbClr val="222222"/>
              </a:buClr>
              <a:buSzPts val="1800"/>
              <a:buFont typeface="Arial"/>
              <a:buNone/>
            </a:pPr>
            <a:r>
              <a:rPr b="0" i="0" lang="en-US" sz="1800">
                <a:solidFill>
                  <a:srgbClr val="222222"/>
                </a:solidFill>
                <a:latin typeface="Arial"/>
                <a:ea typeface="Arial"/>
                <a:cs typeface="Arial"/>
                <a:sym typeface="Arial"/>
              </a:rPr>
              <a:t>Assistant role: model’s responses (based on the user messages)</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5F5"/>
            </a:gs>
            <a:gs pos="100000">
              <a:srgbClr val="D0CFCF"/>
            </a:gs>
          </a:gsLst>
          <a:path path="circle">
            <a:fillToRect b="50%" l="50%" r="50%" t="50%"/>
          </a:path>
          <a:tileRect/>
        </a:gradFill>
      </p:bgPr>
    </p:bg>
    <p:spTree>
      <p:nvGrpSpPr>
        <p:cNvPr id="970" name="Shape 970"/>
        <p:cNvGrpSpPr/>
        <p:nvPr/>
      </p:nvGrpSpPr>
      <p:grpSpPr>
        <a:xfrm>
          <a:off x="0" y="0"/>
          <a:ext cx="0" cy="0"/>
          <a:chOff x="0" y="0"/>
          <a:chExt cx="0" cy="0"/>
        </a:xfrm>
      </p:grpSpPr>
      <p:sp>
        <p:nvSpPr>
          <p:cNvPr id="971" name="Google Shape;971;p83"/>
          <p:cNvSpPr/>
          <p:nvPr/>
        </p:nvSpPr>
        <p:spPr>
          <a:xfrm>
            <a:off x="2" y="0"/>
            <a:ext cx="12191695" cy="6858000"/>
          </a:xfrm>
          <a:prstGeom prst="rect">
            <a:avLst/>
          </a:prstGeom>
          <a:gradFill>
            <a:gsLst>
              <a:gs pos="0">
                <a:srgbClr val="F5F5F5"/>
              </a:gs>
              <a:gs pos="100000">
                <a:srgbClr val="D0CFC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972" name="Google Shape;972;p83"/>
          <p:cNvCxnSpPr/>
          <p:nvPr/>
        </p:nvCxnSpPr>
        <p:spPr>
          <a:xfrm>
            <a:off x="1453896" y="1847088"/>
            <a:ext cx="3530885" cy="0"/>
          </a:xfrm>
          <a:prstGeom prst="straightConnector1">
            <a:avLst/>
          </a:prstGeom>
          <a:noFill/>
          <a:ln cap="flat" cmpd="sng" w="31750">
            <a:solidFill>
              <a:schemeClr val="accent1"/>
            </a:solidFill>
            <a:prstDash val="solid"/>
            <a:round/>
            <a:headEnd len="sm" w="sm" type="none"/>
            <a:tailEnd len="sm" w="sm" type="none"/>
          </a:ln>
        </p:spPr>
      </p:cxnSp>
      <p:sp>
        <p:nvSpPr>
          <p:cNvPr id="973" name="Google Shape;973;p83"/>
          <p:cNvSpPr txBox="1"/>
          <p:nvPr>
            <p:ph type="title"/>
          </p:nvPr>
        </p:nvSpPr>
        <p:spPr>
          <a:xfrm>
            <a:off x="1451580" y="804520"/>
            <a:ext cx="3530157"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MODELS</a:t>
            </a:r>
            <a:endParaRPr/>
          </a:p>
        </p:txBody>
      </p:sp>
      <p:sp>
        <p:nvSpPr>
          <p:cNvPr id="974" name="Google Shape;974;p83"/>
          <p:cNvSpPr/>
          <p:nvPr/>
        </p:nvSpPr>
        <p:spPr>
          <a:xfrm>
            <a:off x="0" y="2019476"/>
            <a:ext cx="12192000" cy="4105941"/>
          </a:xfrm>
          <a:prstGeom prst="rect">
            <a:avLst/>
          </a:prstGeom>
          <a:gradFill>
            <a:gsLst>
              <a:gs pos="0">
                <a:srgbClr val="E7E6E6">
                  <a:alpha val="0"/>
                </a:srgbClr>
              </a:gs>
              <a:gs pos="100000">
                <a:schemeClr val="lt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975" name="Google Shape;975;p83"/>
          <p:cNvSpPr txBox="1"/>
          <p:nvPr/>
        </p:nvSpPr>
        <p:spPr>
          <a:xfrm>
            <a:off x="1451581" y="2015732"/>
            <a:ext cx="3526523" cy="3450613"/>
          </a:xfrm>
          <a:prstGeom prst="rect">
            <a:avLst/>
          </a:prstGeom>
          <a:noFill/>
          <a:ln>
            <a:noFill/>
          </a:ln>
        </p:spPr>
        <p:txBody>
          <a:bodyPr anchorCtr="0" anchor="t" bIns="45700" lIns="91425" spcFirstLastPara="1" rIns="91425" wrap="square" tIns="45700">
            <a:normAutofit/>
          </a:bodyPr>
          <a:lstStyle/>
          <a:p>
            <a:pPr indent="0" lvl="0" marL="0" marR="0" rtl="0" algn="l">
              <a:lnSpc>
                <a:spcPct val="120000"/>
              </a:lnSpc>
              <a:spcBef>
                <a:spcPts val="0"/>
              </a:spcBef>
              <a:spcAft>
                <a:spcPts val="0"/>
              </a:spcAft>
              <a:buClr>
                <a:schemeClr val="accent1"/>
              </a:buClr>
              <a:buSzPts val="1800"/>
              <a:buFont typeface="Arial"/>
              <a:buChar char="•"/>
            </a:pPr>
            <a:r>
              <a:rPr b="0" i="0" lang="en-US" sz="1800">
                <a:solidFill>
                  <a:schemeClr val="dk1"/>
                </a:solidFill>
                <a:latin typeface="Gill Sans"/>
                <a:ea typeface="Gill Sans"/>
                <a:cs typeface="Gill Sans"/>
                <a:sym typeface="Gill Sans"/>
              </a:rPr>
              <a:t>Deepseek</a:t>
            </a:r>
            <a:endParaRPr b="0" i="0" sz="1800">
              <a:solidFill>
                <a:schemeClr val="dk1"/>
              </a:solidFill>
              <a:latin typeface="Gill Sans"/>
              <a:ea typeface="Gill Sans"/>
              <a:cs typeface="Gill Sans"/>
              <a:sym typeface="Gill Sans"/>
            </a:endParaRPr>
          </a:p>
          <a:p>
            <a:pPr indent="0" lvl="0" marL="0" marR="0" rtl="0" algn="l">
              <a:lnSpc>
                <a:spcPct val="120000"/>
              </a:lnSpc>
              <a:spcBef>
                <a:spcPts val="600"/>
              </a:spcBef>
              <a:spcAft>
                <a:spcPts val="0"/>
              </a:spcAft>
              <a:buClr>
                <a:schemeClr val="accent1"/>
              </a:buClr>
              <a:buSzPts val="1800"/>
              <a:buFont typeface="Arial"/>
              <a:buChar char="•"/>
            </a:pPr>
            <a:r>
              <a:rPr lang="en-US" sz="1800">
                <a:solidFill>
                  <a:schemeClr val="dk1"/>
                </a:solidFill>
                <a:latin typeface="Gill Sans"/>
                <a:ea typeface="Gill Sans"/>
                <a:cs typeface="Gill Sans"/>
                <a:sym typeface="Gill Sans"/>
              </a:rPr>
              <a:t>Qwen</a:t>
            </a:r>
            <a:endParaRPr/>
          </a:p>
          <a:p>
            <a:pPr indent="0" lvl="0" marL="0" marR="0" rtl="0" algn="l">
              <a:lnSpc>
                <a:spcPct val="120000"/>
              </a:lnSpc>
              <a:spcBef>
                <a:spcPts val="600"/>
              </a:spcBef>
              <a:spcAft>
                <a:spcPts val="0"/>
              </a:spcAft>
              <a:buClr>
                <a:schemeClr val="accent1"/>
              </a:buClr>
              <a:buSzPts val="1800"/>
              <a:buFont typeface="Arial"/>
              <a:buChar char="•"/>
            </a:pPr>
            <a:r>
              <a:rPr b="0" i="0" lang="en-US" sz="1800">
                <a:solidFill>
                  <a:schemeClr val="dk1"/>
                </a:solidFill>
                <a:latin typeface="Gill Sans"/>
                <a:ea typeface="Gill Sans"/>
                <a:cs typeface="Gill Sans"/>
                <a:sym typeface="Gill Sans"/>
              </a:rPr>
              <a:t>Llama</a:t>
            </a:r>
            <a:endParaRPr/>
          </a:p>
          <a:p>
            <a:pPr indent="0" lvl="0" marL="0" marR="0" rtl="0" algn="l">
              <a:lnSpc>
                <a:spcPct val="120000"/>
              </a:lnSpc>
              <a:spcBef>
                <a:spcPts val="600"/>
              </a:spcBef>
              <a:spcAft>
                <a:spcPts val="0"/>
              </a:spcAft>
              <a:buNone/>
            </a:pPr>
            <a:r>
              <a:t/>
            </a:r>
            <a:endParaRPr b="0" i="0" sz="1800">
              <a:solidFill>
                <a:schemeClr val="dk1"/>
              </a:solidFill>
              <a:latin typeface="Gill Sans"/>
              <a:ea typeface="Gill Sans"/>
              <a:cs typeface="Gill Sans"/>
              <a:sym typeface="Gill Sans"/>
            </a:endParaRPr>
          </a:p>
          <a:p>
            <a:pPr indent="114300" lvl="0" marL="0" marR="0" rtl="0" algn="l">
              <a:lnSpc>
                <a:spcPct val="120000"/>
              </a:lnSpc>
              <a:spcBef>
                <a:spcPts val="600"/>
              </a:spcBef>
              <a:spcAft>
                <a:spcPts val="0"/>
              </a:spcAft>
              <a:buClr>
                <a:schemeClr val="accent1"/>
              </a:buClr>
              <a:buSzPts val="1800"/>
              <a:buFont typeface="Arial"/>
              <a:buNone/>
            </a:pPr>
            <a:r>
              <a:t/>
            </a:r>
            <a:endParaRPr sz="1800">
              <a:solidFill>
                <a:schemeClr val="dk1"/>
              </a:solidFill>
              <a:latin typeface="Gill Sans"/>
              <a:ea typeface="Gill Sans"/>
              <a:cs typeface="Gill Sans"/>
              <a:sym typeface="Gill Sans"/>
            </a:endParaRPr>
          </a:p>
        </p:txBody>
      </p:sp>
      <p:grpSp>
        <p:nvGrpSpPr>
          <p:cNvPr id="976" name="Google Shape;976;p83"/>
          <p:cNvGrpSpPr/>
          <p:nvPr/>
        </p:nvGrpSpPr>
        <p:grpSpPr>
          <a:xfrm>
            <a:off x="5460131" y="482171"/>
            <a:ext cx="6091791" cy="5149101"/>
            <a:chOff x="5460131" y="482171"/>
            <a:chExt cx="6091791" cy="5149101"/>
          </a:xfrm>
        </p:grpSpPr>
        <p:sp>
          <p:nvSpPr>
            <p:cNvPr id="977" name="Google Shape;977;p83"/>
            <p:cNvSpPr/>
            <p:nvPr/>
          </p:nvSpPr>
          <p:spPr>
            <a:xfrm>
              <a:off x="5460131" y="482171"/>
              <a:ext cx="6091791"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372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978" name="Google Shape;978;p83"/>
            <p:cNvSpPr/>
            <p:nvPr/>
          </p:nvSpPr>
          <p:spPr>
            <a:xfrm>
              <a:off x="5778956" y="812507"/>
              <a:ext cx="5461780"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979" name="Google Shape;979;p83"/>
          <p:cNvSpPr/>
          <p:nvPr/>
        </p:nvSpPr>
        <p:spPr>
          <a:xfrm>
            <a:off x="5942379" y="977965"/>
            <a:ext cx="5134631" cy="4135339"/>
          </a:xfrm>
          <a:prstGeom prst="rect">
            <a:avLst/>
          </a:prstGeom>
          <a:solidFill>
            <a:schemeClr val="lt1"/>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descr="A screenshot of a computer&#10;&#10;AI-generated content may be incorrect." id="980" name="Google Shape;980;p83"/>
          <p:cNvPicPr preferRelativeResize="0"/>
          <p:nvPr/>
        </p:nvPicPr>
        <p:blipFill rotWithShape="1">
          <a:blip r:embed="rId3">
            <a:alphaModFix/>
          </a:blip>
          <a:srcRect b="0" l="0" r="0" t="0"/>
          <a:stretch/>
        </p:blipFill>
        <p:spPr>
          <a:xfrm>
            <a:off x="6093926" y="1373942"/>
            <a:ext cx="4821551" cy="3350977"/>
          </a:xfrm>
          <a:prstGeom prst="rect">
            <a:avLst/>
          </a:prstGeom>
          <a:noFill/>
          <a:ln>
            <a:noFill/>
          </a:ln>
        </p:spPr>
      </p:pic>
      <p:pic>
        <p:nvPicPr>
          <p:cNvPr id="981" name="Google Shape;981;p83"/>
          <p:cNvPicPr preferRelativeResize="0"/>
          <p:nvPr/>
        </p:nvPicPr>
        <p:blipFill rotWithShape="1">
          <a:blip r:embed="rId4">
            <a:alphaModFix/>
          </a:blip>
          <a:srcRect b="-1538" l="0" r="0" t="1538"/>
          <a:stretch/>
        </p:blipFill>
        <p:spPr>
          <a:xfrm>
            <a:off x="0" y="6126480"/>
            <a:ext cx="12192000" cy="742950"/>
          </a:xfrm>
          <a:prstGeom prst="rect">
            <a:avLst/>
          </a:prstGeom>
          <a:noFill/>
          <a:ln>
            <a:noFill/>
          </a:ln>
        </p:spPr>
      </p:pic>
      <p:cxnSp>
        <p:nvCxnSpPr>
          <p:cNvPr id="982" name="Google Shape;982;p83"/>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8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TEMPERATURE (T)</a:t>
            </a:r>
            <a:endParaRPr/>
          </a:p>
        </p:txBody>
      </p:sp>
      <p:pic>
        <p:nvPicPr>
          <p:cNvPr id="988" name="Google Shape;988;p84"/>
          <p:cNvPicPr preferRelativeResize="0"/>
          <p:nvPr/>
        </p:nvPicPr>
        <p:blipFill rotWithShape="1">
          <a:blip r:embed="rId3">
            <a:alphaModFix/>
          </a:blip>
          <a:srcRect b="0" l="0" r="0" t="0"/>
          <a:stretch/>
        </p:blipFill>
        <p:spPr>
          <a:xfrm>
            <a:off x="1451579" y="3723279"/>
            <a:ext cx="9637465" cy="2330202"/>
          </a:xfrm>
          <a:prstGeom prst="rect">
            <a:avLst/>
          </a:prstGeom>
          <a:noFill/>
          <a:ln>
            <a:noFill/>
          </a:ln>
        </p:spPr>
      </p:pic>
      <p:pic>
        <p:nvPicPr>
          <p:cNvPr id="989" name="Google Shape;989;p84"/>
          <p:cNvPicPr preferRelativeResize="0"/>
          <p:nvPr/>
        </p:nvPicPr>
        <p:blipFill rotWithShape="1">
          <a:blip r:embed="rId4">
            <a:alphaModFix/>
          </a:blip>
          <a:srcRect b="0" l="0" r="0" t="0"/>
          <a:stretch/>
        </p:blipFill>
        <p:spPr>
          <a:xfrm>
            <a:off x="7734470" y="1861882"/>
            <a:ext cx="3354575" cy="1866900"/>
          </a:xfrm>
          <a:prstGeom prst="rect">
            <a:avLst/>
          </a:prstGeom>
          <a:noFill/>
          <a:ln>
            <a:noFill/>
          </a:ln>
        </p:spPr>
      </p:pic>
      <p:pic>
        <p:nvPicPr>
          <p:cNvPr descr="A close-up of a mathematical equation&#10;&#10;AI-generated content may be incorrect." id="990" name="Google Shape;990;p84"/>
          <p:cNvPicPr preferRelativeResize="0"/>
          <p:nvPr/>
        </p:nvPicPr>
        <p:blipFill rotWithShape="1">
          <a:blip r:embed="rId5">
            <a:alphaModFix/>
          </a:blip>
          <a:srcRect b="0" l="0" r="0" t="0"/>
          <a:stretch/>
        </p:blipFill>
        <p:spPr>
          <a:xfrm>
            <a:off x="1451580" y="1861882"/>
            <a:ext cx="4626075" cy="1971488"/>
          </a:xfrm>
          <a:prstGeom prst="rect">
            <a:avLst/>
          </a:prstGeom>
          <a:noFill/>
          <a:ln>
            <a:noFill/>
          </a:ln>
        </p:spPr>
      </p:pic>
      <p:sp>
        <p:nvSpPr>
          <p:cNvPr id="991" name="Google Shape;991;p84"/>
          <p:cNvSpPr txBox="1"/>
          <p:nvPr/>
        </p:nvSpPr>
        <p:spPr>
          <a:xfrm>
            <a:off x="6701358" y="2733575"/>
            <a:ext cx="3193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&gt;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8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TOP-P =</a:t>
            </a:r>
            <a:endParaRPr/>
          </a:p>
        </p:txBody>
      </p:sp>
      <p:pic>
        <p:nvPicPr>
          <p:cNvPr id="997" name="Google Shape;997;p85"/>
          <p:cNvPicPr preferRelativeResize="0"/>
          <p:nvPr/>
        </p:nvPicPr>
        <p:blipFill rotWithShape="1">
          <a:blip r:embed="rId3">
            <a:alphaModFix/>
          </a:blip>
          <a:srcRect b="0" l="0" r="0" t="0"/>
          <a:stretch/>
        </p:blipFill>
        <p:spPr>
          <a:xfrm>
            <a:off x="3221430" y="402383"/>
            <a:ext cx="7772400" cy="1256508"/>
          </a:xfrm>
          <a:prstGeom prst="rect">
            <a:avLst/>
          </a:prstGeom>
          <a:noFill/>
          <a:ln>
            <a:noFill/>
          </a:ln>
        </p:spPr>
      </p:pic>
      <p:sp>
        <p:nvSpPr>
          <p:cNvPr id="998" name="Google Shape;998;p85"/>
          <p:cNvSpPr txBox="1"/>
          <p:nvPr/>
        </p:nvSpPr>
        <p:spPr>
          <a:xfrm>
            <a:off x="1030639" y="2079872"/>
            <a:ext cx="91440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242424"/>
                </a:solidFill>
                <a:latin typeface="Arial"/>
                <a:ea typeface="Arial"/>
                <a:cs typeface="Arial"/>
                <a:sym typeface="Arial"/>
              </a:rPr>
              <a:t>Temperature should be the first place to start when tuning a language model. It’s an intuitive scaling factor that applies to all tokens, where higher temperatures lead to more creative output, and lower temperatures result in more predictable output. The choice will really vary on how much creativity you need in your task. </a:t>
            </a:r>
            <a:r>
              <a:rPr b="0" i="0" lang="en-US" sz="1800" u="sng">
                <a:solidFill>
                  <a:schemeClr val="dk1"/>
                </a:solidFill>
                <a:latin typeface="Arial"/>
                <a:ea typeface="Arial"/>
                <a:cs typeface="Arial"/>
                <a:sym typeface="Arial"/>
                <a:hlinkClick r:id="rId4">
                  <a:extLst>
                    <a:ext uri="{A12FA001-AC4F-418D-AE19-62706E023703}">
                      <ahyp:hlinkClr val="tx"/>
                    </a:ext>
                  </a:extLst>
                </a:hlinkClick>
              </a:rPr>
              <a:t>Gemini models</a:t>
            </a:r>
            <a:r>
              <a:rPr b="0" i="0" lang="en-US" sz="1800">
                <a:solidFill>
                  <a:srgbClr val="242424"/>
                </a:solidFill>
                <a:latin typeface="Arial"/>
                <a:ea typeface="Arial"/>
                <a:cs typeface="Arial"/>
                <a:sym typeface="Arial"/>
              </a:rPr>
              <a:t> currently provide a temperature range from 0–1, or 0–2, each with different default values.</a:t>
            </a:r>
            <a:endParaRPr sz="1800">
              <a:solidFill>
                <a:schemeClr val="dk1"/>
              </a:solidFill>
              <a:latin typeface="Gill Sans"/>
              <a:ea typeface="Gill Sans"/>
              <a:cs typeface="Gill Sans"/>
              <a:sym typeface="Gill Sans"/>
            </a:endParaRPr>
          </a:p>
        </p:txBody>
      </p:sp>
      <p:sp>
        <p:nvSpPr>
          <p:cNvPr id="999" name="Google Shape;999;p85"/>
          <p:cNvSpPr txBox="1"/>
          <p:nvPr/>
        </p:nvSpPr>
        <p:spPr>
          <a:xfrm>
            <a:off x="1030639" y="3688597"/>
            <a:ext cx="9830486"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If more adjustment is needed, top-p is then recommended as the next step. By using a cumulative probability threshold p, this sampling method dynamically selects the most likely tokens, ensuring their combined probability reaches or exceeds p. When the breadth of possible tokens is unknown, top-p is less likely to exclude potentially valuable tokens than a fixed value k used in top-k sampling. Top-p will range from 0–1, and it’s recommended to start with a value closer to 1, e.g. 0.9, and adjust downward. Note that the default setting in Gemini 1.5 Pro is 0.94. After you adjust top-p, you could take one more pass to optimize temperature, and finally top-p once more.</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8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STREAMING VS NO-STREAMING</a:t>
            </a:r>
            <a:endParaRPr/>
          </a:p>
        </p:txBody>
      </p:sp>
      <p:sp>
        <p:nvSpPr>
          <p:cNvPr id="1005" name="Google Shape;1005;p86"/>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No-streaming</a:t>
            </a:r>
            <a:endParaRPr/>
          </a:p>
          <a:p>
            <a:pPr indent="-228600" lvl="1" marL="685800" rtl="0" algn="l">
              <a:lnSpc>
                <a:spcPct val="120000"/>
              </a:lnSpc>
              <a:spcBef>
                <a:spcPts val="500"/>
              </a:spcBef>
              <a:spcAft>
                <a:spcPts val="0"/>
              </a:spcAft>
              <a:buSzPts val="1800"/>
              <a:buChar char="•"/>
            </a:pPr>
            <a:r>
              <a:rPr lang="en-US"/>
              <a:t>All token appear at once</a:t>
            </a:r>
            <a:endParaRPr/>
          </a:p>
          <a:p>
            <a:pPr indent="-228600" lvl="0" marL="228600" rtl="0" algn="l">
              <a:lnSpc>
                <a:spcPct val="120000"/>
              </a:lnSpc>
              <a:spcBef>
                <a:spcPts val="1000"/>
              </a:spcBef>
              <a:spcAft>
                <a:spcPts val="0"/>
              </a:spcAft>
              <a:buSzPts val="2000"/>
              <a:buChar char="•"/>
            </a:pPr>
            <a:r>
              <a:rPr lang="en-US"/>
              <a:t>Streaming</a:t>
            </a:r>
            <a:endParaRPr/>
          </a:p>
          <a:p>
            <a:pPr indent="-228600" lvl="1" marL="685800" rtl="0" algn="l">
              <a:lnSpc>
                <a:spcPct val="120000"/>
              </a:lnSpc>
              <a:spcBef>
                <a:spcPts val="500"/>
              </a:spcBef>
              <a:spcAft>
                <a:spcPts val="0"/>
              </a:spcAft>
              <a:buSzPts val="1800"/>
              <a:buChar char="•"/>
            </a:pPr>
            <a:r>
              <a:rPr lang="en-US"/>
              <a:t>One token at a time</a:t>
            </a:r>
            <a:endParaRPr/>
          </a:p>
          <a:p>
            <a:pPr indent="-228600" lvl="0" marL="228600" rtl="0" algn="l">
              <a:lnSpc>
                <a:spcPct val="120000"/>
              </a:lnSpc>
              <a:spcBef>
                <a:spcPts val="1000"/>
              </a:spcBef>
              <a:spcAft>
                <a:spcPts val="0"/>
              </a:spcAft>
              <a:buSzPts val="2000"/>
              <a:buChar char="•"/>
            </a:pPr>
            <a:r>
              <a:rPr lang="en-US"/>
              <a:t>Latency</a:t>
            </a:r>
            <a:endParaRPr/>
          </a:p>
          <a:p>
            <a:pPr indent="-228600" lvl="0" marL="228600" rtl="0" algn="l">
              <a:lnSpc>
                <a:spcPct val="120000"/>
              </a:lnSpc>
              <a:spcBef>
                <a:spcPts val="1000"/>
              </a:spcBef>
              <a:spcAft>
                <a:spcPts val="0"/>
              </a:spcAft>
              <a:buSzPts val="2000"/>
              <a:buChar char="•"/>
            </a:pPr>
            <a:r>
              <a:rPr lang="en-US"/>
              <a:t>Length of response</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5F5"/>
            </a:gs>
            <a:gs pos="100000">
              <a:srgbClr val="D0CFCF"/>
            </a:gs>
          </a:gsLst>
          <a:path path="circle">
            <a:fillToRect b="50%" l="50%" r="50%" t="50%"/>
          </a:path>
          <a:tileRect/>
        </a:gradFill>
      </p:bgPr>
    </p:bg>
    <p:spTree>
      <p:nvGrpSpPr>
        <p:cNvPr id="1009" name="Shape 1009"/>
        <p:cNvGrpSpPr/>
        <p:nvPr/>
      </p:nvGrpSpPr>
      <p:grpSpPr>
        <a:xfrm>
          <a:off x="0" y="0"/>
          <a:ext cx="0" cy="0"/>
          <a:chOff x="0" y="0"/>
          <a:chExt cx="0" cy="0"/>
        </a:xfrm>
      </p:grpSpPr>
      <p:sp>
        <p:nvSpPr>
          <p:cNvPr id="1010" name="Google Shape;1010;p87"/>
          <p:cNvSpPr/>
          <p:nvPr/>
        </p:nvSpPr>
        <p:spPr>
          <a:xfrm>
            <a:off x="2" y="0"/>
            <a:ext cx="12191695" cy="6858000"/>
          </a:xfrm>
          <a:prstGeom prst="rect">
            <a:avLst/>
          </a:prstGeom>
          <a:gradFill>
            <a:gsLst>
              <a:gs pos="0">
                <a:srgbClr val="F5F5F5"/>
              </a:gs>
              <a:gs pos="100000">
                <a:srgbClr val="D0CFC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011" name="Google Shape;1011;p87"/>
          <p:cNvCxnSpPr/>
          <p:nvPr/>
        </p:nvCxnSpPr>
        <p:spPr>
          <a:xfrm>
            <a:off x="1453896" y="1847088"/>
            <a:ext cx="3530885" cy="0"/>
          </a:xfrm>
          <a:prstGeom prst="straightConnector1">
            <a:avLst/>
          </a:prstGeom>
          <a:noFill/>
          <a:ln cap="flat" cmpd="sng" w="31750">
            <a:solidFill>
              <a:schemeClr val="accent1"/>
            </a:solidFill>
            <a:prstDash val="solid"/>
            <a:round/>
            <a:headEnd len="sm" w="sm" type="none"/>
            <a:tailEnd len="sm" w="sm" type="none"/>
          </a:ln>
        </p:spPr>
      </p:cxnSp>
      <p:sp>
        <p:nvSpPr>
          <p:cNvPr id="1012" name="Google Shape;1012;p87"/>
          <p:cNvSpPr txBox="1"/>
          <p:nvPr>
            <p:ph type="title"/>
          </p:nvPr>
        </p:nvSpPr>
        <p:spPr>
          <a:xfrm>
            <a:off x="1451580" y="804520"/>
            <a:ext cx="3530157"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MODELS</a:t>
            </a:r>
            <a:endParaRPr/>
          </a:p>
        </p:txBody>
      </p:sp>
      <p:sp>
        <p:nvSpPr>
          <p:cNvPr id="1013" name="Google Shape;1013;p87"/>
          <p:cNvSpPr/>
          <p:nvPr/>
        </p:nvSpPr>
        <p:spPr>
          <a:xfrm>
            <a:off x="0" y="2019476"/>
            <a:ext cx="12192000" cy="4105941"/>
          </a:xfrm>
          <a:prstGeom prst="rect">
            <a:avLst/>
          </a:prstGeom>
          <a:gradFill>
            <a:gsLst>
              <a:gs pos="0">
                <a:srgbClr val="E7E6E6">
                  <a:alpha val="0"/>
                </a:srgbClr>
              </a:gs>
              <a:gs pos="100000">
                <a:schemeClr val="lt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14" name="Google Shape;1014;p87"/>
          <p:cNvSpPr txBox="1"/>
          <p:nvPr>
            <p:ph idx="1" type="body"/>
          </p:nvPr>
        </p:nvSpPr>
        <p:spPr>
          <a:xfrm>
            <a:off x="1451581" y="2015732"/>
            <a:ext cx="3526523"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Multimodal</a:t>
            </a:r>
            <a:endParaRPr/>
          </a:p>
          <a:p>
            <a:pPr indent="-228600" lvl="0" marL="228600" rtl="0" algn="l">
              <a:lnSpc>
                <a:spcPct val="120000"/>
              </a:lnSpc>
              <a:spcBef>
                <a:spcPts val="1000"/>
              </a:spcBef>
              <a:spcAft>
                <a:spcPts val="0"/>
              </a:spcAft>
              <a:buSzPts val="2000"/>
              <a:buChar char="•"/>
            </a:pPr>
            <a:r>
              <a:rPr lang="en-US"/>
              <a:t>Computer Vision</a:t>
            </a:r>
            <a:endParaRPr/>
          </a:p>
          <a:p>
            <a:pPr indent="-228600" lvl="0" marL="228600" rtl="0" algn="l">
              <a:lnSpc>
                <a:spcPct val="120000"/>
              </a:lnSpc>
              <a:spcBef>
                <a:spcPts val="1000"/>
              </a:spcBef>
              <a:spcAft>
                <a:spcPts val="0"/>
              </a:spcAft>
              <a:buSzPts val="2000"/>
              <a:buChar char="•"/>
            </a:pPr>
            <a:r>
              <a:rPr lang="en-US"/>
              <a:t>Natural Language Processing</a:t>
            </a:r>
            <a:endParaRPr/>
          </a:p>
          <a:p>
            <a:pPr indent="-228600" lvl="0" marL="228600" rtl="0" algn="l">
              <a:lnSpc>
                <a:spcPct val="120000"/>
              </a:lnSpc>
              <a:spcBef>
                <a:spcPts val="1000"/>
              </a:spcBef>
              <a:spcAft>
                <a:spcPts val="0"/>
              </a:spcAft>
              <a:buSzPts val="2000"/>
              <a:buChar char="•"/>
            </a:pPr>
            <a:r>
              <a:rPr lang="en-US"/>
              <a:t>Audio</a:t>
            </a:r>
            <a:endParaRPr/>
          </a:p>
          <a:p>
            <a:pPr indent="-228600" lvl="0" marL="228600" rtl="0" algn="l">
              <a:lnSpc>
                <a:spcPct val="120000"/>
              </a:lnSpc>
              <a:spcBef>
                <a:spcPts val="1000"/>
              </a:spcBef>
              <a:spcAft>
                <a:spcPts val="0"/>
              </a:spcAft>
              <a:buSzPts val="2000"/>
              <a:buChar char="•"/>
            </a:pPr>
            <a:r>
              <a:rPr lang="en-US"/>
              <a:t>Tabular</a:t>
            </a:r>
            <a:endParaRPr/>
          </a:p>
          <a:p>
            <a:pPr indent="-228600" lvl="0" marL="228600" rtl="0" algn="l">
              <a:lnSpc>
                <a:spcPct val="120000"/>
              </a:lnSpc>
              <a:spcBef>
                <a:spcPts val="1000"/>
              </a:spcBef>
              <a:spcAft>
                <a:spcPts val="0"/>
              </a:spcAft>
              <a:buSzPts val="2000"/>
              <a:buChar char="•"/>
            </a:pPr>
            <a:r>
              <a:rPr lang="en-US"/>
              <a:t>Reinforcement Learning</a:t>
            </a:r>
            <a:endParaRPr/>
          </a:p>
        </p:txBody>
      </p:sp>
      <p:grpSp>
        <p:nvGrpSpPr>
          <p:cNvPr id="1015" name="Google Shape;1015;p87"/>
          <p:cNvGrpSpPr/>
          <p:nvPr/>
        </p:nvGrpSpPr>
        <p:grpSpPr>
          <a:xfrm>
            <a:off x="5460131" y="482171"/>
            <a:ext cx="6091791" cy="5149101"/>
            <a:chOff x="5460131" y="482171"/>
            <a:chExt cx="6091791" cy="5149101"/>
          </a:xfrm>
        </p:grpSpPr>
        <p:sp>
          <p:nvSpPr>
            <p:cNvPr id="1016" name="Google Shape;1016;p87"/>
            <p:cNvSpPr/>
            <p:nvPr/>
          </p:nvSpPr>
          <p:spPr>
            <a:xfrm>
              <a:off x="5460131" y="482171"/>
              <a:ext cx="6091791"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372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17" name="Google Shape;1017;p87"/>
            <p:cNvSpPr/>
            <p:nvPr/>
          </p:nvSpPr>
          <p:spPr>
            <a:xfrm>
              <a:off x="5778956" y="812507"/>
              <a:ext cx="5461780"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018" name="Google Shape;1018;p87"/>
          <p:cNvSpPr/>
          <p:nvPr/>
        </p:nvSpPr>
        <p:spPr>
          <a:xfrm>
            <a:off x="5942379" y="977965"/>
            <a:ext cx="5134631" cy="4135339"/>
          </a:xfrm>
          <a:prstGeom prst="rect">
            <a:avLst/>
          </a:prstGeom>
          <a:solidFill>
            <a:schemeClr val="lt1"/>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descr="A screenshot of a computer&#10;&#10;AI-generated content may be incorrect." id="1019" name="Google Shape;1019;p87"/>
          <p:cNvPicPr preferRelativeResize="0"/>
          <p:nvPr/>
        </p:nvPicPr>
        <p:blipFill rotWithShape="1">
          <a:blip r:embed="rId3">
            <a:alphaModFix/>
          </a:blip>
          <a:srcRect b="0" l="0" r="0" t="0"/>
          <a:stretch/>
        </p:blipFill>
        <p:spPr>
          <a:xfrm>
            <a:off x="5778956" y="125128"/>
            <a:ext cx="5461780" cy="5678531"/>
          </a:xfrm>
          <a:prstGeom prst="rect">
            <a:avLst/>
          </a:prstGeom>
          <a:noFill/>
          <a:ln>
            <a:noFill/>
          </a:ln>
        </p:spPr>
      </p:pic>
      <p:pic>
        <p:nvPicPr>
          <p:cNvPr id="1020" name="Google Shape;1020;p87"/>
          <p:cNvPicPr preferRelativeResize="0"/>
          <p:nvPr/>
        </p:nvPicPr>
        <p:blipFill rotWithShape="1">
          <a:blip r:embed="rId4">
            <a:alphaModFix/>
          </a:blip>
          <a:srcRect b="-1538" l="0" r="0" t="1538"/>
          <a:stretch/>
        </p:blipFill>
        <p:spPr>
          <a:xfrm>
            <a:off x="0" y="6126480"/>
            <a:ext cx="12192000" cy="742950"/>
          </a:xfrm>
          <a:prstGeom prst="rect">
            <a:avLst/>
          </a:prstGeom>
          <a:noFill/>
          <a:ln>
            <a:noFill/>
          </a:ln>
        </p:spPr>
      </p:pic>
      <p:cxnSp>
        <p:nvCxnSpPr>
          <p:cNvPr id="1021" name="Google Shape;1021;p87"/>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5F5"/>
            </a:gs>
            <a:gs pos="100000">
              <a:srgbClr val="D0CFCF"/>
            </a:gs>
          </a:gsLst>
          <a:path path="circle">
            <a:fillToRect b="50%" l="50%" r="50%" t="50%"/>
          </a:path>
          <a:tileRect/>
        </a:gradFill>
      </p:bgPr>
    </p:bg>
    <p:spTree>
      <p:nvGrpSpPr>
        <p:cNvPr id="1025" name="Shape 1025"/>
        <p:cNvGrpSpPr/>
        <p:nvPr/>
      </p:nvGrpSpPr>
      <p:grpSpPr>
        <a:xfrm>
          <a:off x="0" y="0"/>
          <a:ext cx="0" cy="0"/>
          <a:chOff x="0" y="0"/>
          <a:chExt cx="0" cy="0"/>
        </a:xfrm>
      </p:grpSpPr>
      <p:sp>
        <p:nvSpPr>
          <p:cNvPr id="1026" name="Google Shape;1026;p8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TEXT GENERATION</a:t>
            </a:r>
            <a:endParaRPr/>
          </a:p>
        </p:txBody>
      </p:sp>
      <p:sp>
        <p:nvSpPr>
          <p:cNvPr id="1027" name="Google Shape;1027;p88"/>
          <p:cNvSpPr txBox="1"/>
          <p:nvPr>
            <p:ph idx="1" type="body"/>
          </p:nvPr>
        </p:nvSpPr>
        <p:spPr>
          <a:xfrm>
            <a:off x="1451579" y="2015734"/>
            <a:ext cx="5622284"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200K+ models</a:t>
            </a:r>
            <a:endParaRPr/>
          </a:p>
          <a:p>
            <a:pPr indent="-228600" lvl="0" marL="228600" rtl="0" algn="l">
              <a:lnSpc>
                <a:spcPct val="120000"/>
              </a:lnSpc>
              <a:spcBef>
                <a:spcPts val="1000"/>
              </a:spcBef>
              <a:spcAft>
                <a:spcPts val="0"/>
              </a:spcAft>
              <a:buSzPts val="2000"/>
              <a:buChar char="•"/>
            </a:pPr>
            <a:r>
              <a:rPr lang="en-US"/>
              <a:t>Deepseek</a:t>
            </a:r>
            <a:endParaRPr/>
          </a:p>
          <a:p>
            <a:pPr indent="-228600" lvl="0" marL="228600" rtl="0" algn="l">
              <a:lnSpc>
                <a:spcPct val="120000"/>
              </a:lnSpc>
              <a:spcBef>
                <a:spcPts val="1000"/>
              </a:spcBef>
              <a:spcAft>
                <a:spcPts val="0"/>
              </a:spcAft>
              <a:buSzPts val="2000"/>
              <a:buChar char="•"/>
            </a:pPr>
            <a:r>
              <a:rPr lang="en-US"/>
              <a:t>Qwen</a:t>
            </a:r>
            <a:endParaRPr/>
          </a:p>
          <a:p>
            <a:pPr indent="-228600" lvl="0" marL="228600" rtl="0" algn="l">
              <a:lnSpc>
                <a:spcPct val="120000"/>
              </a:lnSpc>
              <a:spcBef>
                <a:spcPts val="1000"/>
              </a:spcBef>
              <a:spcAft>
                <a:spcPts val="0"/>
              </a:spcAft>
              <a:buSzPts val="2000"/>
              <a:buChar char="•"/>
            </a:pPr>
            <a:r>
              <a:rPr lang="en-US"/>
              <a:t>Llama</a:t>
            </a:r>
            <a:endParaRPr/>
          </a:p>
          <a:p>
            <a:pPr indent="-228600" lvl="0" marL="228600" rtl="0" algn="l">
              <a:lnSpc>
                <a:spcPct val="120000"/>
              </a:lnSpc>
              <a:spcBef>
                <a:spcPts val="1000"/>
              </a:spcBef>
              <a:spcAft>
                <a:spcPts val="0"/>
              </a:spcAft>
              <a:buSzPts val="2000"/>
              <a:buChar char="•"/>
            </a:pPr>
            <a:r>
              <a:rPr lang="en-US"/>
              <a:t>Mistral</a:t>
            </a:r>
            <a:endParaRPr/>
          </a:p>
          <a:p>
            <a:pPr indent="-228600" lvl="0" marL="228600" rtl="0" algn="l">
              <a:lnSpc>
                <a:spcPct val="120000"/>
              </a:lnSpc>
              <a:spcBef>
                <a:spcPts val="1000"/>
              </a:spcBef>
              <a:spcAft>
                <a:spcPts val="0"/>
              </a:spcAft>
              <a:buSzPts val="2000"/>
              <a:buChar char="•"/>
            </a:pPr>
            <a:r>
              <a:rPr lang="en-US"/>
              <a:t>Phi</a:t>
            </a:r>
            <a:endParaRPr/>
          </a:p>
          <a:p>
            <a:pPr indent="-228600" lvl="0" marL="228600" rtl="0" algn="l">
              <a:lnSpc>
                <a:spcPct val="120000"/>
              </a:lnSpc>
              <a:spcBef>
                <a:spcPts val="1000"/>
              </a:spcBef>
              <a:spcAft>
                <a:spcPts val="0"/>
              </a:spcAft>
              <a:buSzPts val="2000"/>
              <a:buChar char="•"/>
            </a:pPr>
            <a:r>
              <a:rPr lang="en-US"/>
              <a:t>Gemma</a:t>
            </a:r>
            <a:endParaRPr/>
          </a:p>
          <a:p>
            <a:pPr indent="-101600" lvl="0" marL="228600" rtl="0" algn="l">
              <a:lnSpc>
                <a:spcPct val="120000"/>
              </a:lnSpc>
              <a:spcBef>
                <a:spcPts val="1000"/>
              </a:spcBef>
              <a:spcAft>
                <a:spcPts val="0"/>
              </a:spcAft>
              <a:buSzPts val="2000"/>
              <a:buNone/>
            </a:pPr>
            <a:r>
              <a:t/>
            </a:r>
            <a:endParaRPr/>
          </a:p>
        </p:txBody>
      </p:sp>
      <p:pic>
        <p:nvPicPr>
          <p:cNvPr descr="A screenshot of a computer&#10;&#10;AI-generated content may be incorrect." id="1028" name="Google Shape;1028;p88"/>
          <p:cNvPicPr preferRelativeResize="0"/>
          <p:nvPr/>
        </p:nvPicPr>
        <p:blipFill rotWithShape="1">
          <a:blip r:embed="rId3">
            <a:alphaModFix/>
          </a:blip>
          <a:srcRect b="0" l="0" r="0" t="0"/>
          <a:stretch/>
        </p:blipFill>
        <p:spPr>
          <a:xfrm>
            <a:off x="8192918" y="2015734"/>
            <a:ext cx="3500715" cy="3448204"/>
          </a:xfrm>
          <a:prstGeom prst="rect">
            <a:avLst/>
          </a:prstGeom>
          <a:noFill/>
          <a:ln>
            <a:noFill/>
          </a:ln>
        </p:spPr>
      </p:pic>
      <p:sp>
        <p:nvSpPr>
          <p:cNvPr id="1029" name="Google Shape;1029;p88"/>
          <p:cNvSpPr txBox="1"/>
          <p:nvPr/>
        </p:nvSpPr>
        <p:spPr>
          <a:xfrm>
            <a:off x="5615609" y="2176670"/>
            <a:ext cx="2577309"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Model Size – 685 billion</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Tensor Type BF16, F8, F32</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FineTunes – 9</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Quantizations - 11</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Dataset</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8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TEXT CLASSIFICATION</a:t>
            </a:r>
            <a:endParaRPr/>
          </a:p>
        </p:txBody>
      </p:sp>
      <p:sp>
        <p:nvSpPr>
          <p:cNvPr id="1035" name="Google Shape;1035;p89"/>
          <p:cNvSpPr txBox="1"/>
          <p:nvPr>
            <p:ph idx="1" type="body"/>
          </p:nvPr>
        </p:nvSpPr>
        <p:spPr>
          <a:xfrm>
            <a:off x="1451579" y="2015734"/>
            <a:ext cx="5622284" cy="3450613"/>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20000"/>
              </a:lnSpc>
              <a:spcBef>
                <a:spcPts val="0"/>
              </a:spcBef>
              <a:spcAft>
                <a:spcPts val="0"/>
              </a:spcAft>
              <a:buSzPct val="100000"/>
              <a:buChar char="•"/>
            </a:pPr>
            <a:r>
              <a:rPr lang="en-US"/>
              <a:t>90K+ models</a:t>
            </a:r>
            <a:endParaRPr/>
          </a:p>
          <a:p>
            <a:pPr indent="-228600" lvl="0" marL="228600" rtl="0" algn="l">
              <a:lnSpc>
                <a:spcPct val="120000"/>
              </a:lnSpc>
              <a:spcBef>
                <a:spcPts val="1000"/>
              </a:spcBef>
              <a:spcAft>
                <a:spcPts val="0"/>
              </a:spcAft>
              <a:buSzPct val="100000"/>
              <a:buChar char="•"/>
            </a:pPr>
            <a:r>
              <a:rPr lang="en-US"/>
              <a:t>Finbert</a:t>
            </a:r>
            <a:endParaRPr/>
          </a:p>
          <a:p>
            <a:pPr indent="-228600" lvl="0" marL="228600" rtl="0" algn="l">
              <a:lnSpc>
                <a:spcPct val="120000"/>
              </a:lnSpc>
              <a:spcBef>
                <a:spcPts val="1000"/>
              </a:spcBef>
              <a:spcAft>
                <a:spcPts val="0"/>
              </a:spcAft>
              <a:buSzPct val="100000"/>
              <a:buChar char="•"/>
            </a:pPr>
            <a:r>
              <a:rPr lang="en-US"/>
              <a:t>Emotion-text-classifier</a:t>
            </a:r>
            <a:endParaRPr/>
          </a:p>
          <a:p>
            <a:pPr indent="-228600" lvl="0" marL="228600" rtl="0" algn="l">
              <a:lnSpc>
                <a:spcPct val="120000"/>
              </a:lnSpc>
              <a:spcBef>
                <a:spcPts val="1000"/>
              </a:spcBef>
              <a:spcAft>
                <a:spcPts val="0"/>
              </a:spcAft>
              <a:buSzPct val="100000"/>
              <a:buChar char="•"/>
            </a:pPr>
            <a:r>
              <a:rPr lang="en-US"/>
              <a:t>Hallucination-evaluation-model</a:t>
            </a:r>
            <a:endParaRPr/>
          </a:p>
          <a:p>
            <a:pPr indent="-111125" lvl="0" marL="228600" rtl="0" algn="l">
              <a:lnSpc>
                <a:spcPct val="120000"/>
              </a:lnSpc>
              <a:spcBef>
                <a:spcPts val="1000"/>
              </a:spcBef>
              <a:spcAft>
                <a:spcPts val="0"/>
              </a:spcAft>
              <a:buSzPct val="100000"/>
              <a:buNone/>
            </a:pPr>
            <a:r>
              <a:t/>
            </a:r>
            <a:endParaRPr/>
          </a:p>
          <a:p>
            <a:pPr indent="-228600" lvl="0" marL="228600" rtl="0" algn="l">
              <a:lnSpc>
                <a:spcPct val="120000"/>
              </a:lnSpc>
              <a:spcBef>
                <a:spcPts val="1000"/>
              </a:spcBef>
              <a:spcAft>
                <a:spcPts val="0"/>
              </a:spcAft>
              <a:buSzPct val="100000"/>
              <a:buChar char="•"/>
            </a:pPr>
            <a:r>
              <a:rPr lang="en-US"/>
              <a:t>Sentiment analysis</a:t>
            </a:r>
            <a:endParaRPr/>
          </a:p>
          <a:p>
            <a:pPr indent="-228600" lvl="0" marL="228600" rtl="0" algn="l">
              <a:lnSpc>
                <a:spcPct val="120000"/>
              </a:lnSpc>
              <a:spcBef>
                <a:spcPts val="1000"/>
              </a:spcBef>
              <a:spcAft>
                <a:spcPts val="0"/>
              </a:spcAft>
              <a:buSzPct val="100000"/>
              <a:buChar char="•"/>
            </a:pPr>
            <a:r>
              <a:rPr lang="en-US"/>
              <a:t>Tone detector</a:t>
            </a:r>
            <a:endParaRPr/>
          </a:p>
          <a:p>
            <a:pPr indent="-228600" lvl="0" marL="228600" rtl="0" algn="l">
              <a:lnSpc>
                <a:spcPct val="120000"/>
              </a:lnSpc>
              <a:spcBef>
                <a:spcPts val="1000"/>
              </a:spcBef>
              <a:spcAft>
                <a:spcPts val="0"/>
              </a:spcAft>
              <a:buSzPct val="100000"/>
              <a:buChar char="•"/>
            </a:pPr>
            <a:r>
              <a:rPr lang="en-US"/>
              <a:t>Toxicity classifier</a:t>
            </a:r>
            <a:endParaRPr/>
          </a:p>
        </p:txBody>
      </p:sp>
      <p:pic>
        <p:nvPicPr>
          <p:cNvPr descr="A screenshot of a computer&#10;&#10;AI-generated content may be incorrect." id="1036" name="Google Shape;1036;p89"/>
          <p:cNvPicPr preferRelativeResize="0"/>
          <p:nvPr/>
        </p:nvPicPr>
        <p:blipFill rotWithShape="1">
          <a:blip r:embed="rId3">
            <a:alphaModFix/>
          </a:blip>
          <a:srcRect b="0" l="0" r="0" t="0"/>
          <a:stretch/>
        </p:blipFill>
        <p:spPr>
          <a:xfrm>
            <a:off x="5568671" y="1853754"/>
            <a:ext cx="6263009" cy="4199727"/>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9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QUESTION ANSWERING</a:t>
            </a:r>
            <a:endParaRPr/>
          </a:p>
        </p:txBody>
      </p:sp>
      <p:sp>
        <p:nvSpPr>
          <p:cNvPr id="1042" name="Google Shape;1042;p90"/>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Roberta-base-squad</a:t>
            </a:r>
            <a:endParaRPr/>
          </a:p>
          <a:p>
            <a:pPr indent="-228600" lvl="0" marL="228600" rtl="0" algn="l">
              <a:lnSpc>
                <a:spcPct val="120000"/>
              </a:lnSpc>
              <a:spcBef>
                <a:spcPts val="1000"/>
              </a:spcBef>
              <a:spcAft>
                <a:spcPts val="0"/>
              </a:spcAft>
              <a:buSzPts val="2000"/>
              <a:buChar char="•"/>
            </a:pPr>
            <a:r>
              <a:rPr lang="en-US"/>
              <a:t>PatientSeek</a:t>
            </a:r>
            <a:endParaRPr/>
          </a:p>
          <a:p>
            <a:pPr indent="-228600" lvl="0" marL="228600" rtl="0" algn="l">
              <a:lnSpc>
                <a:spcPct val="120000"/>
              </a:lnSpc>
              <a:spcBef>
                <a:spcPts val="1000"/>
              </a:spcBef>
              <a:spcAft>
                <a:spcPts val="0"/>
              </a:spcAft>
              <a:buSzPts val="2000"/>
              <a:buChar char="•"/>
            </a:pPr>
            <a:r>
              <a:rPr lang="en-US"/>
              <a:t>Indobert-QA</a:t>
            </a:r>
            <a:endParaRPr/>
          </a:p>
        </p:txBody>
      </p:sp>
      <p:pic>
        <p:nvPicPr>
          <p:cNvPr descr="A screenshot of a computer&#10;&#10;AI-generated content may be incorrect." id="1043" name="Google Shape;1043;p90"/>
          <p:cNvPicPr preferRelativeResize="0"/>
          <p:nvPr/>
        </p:nvPicPr>
        <p:blipFill rotWithShape="1">
          <a:blip r:embed="rId3">
            <a:alphaModFix/>
          </a:blip>
          <a:srcRect b="0" l="0" r="0" t="0"/>
          <a:stretch/>
        </p:blipFill>
        <p:spPr>
          <a:xfrm>
            <a:off x="4784105" y="1569030"/>
            <a:ext cx="5078068" cy="4484451"/>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9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A SIMPLE CHATBOT IN LESS THAN10 LINES</a:t>
            </a:r>
            <a:endParaRPr/>
          </a:p>
        </p:txBody>
      </p:sp>
      <p:sp>
        <p:nvSpPr>
          <p:cNvPr id="1049" name="Google Shape;1049;p91"/>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HuggingFace Spaces – for compute hardware</a:t>
            </a:r>
            <a:endParaRPr/>
          </a:p>
          <a:p>
            <a:pPr indent="-228600" lvl="0" marL="228600" rtl="0" algn="l">
              <a:lnSpc>
                <a:spcPct val="120000"/>
              </a:lnSpc>
              <a:spcBef>
                <a:spcPts val="1000"/>
              </a:spcBef>
              <a:spcAft>
                <a:spcPts val="0"/>
              </a:spcAft>
              <a:buSzPts val="2000"/>
              <a:buChar char="•"/>
            </a:pPr>
            <a:r>
              <a:rPr lang="en-US"/>
              <a:t>Python – for coding</a:t>
            </a:r>
            <a:endParaRPr/>
          </a:p>
          <a:p>
            <a:pPr indent="-228600" lvl="0" marL="228600" rtl="0" algn="l">
              <a:lnSpc>
                <a:spcPct val="120000"/>
              </a:lnSpc>
              <a:spcBef>
                <a:spcPts val="1000"/>
              </a:spcBef>
              <a:spcAft>
                <a:spcPts val="0"/>
              </a:spcAft>
              <a:buSzPts val="2000"/>
              <a:buChar char="•"/>
            </a:pPr>
            <a:r>
              <a:rPr lang="en-US"/>
              <a:t>HuggingFace Transformer library – for model</a:t>
            </a:r>
            <a:endParaRPr/>
          </a:p>
          <a:p>
            <a:pPr indent="-228600" lvl="0" marL="228600" rtl="0" algn="l">
              <a:lnSpc>
                <a:spcPct val="120000"/>
              </a:lnSpc>
              <a:spcBef>
                <a:spcPts val="1000"/>
              </a:spcBef>
              <a:spcAft>
                <a:spcPts val="0"/>
              </a:spcAft>
              <a:buSzPts val="2000"/>
              <a:buChar char="•"/>
            </a:pPr>
            <a:r>
              <a:rPr lang="en-US"/>
              <a:t>Gradio – for user interface</a:t>
            </a:r>
            <a:endParaRPr/>
          </a:p>
          <a:p>
            <a:pPr indent="-228600" lvl="0" marL="228600" rtl="0" algn="l">
              <a:lnSpc>
                <a:spcPct val="120000"/>
              </a:lnSpc>
              <a:spcBef>
                <a:spcPts val="1000"/>
              </a:spcBef>
              <a:spcAft>
                <a:spcPts val="0"/>
              </a:spcAft>
              <a:buSzPts val="2000"/>
              <a:buChar char="•"/>
            </a:pPr>
            <a:r>
              <a:rPr lang="en-US"/>
              <a:t>GPT2 – AI model</a:t>
            </a:r>
            <a:endParaRPr/>
          </a:p>
          <a:p>
            <a:pPr indent="-228600" lvl="0" marL="228600" rtl="0" algn="l">
              <a:lnSpc>
                <a:spcPct val="120000"/>
              </a:lnSpc>
              <a:spcBef>
                <a:spcPts val="1000"/>
              </a:spcBef>
              <a:spcAft>
                <a:spcPts val="0"/>
              </a:spcAft>
              <a:buSzPts val="2000"/>
              <a:buChar char="•"/>
            </a:pPr>
            <a:r>
              <a:rPr lang="en-US"/>
              <a:t>Task – Generate a short story starting with the words (text generation)</a:t>
            </a:r>
            <a:endParaRPr/>
          </a:p>
          <a:p>
            <a:pPr indent="-228600" lvl="0" marL="228600" rtl="0" algn="l">
              <a:lnSpc>
                <a:spcPct val="120000"/>
              </a:lnSpc>
              <a:spcBef>
                <a:spcPts val="1000"/>
              </a:spcBef>
              <a:spcAft>
                <a:spcPts val="0"/>
              </a:spcAft>
              <a:buSzPts val="2000"/>
              <a:buChar char="•"/>
            </a:pPr>
            <a:r>
              <a:rPr lang="en-US"/>
              <a:t>Max length of the story - customizable</a:t>
            </a:r>
            <a:endParaRPr/>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llery">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2020-03-19T22:53:09Z</dcterms:created>
  <dc:creator>Anand Joshi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fbee0dc-6f33-415c-b76b-0932324fc5a5_Enabled">
    <vt:lpwstr>true</vt:lpwstr>
  </property>
  <property fmtid="{D5CDD505-2E9C-101B-9397-08002B2CF9AE}" pid="3" name="MSIP_Label_dfbee0dc-6f33-415c-b76b-0932324fc5a5_SetDate">
    <vt:lpwstr>2025-02-27T04:26:32Z</vt:lpwstr>
  </property>
  <property fmtid="{D5CDD505-2E9C-101B-9397-08002B2CF9AE}" pid="4" name="MSIP_Label_dfbee0dc-6f33-415c-b76b-0932324fc5a5_Method">
    <vt:lpwstr>Standard</vt:lpwstr>
  </property>
  <property fmtid="{D5CDD505-2E9C-101B-9397-08002B2CF9AE}" pid="5" name="MSIP_Label_dfbee0dc-6f33-415c-b76b-0932324fc5a5_Name">
    <vt:lpwstr>defa4170-0d19-0005-0004-bc88714345d2</vt:lpwstr>
  </property>
  <property fmtid="{D5CDD505-2E9C-101B-9397-08002B2CF9AE}" pid="6" name="MSIP_Label_dfbee0dc-6f33-415c-b76b-0932324fc5a5_SiteId">
    <vt:lpwstr>31ef0b60-afc5-4125-80a5-2b4ee289e2d7</vt:lpwstr>
  </property>
  <property fmtid="{D5CDD505-2E9C-101B-9397-08002B2CF9AE}" pid="7" name="MSIP_Label_dfbee0dc-6f33-415c-b76b-0932324fc5a5_ActionId">
    <vt:lpwstr>741344ab-6042-4f41-8a50-e223f7bf7341</vt:lpwstr>
  </property>
  <property fmtid="{D5CDD505-2E9C-101B-9397-08002B2CF9AE}" pid="8" name="MSIP_Label_dfbee0dc-6f33-415c-b76b-0932324fc5a5_ContentBits">
    <vt:lpwstr>0</vt:lpwstr>
  </property>
  <property fmtid="{D5CDD505-2E9C-101B-9397-08002B2CF9AE}" pid="9" name="MSIP_Label_dfbee0dc-6f33-415c-b76b-0932324fc5a5_Tag">
    <vt:lpwstr>50, 3, 0, 1</vt:lpwstr>
  </property>
</Properties>
</file>