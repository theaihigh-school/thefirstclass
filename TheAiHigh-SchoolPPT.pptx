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5" r:id="rId1"/>
  </p:sldMasterIdLst>
  <p:notesMasterIdLst>
    <p:notesMasterId r:id="rId13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9"/>
    <p:restoredTop sz="94641"/>
  </p:normalViewPr>
  <p:slideViewPr>
    <p:cSldViewPr snapToGrid="0">
      <p:cViewPr varScale="1">
        <p:scale>
          <a:sx n="142" d="100"/>
          <a:sy n="142" d="100"/>
        </p:scale>
        <p:origin x="69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19A32B-5AAF-4C44-AEA4-FFA4FACAFB03}" type="doc">
      <dgm:prSet loTypeId="urn:microsoft.com/office/officeart/2005/8/layout/arrow2" loCatId="" qsTypeId="urn:microsoft.com/office/officeart/2005/8/quickstyle/simple1" qsCatId="simple" csTypeId="urn:microsoft.com/office/officeart/2005/8/colors/accent1_2" csCatId="accent1" phldr="1"/>
      <dgm:spPr/>
    </dgm:pt>
    <dgm:pt modelId="{946EF590-827A-7E4E-8CB9-770AC36BBE91}">
      <dgm:prSet phldrT="[Text]" custT="1"/>
      <dgm:spPr/>
      <dgm:t>
        <a:bodyPr/>
        <a:lstStyle/>
        <a:p>
          <a:r>
            <a:rPr lang="en-US" sz="2000" dirty="0"/>
            <a:t>Mathematics</a:t>
          </a:r>
        </a:p>
      </dgm:t>
    </dgm:pt>
    <dgm:pt modelId="{AC058C77-077A-034D-B73D-59735F37A155}" type="parTrans" cxnId="{F3752CDF-7CAF-904D-AE06-AA0E898436A2}">
      <dgm:prSet/>
      <dgm:spPr/>
      <dgm:t>
        <a:bodyPr/>
        <a:lstStyle/>
        <a:p>
          <a:endParaRPr lang="en-US" sz="800"/>
        </a:p>
      </dgm:t>
    </dgm:pt>
    <dgm:pt modelId="{74DC6958-EF18-6643-A1AC-F9D7FF30CDAC}" type="sibTrans" cxnId="{F3752CDF-7CAF-904D-AE06-AA0E898436A2}">
      <dgm:prSet/>
      <dgm:spPr/>
      <dgm:t>
        <a:bodyPr/>
        <a:lstStyle/>
        <a:p>
          <a:endParaRPr lang="en-US" sz="800"/>
        </a:p>
      </dgm:t>
    </dgm:pt>
    <dgm:pt modelId="{5E543478-8B9A-5848-A678-F85EB5CB56E0}">
      <dgm:prSet phldrT="[Text]" custT="1"/>
      <dgm:spPr/>
      <dgm:t>
        <a:bodyPr/>
        <a:lstStyle/>
        <a:p>
          <a:r>
            <a:rPr lang="en-US" sz="1800" dirty="0"/>
            <a:t>Intelligence</a:t>
          </a:r>
        </a:p>
      </dgm:t>
    </dgm:pt>
    <dgm:pt modelId="{B6363ADE-12D0-E841-BA47-1EDD479E08D4}" type="parTrans" cxnId="{F8EFB921-1F7A-F243-A939-6A75A323078B}">
      <dgm:prSet/>
      <dgm:spPr/>
      <dgm:t>
        <a:bodyPr/>
        <a:lstStyle/>
        <a:p>
          <a:endParaRPr lang="en-US" sz="800"/>
        </a:p>
      </dgm:t>
    </dgm:pt>
    <dgm:pt modelId="{D5D3310F-E403-6843-BC86-F69D98FE462A}" type="sibTrans" cxnId="{F8EFB921-1F7A-F243-A939-6A75A323078B}">
      <dgm:prSet/>
      <dgm:spPr/>
      <dgm:t>
        <a:bodyPr/>
        <a:lstStyle/>
        <a:p>
          <a:endParaRPr lang="en-US" sz="800"/>
        </a:p>
      </dgm:t>
    </dgm:pt>
    <dgm:pt modelId="{5BFEC9F3-5C40-AD46-A0D9-5BA99F2BC91A}">
      <dgm:prSet phldrT="[Text]" custT="1"/>
      <dgm:spPr/>
      <dgm:t>
        <a:bodyPr/>
        <a:lstStyle/>
        <a:p>
          <a:r>
            <a:rPr lang="en-US" sz="1800" dirty="0"/>
            <a:t>Neural Networks</a:t>
          </a:r>
        </a:p>
      </dgm:t>
    </dgm:pt>
    <dgm:pt modelId="{30EA343D-6DEB-7749-97AB-D69D5DEF668D}" type="parTrans" cxnId="{3C59E7BD-52A0-DB4B-8207-A820D5232234}">
      <dgm:prSet/>
      <dgm:spPr/>
      <dgm:t>
        <a:bodyPr/>
        <a:lstStyle/>
        <a:p>
          <a:endParaRPr lang="en-US" sz="800"/>
        </a:p>
      </dgm:t>
    </dgm:pt>
    <dgm:pt modelId="{407BD380-03BE-EC41-8F07-13FFAFCB82E7}" type="sibTrans" cxnId="{3C59E7BD-52A0-DB4B-8207-A820D5232234}">
      <dgm:prSet/>
      <dgm:spPr/>
      <dgm:t>
        <a:bodyPr/>
        <a:lstStyle/>
        <a:p>
          <a:endParaRPr lang="en-US" sz="800"/>
        </a:p>
      </dgm:t>
    </dgm:pt>
    <dgm:pt modelId="{324189A5-C099-714D-AE1B-6BCD3A4A8EFB}" type="pres">
      <dgm:prSet presAssocID="{1219A32B-5AAF-4C44-AEA4-FFA4FACAFB03}" presName="arrowDiagram" presStyleCnt="0">
        <dgm:presLayoutVars>
          <dgm:chMax val="5"/>
          <dgm:dir/>
          <dgm:resizeHandles val="exact"/>
        </dgm:presLayoutVars>
      </dgm:prSet>
      <dgm:spPr/>
    </dgm:pt>
    <dgm:pt modelId="{D22B98CC-564F-034E-8D4B-A37D79188A40}" type="pres">
      <dgm:prSet presAssocID="{1219A32B-5AAF-4C44-AEA4-FFA4FACAFB03}" presName="arrow" presStyleLbl="bgShp" presStyleIdx="0" presStyleCnt="1"/>
      <dgm:spPr/>
    </dgm:pt>
    <dgm:pt modelId="{F267BF65-DE64-E049-89DA-76F874985AE3}" type="pres">
      <dgm:prSet presAssocID="{1219A32B-5AAF-4C44-AEA4-FFA4FACAFB03}" presName="arrowDiagram3" presStyleCnt="0"/>
      <dgm:spPr/>
    </dgm:pt>
    <dgm:pt modelId="{FC35ADFD-835E-C64B-8F14-86EB0A3CF0EC}" type="pres">
      <dgm:prSet presAssocID="{946EF590-827A-7E4E-8CB9-770AC36BBE91}" presName="bullet3a" presStyleLbl="node1" presStyleIdx="0" presStyleCnt="3"/>
      <dgm:spPr/>
    </dgm:pt>
    <dgm:pt modelId="{92F3DF0C-0F08-6B49-A875-6E4B41CC81BF}" type="pres">
      <dgm:prSet presAssocID="{946EF590-827A-7E4E-8CB9-770AC36BBE91}" presName="textBox3a" presStyleLbl="revTx" presStyleIdx="0" presStyleCnt="3">
        <dgm:presLayoutVars>
          <dgm:bulletEnabled val="1"/>
        </dgm:presLayoutVars>
      </dgm:prSet>
      <dgm:spPr/>
    </dgm:pt>
    <dgm:pt modelId="{E7782ABF-DA9D-B946-8B0D-E8331EEC61CD}" type="pres">
      <dgm:prSet presAssocID="{5E543478-8B9A-5848-A678-F85EB5CB56E0}" presName="bullet3b" presStyleLbl="node1" presStyleIdx="1" presStyleCnt="3"/>
      <dgm:spPr/>
    </dgm:pt>
    <dgm:pt modelId="{99D4AE0B-1EEF-424A-BF62-965392C98DD8}" type="pres">
      <dgm:prSet presAssocID="{5E543478-8B9A-5848-A678-F85EB5CB56E0}" presName="textBox3b" presStyleLbl="revTx" presStyleIdx="1" presStyleCnt="3">
        <dgm:presLayoutVars>
          <dgm:bulletEnabled val="1"/>
        </dgm:presLayoutVars>
      </dgm:prSet>
      <dgm:spPr/>
    </dgm:pt>
    <dgm:pt modelId="{7F680428-CFE3-534C-898C-2292137175D0}" type="pres">
      <dgm:prSet presAssocID="{5BFEC9F3-5C40-AD46-A0D9-5BA99F2BC91A}" presName="bullet3c" presStyleLbl="node1" presStyleIdx="2" presStyleCnt="3"/>
      <dgm:spPr/>
    </dgm:pt>
    <dgm:pt modelId="{1EC14729-D906-A540-B093-A10F6C1D736C}" type="pres">
      <dgm:prSet presAssocID="{5BFEC9F3-5C40-AD46-A0D9-5BA99F2BC91A}" presName="textBox3c" presStyleLbl="revTx" presStyleIdx="2" presStyleCnt="3">
        <dgm:presLayoutVars>
          <dgm:bulletEnabled val="1"/>
        </dgm:presLayoutVars>
      </dgm:prSet>
      <dgm:spPr/>
    </dgm:pt>
  </dgm:ptLst>
  <dgm:cxnLst>
    <dgm:cxn modelId="{E0A18C18-3580-0243-AF22-2736F0DEE4C7}" type="presOf" srcId="{946EF590-827A-7E4E-8CB9-770AC36BBE91}" destId="{92F3DF0C-0F08-6B49-A875-6E4B41CC81BF}" srcOrd="0" destOrd="0" presId="urn:microsoft.com/office/officeart/2005/8/layout/arrow2"/>
    <dgm:cxn modelId="{F8EFB921-1F7A-F243-A939-6A75A323078B}" srcId="{1219A32B-5AAF-4C44-AEA4-FFA4FACAFB03}" destId="{5E543478-8B9A-5848-A678-F85EB5CB56E0}" srcOrd="1" destOrd="0" parTransId="{B6363ADE-12D0-E841-BA47-1EDD479E08D4}" sibTransId="{D5D3310F-E403-6843-BC86-F69D98FE462A}"/>
    <dgm:cxn modelId="{B076026B-855F-7A49-BE6C-FA82730BDBAE}" type="presOf" srcId="{5BFEC9F3-5C40-AD46-A0D9-5BA99F2BC91A}" destId="{1EC14729-D906-A540-B093-A10F6C1D736C}" srcOrd="0" destOrd="0" presId="urn:microsoft.com/office/officeart/2005/8/layout/arrow2"/>
    <dgm:cxn modelId="{887E6576-927C-9F42-9195-6D81ADB0EBE7}" type="presOf" srcId="{1219A32B-5AAF-4C44-AEA4-FFA4FACAFB03}" destId="{324189A5-C099-714D-AE1B-6BCD3A4A8EFB}" srcOrd="0" destOrd="0" presId="urn:microsoft.com/office/officeart/2005/8/layout/arrow2"/>
    <dgm:cxn modelId="{3C59E7BD-52A0-DB4B-8207-A820D5232234}" srcId="{1219A32B-5AAF-4C44-AEA4-FFA4FACAFB03}" destId="{5BFEC9F3-5C40-AD46-A0D9-5BA99F2BC91A}" srcOrd="2" destOrd="0" parTransId="{30EA343D-6DEB-7749-97AB-D69D5DEF668D}" sibTransId="{407BD380-03BE-EC41-8F07-13FFAFCB82E7}"/>
    <dgm:cxn modelId="{F3752CDF-7CAF-904D-AE06-AA0E898436A2}" srcId="{1219A32B-5AAF-4C44-AEA4-FFA4FACAFB03}" destId="{946EF590-827A-7E4E-8CB9-770AC36BBE91}" srcOrd="0" destOrd="0" parTransId="{AC058C77-077A-034D-B73D-59735F37A155}" sibTransId="{74DC6958-EF18-6643-A1AC-F9D7FF30CDAC}"/>
    <dgm:cxn modelId="{AE37AFEC-C4A0-8349-9687-0C1598130DFF}" type="presOf" srcId="{5E543478-8B9A-5848-A678-F85EB5CB56E0}" destId="{99D4AE0B-1EEF-424A-BF62-965392C98DD8}" srcOrd="0" destOrd="0" presId="urn:microsoft.com/office/officeart/2005/8/layout/arrow2"/>
    <dgm:cxn modelId="{2806B409-E167-6B4D-BC71-21E5A83E1C2A}" type="presParOf" srcId="{324189A5-C099-714D-AE1B-6BCD3A4A8EFB}" destId="{D22B98CC-564F-034E-8D4B-A37D79188A40}" srcOrd="0" destOrd="0" presId="urn:microsoft.com/office/officeart/2005/8/layout/arrow2"/>
    <dgm:cxn modelId="{85E0AA76-148C-D54D-8CD6-FA227B10D425}" type="presParOf" srcId="{324189A5-C099-714D-AE1B-6BCD3A4A8EFB}" destId="{F267BF65-DE64-E049-89DA-76F874985AE3}" srcOrd="1" destOrd="0" presId="urn:microsoft.com/office/officeart/2005/8/layout/arrow2"/>
    <dgm:cxn modelId="{B1932179-FE60-CE45-B88B-C894359E8BD3}" type="presParOf" srcId="{F267BF65-DE64-E049-89DA-76F874985AE3}" destId="{FC35ADFD-835E-C64B-8F14-86EB0A3CF0EC}" srcOrd="0" destOrd="0" presId="urn:microsoft.com/office/officeart/2005/8/layout/arrow2"/>
    <dgm:cxn modelId="{30FD1503-167E-CC40-8AC3-24FDBDB14EAA}" type="presParOf" srcId="{F267BF65-DE64-E049-89DA-76F874985AE3}" destId="{92F3DF0C-0F08-6B49-A875-6E4B41CC81BF}" srcOrd="1" destOrd="0" presId="urn:microsoft.com/office/officeart/2005/8/layout/arrow2"/>
    <dgm:cxn modelId="{01C1D02D-24EE-FF41-9FC2-D00451E6E5D3}" type="presParOf" srcId="{F267BF65-DE64-E049-89DA-76F874985AE3}" destId="{E7782ABF-DA9D-B946-8B0D-E8331EEC61CD}" srcOrd="2" destOrd="0" presId="urn:microsoft.com/office/officeart/2005/8/layout/arrow2"/>
    <dgm:cxn modelId="{837D9B1A-623C-FA4B-B6FA-749CF3F28A82}" type="presParOf" srcId="{F267BF65-DE64-E049-89DA-76F874985AE3}" destId="{99D4AE0B-1EEF-424A-BF62-965392C98DD8}" srcOrd="3" destOrd="0" presId="urn:microsoft.com/office/officeart/2005/8/layout/arrow2"/>
    <dgm:cxn modelId="{B938E368-3C79-BE46-B854-1BF82390AFF6}" type="presParOf" srcId="{F267BF65-DE64-E049-89DA-76F874985AE3}" destId="{7F680428-CFE3-534C-898C-2292137175D0}" srcOrd="4" destOrd="0" presId="urn:microsoft.com/office/officeart/2005/8/layout/arrow2"/>
    <dgm:cxn modelId="{778688D5-7362-B443-AABD-A7388D479FD4}" type="presParOf" srcId="{F267BF65-DE64-E049-89DA-76F874985AE3}" destId="{1EC14729-D906-A540-B093-A10F6C1D736C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19A32B-5AAF-4C44-AEA4-FFA4FACAFB03}" type="doc">
      <dgm:prSet loTypeId="urn:microsoft.com/office/officeart/2005/8/layout/arrow2" loCatId="" qsTypeId="urn:microsoft.com/office/officeart/2005/8/quickstyle/simple1" qsCatId="simple" csTypeId="urn:microsoft.com/office/officeart/2005/8/colors/accent1_2" csCatId="accent1" phldr="1"/>
      <dgm:spPr/>
    </dgm:pt>
    <dgm:pt modelId="{946EF590-827A-7E4E-8CB9-770AC36BBE91}">
      <dgm:prSet phldrT="[Text]" custT="1"/>
      <dgm:spPr/>
      <dgm:t>
        <a:bodyPr/>
        <a:lstStyle/>
        <a:p>
          <a:r>
            <a:rPr lang="en-US" sz="2000" dirty="0"/>
            <a:t>Data and Model</a:t>
          </a:r>
        </a:p>
      </dgm:t>
    </dgm:pt>
    <dgm:pt modelId="{AC058C77-077A-034D-B73D-59735F37A155}" type="parTrans" cxnId="{F3752CDF-7CAF-904D-AE06-AA0E898436A2}">
      <dgm:prSet/>
      <dgm:spPr/>
      <dgm:t>
        <a:bodyPr/>
        <a:lstStyle/>
        <a:p>
          <a:endParaRPr lang="en-US" sz="800"/>
        </a:p>
      </dgm:t>
    </dgm:pt>
    <dgm:pt modelId="{74DC6958-EF18-6643-A1AC-F9D7FF30CDAC}" type="sibTrans" cxnId="{F3752CDF-7CAF-904D-AE06-AA0E898436A2}">
      <dgm:prSet/>
      <dgm:spPr/>
      <dgm:t>
        <a:bodyPr/>
        <a:lstStyle/>
        <a:p>
          <a:endParaRPr lang="en-US" sz="800"/>
        </a:p>
      </dgm:t>
    </dgm:pt>
    <dgm:pt modelId="{5E543478-8B9A-5848-A678-F85EB5CB56E0}">
      <dgm:prSet phldrT="[Text]" custT="1"/>
      <dgm:spPr/>
      <dgm:t>
        <a:bodyPr/>
        <a:lstStyle/>
        <a:p>
          <a:r>
            <a:rPr lang="en-US" sz="1800" dirty="0"/>
            <a:t>App pipeline</a:t>
          </a:r>
        </a:p>
      </dgm:t>
    </dgm:pt>
    <dgm:pt modelId="{B6363ADE-12D0-E841-BA47-1EDD479E08D4}" type="parTrans" cxnId="{F8EFB921-1F7A-F243-A939-6A75A323078B}">
      <dgm:prSet/>
      <dgm:spPr/>
      <dgm:t>
        <a:bodyPr/>
        <a:lstStyle/>
        <a:p>
          <a:endParaRPr lang="en-US" sz="800"/>
        </a:p>
      </dgm:t>
    </dgm:pt>
    <dgm:pt modelId="{D5D3310F-E403-6843-BC86-F69D98FE462A}" type="sibTrans" cxnId="{F8EFB921-1F7A-F243-A939-6A75A323078B}">
      <dgm:prSet/>
      <dgm:spPr/>
      <dgm:t>
        <a:bodyPr/>
        <a:lstStyle/>
        <a:p>
          <a:endParaRPr lang="en-US" sz="800"/>
        </a:p>
      </dgm:t>
    </dgm:pt>
    <dgm:pt modelId="{5BFEC9F3-5C40-AD46-A0D9-5BA99F2BC91A}">
      <dgm:prSet phldrT="[Text]" custT="1"/>
      <dgm:spPr/>
      <dgm:t>
        <a:bodyPr/>
        <a:lstStyle/>
        <a:p>
          <a:r>
            <a:rPr lang="en-US" sz="1800" dirty="0"/>
            <a:t>Practical World Usage</a:t>
          </a:r>
        </a:p>
      </dgm:t>
    </dgm:pt>
    <dgm:pt modelId="{30EA343D-6DEB-7749-97AB-D69D5DEF668D}" type="parTrans" cxnId="{3C59E7BD-52A0-DB4B-8207-A820D5232234}">
      <dgm:prSet/>
      <dgm:spPr/>
      <dgm:t>
        <a:bodyPr/>
        <a:lstStyle/>
        <a:p>
          <a:endParaRPr lang="en-US" sz="800"/>
        </a:p>
      </dgm:t>
    </dgm:pt>
    <dgm:pt modelId="{407BD380-03BE-EC41-8F07-13FFAFCB82E7}" type="sibTrans" cxnId="{3C59E7BD-52A0-DB4B-8207-A820D5232234}">
      <dgm:prSet/>
      <dgm:spPr/>
      <dgm:t>
        <a:bodyPr/>
        <a:lstStyle/>
        <a:p>
          <a:endParaRPr lang="en-US" sz="800"/>
        </a:p>
      </dgm:t>
    </dgm:pt>
    <dgm:pt modelId="{324189A5-C099-714D-AE1B-6BCD3A4A8EFB}" type="pres">
      <dgm:prSet presAssocID="{1219A32B-5AAF-4C44-AEA4-FFA4FACAFB03}" presName="arrowDiagram" presStyleCnt="0">
        <dgm:presLayoutVars>
          <dgm:chMax val="5"/>
          <dgm:dir/>
          <dgm:resizeHandles val="exact"/>
        </dgm:presLayoutVars>
      </dgm:prSet>
      <dgm:spPr/>
    </dgm:pt>
    <dgm:pt modelId="{D22B98CC-564F-034E-8D4B-A37D79188A40}" type="pres">
      <dgm:prSet presAssocID="{1219A32B-5AAF-4C44-AEA4-FFA4FACAFB03}" presName="arrow" presStyleLbl="bgShp" presStyleIdx="0" presStyleCnt="1"/>
      <dgm:spPr/>
    </dgm:pt>
    <dgm:pt modelId="{F267BF65-DE64-E049-89DA-76F874985AE3}" type="pres">
      <dgm:prSet presAssocID="{1219A32B-5AAF-4C44-AEA4-FFA4FACAFB03}" presName="arrowDiagram3" presStyleCnt="0"/>
      <dgm:spPr/>
    </dgm:pt>
    <dgm:pt modelId="{FC35ADFD-835E-C64B-8F14-86EB0A3CF0EC}" type="pres">
      <dgm:prSet presAssocID="{946EF590-827A-7E4E-8CB9-770AC36BBE91}" presName="bullet3a" presStyleLbl="node1" presStyleIdx="0" presStyleCnt="3"/>
      <dgm:spPr/>
    </dgm:pt>
    <dgm:pt modelId="{92F3DF0C-0F08-6B49-A875-6E4B41CC81BF}" type="pres">
      <dgm:prSet presAssocID="{946EF590-827A-7E4E-8CB9-770AC36BBE91}" presName="textBox3a" presStyleLbl="revTx" presStyleIdx="0" presStyleCnt="3">
        <dgm:presLayoutVars>
          <dgm:bulletEnabled val="1"/>
        </dgm:presLayoutVars>
      </dgm:prSet>
      <dgm:spPr/>
    </dgm:pt>
    <dgm:pt modelId="{E7782ABF-DA9D-B946-8B0D-E8331EEC61CD}" type="pres">
      <dgm:prSet presAssocID="{5E543478-8B9A-5848-A678-F85EB5CB56E0}" presName="bullet3b" presStyleLbl="node1" presStyleIdx="1" presStyleCnt="3"/>
      <dgm:spPr/>
    </dgm:pt>
    <dgm:pt modelId="{99D4AE0B-1EEF-424A-BF62-965392C98DD8}" type="pres">
      <dgm:prSet presAssocID="{5E543478-8B9A-5848-A678-F85EB5CB56E0}" presName="textBox3b" presStyleLbl="revTx" presStyleIdx="1" presStyleCnt="3">
        <dgm:presLayoutVars>
          <dgm:bulletEnabled val="1"/>
        </dgm:presLayoutVars>
      </dgm:prSet>
      <dgm:spPr/>
    </dgm:pt>
    <dgm:pt modelId="{7F680428-CFE3-534C-898C-2292137175D0}" type="pres">
      <dgm:prSet presAssocID="{5BFEC9F3-5C40-AD46-A0D9-5BA99F2BC91A}" presName="bullet3c" presStyleLbl="node1" presStyleIdx="2" presStyleCnt="3"/>
      <dgm:spPr/>
    </dgm:pt>
    <dgm:pt modelId="{1EC14729-D906-A540-B093-A10F6C1D736C}" type="pres">
      <dgm:prSet presAssocID="{5BFEC9F3-5C40-AD46-A0D9-5BA99F2BC91A}" presName="textBox3c" presStyleLbl="revTx" presStyleIdx="2" presStyleCnt="3">
        <dgm:presLayoutVars>
          <dgm:bulletEnabled val="1"/>
        </dgm:presLayoutVars>
      </dgm:prSet>
      <dgm:spPr/>
    </dgm:pt>
  </dgm:ptLst>
  <dgm:cxnLst>
    <dgm:cxn modelId="{E0A18C18-3580-0243-AF22-2736F0DEE4C7}" type="presOf" srcId="{946EF590-827A-7E4E-8CB9-770AC36BBE91}" destId="{92F3DF0C-0F08-6B49-A875-6E4B41CC81BF}" srcOrd="0" destOrd="0" presId="urn:microsoft.com/office/officeart/2005/8/layout/arrow2"/>
    <dgm:cxn modelId="{F8EFB921-1F7A-F243-A939-6A75A323078B}" srcId="{1219A32B-5AAF-4C44-AEA4-FFA4FACAFB03}" destId="{5E543478-8B9A-5848-A678-F85EB5CB56E0}" srcOrd="1" destOrd="0" parTransId="{B6363ADE-12D0-E841-BA47-1EDD479E08D4}" sibTransId="{D5D3310F-E403-6843-BC86-F69D98FE462A}"/>
    <dgm:cxn modelId="{B076026B-855F-7A49-BE6C-FA82730BDBAE}" type="presOf" srcId="{5BFEC9F3-5C40-AD46-A0D9-5BA99F2BC91A}" destId="{1EC14729-D906-A540-B093-A10F6C1D736C}" srcOrd="0" destOrd="0" presId="urn:microsoft.com/office/officeart/2005/8/layout/arrow2"/>
    <dgm:cxn modelId="{887E6576-927C-9F42-9195-6D81ADB0EBE7}" type="presOf" srcId="{1219A32B-5AAF-4C44-AEA4-FFA4FACAFB03}" destId="{324189A5-C099-714D-AE1B-6BCD3A4A8EFB}" srcOrd="0" destOrd="0" presId="urn:microsoft.com/office/officeart/2005/8/layout/arrow2"/>
    <dgm:cxn modelId="{3C59E7BD-52A0-DB4B-8207-A820D5232234}" srcId="{1219A32B-5AAF-4C44-AEA4-FFA4FACAFB03}" destId="{5BFEC9F3-5C40-AD46-A0D9-5BA99F2BC91A}" srcOrd="2" destOrd="0" parTransId="{30EA343D-6DEB-7749-97AB-D69D5DEF668D}" sibTransId="{407BD380-03BE-EC41-8F07-13FFAFCB82E7}"/>
    <dgm:cxn modelId="{F3752CDF-7CAF-904D-AE06-AA0E898436A2}" srcId="{1219A32B-5AAF-4C44-AEA4-FFA4FACAFB03}" destId="{946EF590-827A-7E4E-8CB9-770AC36BBE91}" srcOrd="0" destOrd="0" parTransId="{AC058C77-077A-034D-B73D-59735F37A155}" sibTransId="{74DC6958-EF18-6643-A1AC-F9D7FF30CDAC}"/>
    <dgm:cxn modelId="{AE37AFEC-C4A0-8349-9687-0C1598130DFF}" type="presOf" srcId="{5E543478-8B9A-5848-A678-F85EB5CB56E0}" destId="{99D4AE0B-1EEF-424A-BF62-965392C98DD8}" srcOrd="0" destOrd="0" presId="urn:microsoft.com/office/officeart/2005/8/layout/arrow2"/>
    <dgm:cxn modelId="{2806B409-E167-6B4D-BC71-21E5A83E1C2A}" type="presParOf" srcId="{324189A5-C099-714D-AE1B-6BCD3A4A8EFB}" destId="{D22B98CC-564F-034E-8D4B-A37D79188A40}" srcOrd="0" destOrd="0" presId="urn:microsoft.com/office/officeart/2005/8/layout/arrow2"/>
    <dgm:cxn modelId="{85E0AA76-148C-D54D-8CD6-FA227B10D425}" type="presParOf" srcId="{324189A5-C099-714D-AE1B-6BCD3A4A8EFB}" destId="{F267BF65-DE64-E049-89DA-76F874985AE3}" srcOrd="1" destOrd="0" presId="urn:microsoft.com/office/officeart/2005/8/layout/arrow2"/>
    <dgm:cxn modelId="{B1932179-FE60-CE45-B88B-C894359E8BD3}" type="presParOf" srcId="{F267BF65-DE64-E049-89DA-76F874985AE3}" destId="{FC35ADFD-835E-C64B-8F14-86EB0A3CF0EC}" srcOrd="0" destOrd="0" presId="urn:microsoft.com/office/officeart/2005/8/layout/arrow2"/>
    <dgm:cxn modelId="{30FD1503-167E-CC40-8AC3-24FDBDB14EAA}" type="presParOf" srcId="{F267BF65-DE64-E049-89DA-76F874985AE3}" destId="{92F3DF0C-0F08-6B49-A875-6E4B41CC81BF}" srcOrd="1" destOrd="0" presId="urn:microsoft.com/office/officeart/2005/8/layout/arrow2"/>
    <dgm:cxn modelId="{01C1D02D-24EE-FF41-9FC2-D00451E6E5D3}" type="presParOf" srcId="{F267BF65-DE64-E049-89DA-76F874985AE3}" destId="{E7782ABF-DA9D-B946-8B0D-E8331EEC61CD}" srcOrd="2" destOrd="0" presId="urn:microsoft.com/office/officeart/2005/8/layout/arrow2"/>
    <dgm:cxn modelId="{837D9B1A-623C-FA4B-B6FA-749CF3F28A82}" type="presParOf" srcId="{F267BF65-DE64-E049-89DA-76F874985AE3}" destId="{99D4AE0B-1EEF-424A-BF62-965392C98DD8}" srcOrd="3" destOrd="0" presId="urn:microsoft.com/office/officeart/2005/8/layout/arrow2"/>
    <dgm:cxn modelId="{B938E368-3C79-BE46-B854-1BF82390AFF6}" type="presParOf" srcId="{F267BF65-DE64-E049-89DA-76F874985AE3}" destId="{7F680428-CFE3-534C-898C-2292137175D0}" srcOrd="4" destOrd="0" presId="urn:microsoft.com/office/officeart/2005/8/layout/arrow2"/>
    <dgm:cxn modelId="{778688D5-7362-B443-AABD-A7388D479FD4}" type="presParOf" srcId="{F267BF65-DE64-E049-89DA-76F874985AE3}" destId="{1EC14729-D906-A540-B093-A10F6C1D736C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2B98CC-564F-034E-8D4B-A37D79188A40}">
      <dsp:nvSpPr>
        <dsp:cNvPr id="0" name=""/>
        <dsp:cNvSpPr/>
      </dsp:nvSpPr>
      <dsp:spPr>
        <a:xfrm>
          <a:off x="0" y="106962"/>
          <a:ext cx="6586308" cy="4116442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35ADFD-835E-C64B-8F14-86EB0A3CF0EC}">
      <dsp:nvSpPr>
        <dsp:cNvPr id="0" name=""/>
        <dsp:cNvSpPr/>
      </dsp:nvSpPr>
      <dsp:spPr>
        <a:xfrm>
          <a:off x="836461" y="2948131"/>
          <a:ext cx="171244" cy="171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F3DF0C-0F08-6B49-A875-6E4B41CC81BF}">
      <dsp:nvSpPr>
        <dsp:cNvPr id="0" name=""/>
        <dsp:cNvSpPr/>
      </dsp:nvSpPr>
      <dsp:spPr>
        <a:xfrm>
          <a:off x="922083" y="3033753"/>
          <a:ext cx="1534609" cy="1189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739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Mathematics</a:t>
          </a:r>
        </a:p>
      </dsp:txBody>
      <dsp:txXfrm>
        <a:off x="922083" y="3033753"/>
        <a:ext cx="1534609" cy="1189651"/>
      </dsp:txXfrm>
    </dsp:sp>
    <dsp:sp modelId="{E7782ABF-DA9D-B946-8B0D-E8331EEC61CD}">
      <dsp:nvSpPr>
        <dsp:cNvPr id="0" name=""/>
        <dsp:cNvSpPr/>
      </dsp:nvSpPr>
      <dsp:spPr>
        <a:xfrm>
          <a:off x="2348018" y="1829282"/>
          <a:ext cx="309556" cy="3095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D4AE0B-1EEF-424A-BF62-965392C98DD8}">
      <dsp:nvSpPr>
        <dsp:cNvPr id="0" name=""/>
        <dsp:cNvSpPr/>
      </dsp:nvSpPr>
      <dsp:spPr>
        <a:xfrm>
          <a:off x="2502797" y="1984060"/>
          <a:ext cx="1580713" cy="2239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028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Intelligence</a:t>
          </a:r>
        </a:p>
      </dsp:txBody>
      <dsp:txXfrm>
        <a:off x="2502797" y="1984060"/>
        <a:ext cx="1580713" cy="2239344"/>
      </dsp:txXfrm>
    </dsp:sp>
    <dsp:sp modelId="{7F680428-CFE3-534C-898C-2292137175D0}">
      <dsp:nvSpPr>
        <dsp:cNvPr id="0" name=""/>
        <dsp:cNvSpPr/>
      </dsp:nvSpPr>
      <dsp:spPr>
        <a:xfrm>
          <a:off x="4165839" y="1148422"/>
          <a:ext cx="428110" cy="4281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C14729-D906-A540-B093-A10F6C1D736C}">
      <dsp:nvSpPr>
        <dsp:cNvPr id="0" name=""/>
        <dsp:cNvSpPr/>
      </dsp:nvSpPr>
      <dsp:spPr>
        <a:xfrm>
          <a:off x="4379894" y="1362477"/>
          <a:ext cx="1580713" cy="2860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6847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Neural Networks</a:t>
          </a:r>
        </a:p>
      </dsp:txBody>
      <dsp:txXfrm>
        <a:off x="4379894" y="1362477"/>
        <a:ext cx="1580713" cy="28609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2B98CC-564F-034E-8D4B-A37D79188A40}">
      <dsp:nvSpPr>
        <dsp:cNvPr id="0" name=""/>
        <dsp:cNvSpPr/>
      </dsp:nvSpPr>
      <dsp:spPr>
        <a:xfrm>
          <a:off x="0" y="106962"/>
          <a:ext cx="6586308" cy="4116442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35ADFD-835E-C64B-8F14-86EB0A3CF0EC}">
      <dsp:nvSpPr>
        <dsp:cNvPr id="0" name=""/>
        <dsp:cNvSpPr/>
      </dsp:nvSpPr>
      <dsp:spPr>
        <a:xfrm>
          <a:off x="836461" y="2948131"/>
          <a:ext cx="171244" cy="171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F3DF0C-0F08-6B49-A875-6E4B41CC81BF}">
      <dsp:nvSpPr>
        <dsp:cNvPr id="0" name=""/>
        <dsp:cNvSpPr/>
      </dsp:nvSpPr>
      <dsp:spPr>
        <a:xfrm>
          <a:off x="922083" y="3033753"/>
          <a:ext cx="1534609" cy="1189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739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 and Model</a:t>
          </a:r>
        </a:p>
      </dsp:txBody>
      <dsp:txXfrm>
        <a:off x="922083" y="3033753"/>
        <a:ext cx="1534609" cy="1189651"/>
      </dsp:txXfrm>
    </dsp:sp>
    <dsp:sp modelId="{E7782ABF-DA9D-B946-8B0D-E8331EEC61CD}">
      <dsp:nvSpPr>
        <dsp:cNvPr id="0" name=""/>
        <dsp:cNvSpPr/>
      </dsp:nvSpPr>
      <dsp:spPr>
        <a:xfrm>
          <a:off x="2348018" y="1829282"/>
          <a:ext cx="309556" cy="3095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D4AE0B-1EEF-424A-BF62-965392C98DD8}">
      <dsp:nvSpPr>
        <dsp:cNvPr id="0" name=""/>
        <dsp:cNvSpPr/>
      </dsp:nvSpPr>
      <dsp:spPr>
        <a:xfrm>
          <a:off x="2502797" y="1984060"/>
          <a:ext cx="1580713" cy="2239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028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App pipeline</a:t>
          </a:r>
        </a:p>
      </dsp:txBody>
      <dsp:txXfrm>
        <a:off x="2502797" y="1984060"/>
        <a:ext cx="1580713" cy="2239344"/>
      </dsp:txXfrm>
    </dsp:sp>
    <dsp:sp modelId="{7F680428-CFE3-534C-898C-2292137175D0}">
      <dsp:nvSpPr>
        <dsp:cNvPr id="0" name=""/>
        <dsp:cNvSpPr/>
      </dsp:nvSpPr>
      <dsp:spPr>
        <a:xfrm>
          <a:off x="4165839" y="1148422"/>
          <a:ext cx="428110" cy="4281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C14729-D906-A540-B093-A10F6C1D736C}">
      <dsp:nvSpPr>
        <dsp:cNvPr id="0" name=""/>
        <dsp:cNvSpPr/>
      </dsp:nvSpPr>
      <dsp:spPr>
        <a:xfrm>
          <a:off x="4379894" y="1362477"/>
          <a:ext cx="1580713" cy="2860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6847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Practical World Usage</a:t>
          </a:r>
        </a:p>
      </dsp:txBody>
      <dsp:txXfrm>
        <a:off x="4379894" y="1362477"/>
        <a:ext cx="1580713" cy="28609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EC9ED5-141F-9F4A-973C-5DC643B68E8F}" type="datetimeFigureOut">
              <a:rPr lang="en-US" smtClean="0"/>
              <a:t>9/4/25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8CF79C-27E8-8A4B-81A9-1A3D352B6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67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CF79C-27E8-8A4B-81A9-1A3D352B6C0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568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CF79C-27E8-8A4B-81A9-1A3D352B6C0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40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CF79C-27E8-8A4B-81A9-1A3D352B6C0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283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CF79C-27E8-8A4B-81A9-1A3D352B6C0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894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CF79C-27E8-8A4B-81A9-1A3D352B6C0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194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CF79C-27E8-8A4B-81A9-1A3D352B6C0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644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533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860962"/>
            <a:ext cx="11155680" cy="93428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922049"/>
            <a:ext cx="1115568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636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36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249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31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696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5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979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624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167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539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403" y="846673"/>
            <a:ext cx="11155680" cy="8602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403" y="1898592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98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74" r:id="rId6"/>
    <p:sldLayoutId id="2147483769" r:id="rId7"/>
    <p:sldLayoutId id="2147483770" r:id="rId8"/>
    <p:sldLayoutId id="2147483771" r:id="rId9"/>
    <p:sldLayoutId id="2147483773" r:id="rId10"/>
    <p:sldLayoutId id="214748377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F74CAF74-2415-4D2C-3817-9A16A9B56A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592" b="1115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E737A-586D-26BC-5ECB-5B2B432F7D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9897" y="250563"/>
            <a:ext cx="8196431" cy="960120"/>
          </a:xfrm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en-US" sz="4400" dirty="0"/>
              <a:t>The AI High – School of innovation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5E10E-1C7F-E586-AEDF-46CF040812CF}"/>
              </a:ext>
            </a:extLst>
          </p:cNvPr>
          <p:cNvSpPr txBox="1"/>
          <p:nvPr/>
        </p:nvSpPr>
        <p:spPr>
          <a:xfrm>
            <a:off x="7367720" y="6145772"/>
            <a:ext cx="4519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Brochure of classes – 2025/2026</a:t>
            </a:r>
          </a:p>
        </p:txBody>
      </p:sp>
    </p:spTree>
    <p:extLst>
      <p:ext uri="{BB962C8B-B14F-4D97-AF65-F5344CB8AC3E}">
        <p14:creationId xmlns:p14="http://schemas.microsoft.com/office/powerpoint/2010/main" val="28901447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Complex math formulas on a blackboard">
            <a:extLst>
              <a:ext uri="{FF2B5EF4-FFF2-40B4-BE49-F238E27FC236}">
                <a16:creationId xmlns:a16="http://schemas.microsoft.com/office/drawing/2014/main" id="{1E22BC5A-4CAB-3D12-496C-FC3E3806948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19104" b="3841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BD8DE6-9A88-9E21-4AD8-23F7203D5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7"/>
            <a:ext cx="5021182" cy="13338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Our Vision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E27A9-E7BE-287B-70DB-FD33138D5F89}"/>
              </a:ext>
            </a:extLst>
          </p:cNvPr>
          <p:cNvSpPr txBox="1"/>
          <p:nvPr/>
        </p:nvSpPr>
        <p:spPr>
          <a:xfrm>
            <a:off x="666346" y="3345396"/>
            <a:ext cx="108562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Empower high school students with the skills, knowledge, and critical thinking to thrive in AI driven future</a:t>
            </a:r>
          </a:p>
        </p:txBody>
      </p:sp>
    </p:spTree>
    <p:extLst>
      <p:ext uri="{BB962C8B-B14F-4D97-AF65-F5344CB8AC3E}">
        <p14:creationId xmlns:p14="http://schemas.microsoft.com/office/powerpoint/2010/main" val="31122054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03ED-5FA9-DB38-373A-51388308A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 the future (when high-schoolers graduate)….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FDB49-ABC0-2044-FCAB-EADAF41AB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AI will perform many tasks done by humans</a:t>
            </a:r>
          </a:p>
          <a:p>
            <a:pPr lvl="1"/>
            <a:r>
              <a:rPr lang="en-US" dirty="0"/>
              <a:t>Coding, drive-in order taking, surveillance, surgeries, agriculture, customer support…..</a:t>
            </a:r>
          </a:p>
          <a:p>
            <a:r>
              <a:rPr lang="en-US" dirty="0"/>
              <a:t>Humans will perform tasks that AI technology can not do</a:t>
            </a:r>
          </a:p>
          <a:p>
            <a:pPr lvl="1"/>
            <a:r>
              <a:rPr lang="en-US" dirty="0"/>
              <a:t>Manually prepare data</a:t>
            </a:r>
          </a:p>
          <a:p>
            <a:pPr lvl="1"/>
            <a:r>
              <a:rPr lang="en-US" dirty="0"/>
              <a:t>Build and optimize AI models</a:t>
            </a:r>
          </a:p>
          <a:p>
            <a:pPr lvl="1"/>
            <a:r>
              <a:rPr lang="en-US" dirty="0"/>
              <a:t>Manage product development</a:t>
            </a:r>
          </a:p>
          <a:p>
            <a:pPr lvl="1"/>
            <a:r>
              <a:rPr lang="en-US" dirty="0"/>
              <a:t>Test end-to-end app and user experience</a:t>
            </a:r>
          </a:p>
          <a:p>
            <a:pPr lvl="1"/>
            <a:r>
              <a:rPr lang="en-US" dirty="0"/>
              <a:t>Sales 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The goal of the classes is to enable students for their future</a:t>
            </a:r>
          </a:p>
          <a:p>
            <a:pPr lvl="1"/>
            <a:r>
              <a:rPr lang="en-US" dirty="0"/>
              <a:t>Hidden aspects of AI that are not taught in other places</a:t>
            </a:r>
          </a:p>
          <a:p>
            <a:pPr lvl="1"/>
            <a:r>
              <a:rPr lang="en-US" dirty="0"/>
              <a:t>Enable thinking as to how I best leverage the tools available to us</a:t>
            </a:r>
          </a:p>
          <a:p>
            <a:pPr lvl="1"/>
            <a:r>
              <a:rPr lang="en-US" dirty="0"/>
              <a:t>Use AI to code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738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10674-7305-394F-DEE7-44D557186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631567"/>
            <a:ext cx="11155680" cy="1463040"/>
          </a:xfrm>
        </p:spPr>
        <p:txBody>
          <a:bodyPr/>
          <a:lstStyle/>
          <a:p>
            <a:r>
              <a:rPr lang="en-US" dirty="0"/>
              <a:t>General philosophy 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5E4707D-80E1-0202-A181-BA1328E57F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5468753"/>
              </p:ext>
            </p:extLst>
          </p:nvPr>
        </p:nvGraphicFramePr>
        <p:xfrm>
          <a:off x="1033692" y="433027"/>
          <a:ext cx="6586308" cy="4330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7D5AB59-94E1-0DD5-6F77-94F560EB6E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3056909"/>
              </p:ext>
            </p:extLst>
          </p:nvPr>
        </p:nvGraphicFramePr>
        <p:xfrm>
          <a:off x="3287852" y="2678893"/>
          <a:ext cx="6586308" cy="4330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A4B8BF-076D-EB70-C556-0B55E0736936}"/>
              </a:ext>
            </a:extLst>
          </p:cNvPr>
          <p:cNvCxnSpPr/>
          <p:nvPr/>
        </p:nvCxnSpPr>
        <p:spPr>
          <a:xfrm flipV="1">
            <a:off x="1461247" y="1363087"/>
            <a:ext cx="8821271" cy="45446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C4D0A72-1811-24D9-5120-1EE97FF0F822}"/>
              </a:ext>
            </a:extLst>
          </p:cNvPr>
          <p:cNvSpPr txBox="1"/>
          <p:nvPr/>
        </p:nvSpPr>
        <p:spPr>
          <a:xfrm rot="20017529">
            <a:off x="2006913" y="3492012"/>
            <a:ext cx="5693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students interested in pursuing engineering studies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DD9DD-5145-D042-600B-2E6015AE5F5C}"/>
              </a:ext>
            </a:extLst>
          </p:cNvPr>
          <p:cNvSpPr txBox="1"/>
          <p:nvPr/>
        </p:nvSpPr>
        <p:spPr>
          <a:xfrm rot="19815732">
            <a:off x="5944561" y="5013380"/>
            <a:ext cx="5651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students interested in pursuing all other disciplines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FBAB4F-B559-E5A2-8993-E3E34C80A9BD}"/>
              </a:ext>
            </a:extLst>
          </p:cNvPr>
          <p:cNvSpPr txBox="1"/>
          <p:nvPr/>
        </p:nvSpPr>
        <p:spPr>
          <a:xfrm>
            <a:off x="8135532" y="886278"/>
            <a:ext cx="3652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to create artificial intelligence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E59211-DCEF-4831-6F00-7FD1295C8C53}"/>
              </a:ext>
            </a:extLst>
          </p:cNvPr>
          <p:cNvSpPr txBox="1"/>
          <p:nvPr/>
        </p:nvSpPr>
        <p:spPr>
          <a:xfrm>
            <a:off x="8246574" y="2456795"/>
            <a:ext cx="3379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to use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3344588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DF0FA-FAB5-03C3-DE4F-187E30E19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 of these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C90AD-2616-6957-91DF-E305FE70C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Everything not taught in other AI classes (and are challenges of AI industry today)</a:t>
            </a:r>
          </a:p>
          <a:p>
            <a:pPr lvl="1"/>
            <a:r>
              <a:rPr lang="en-US" dirty="0"/>
              <a:t>How ‘linear algebra’ translates into ‘intelligence’</a:t>
            </a:r>
          </a:p>
          <a:p>
            <a:pPr lvl="1"/>
            <a:r>
              <a:rPr lang="en-US" dirty="0"/>
              <a:t>Intuition behind the AI models</a:t>
            </a:r>
          </a:p>
          <a:p>
            <a:pPr lvl="1"/>
            <a:r>
              <a:rPr lang="en-US" dirty="0"/>
              <a:t>How important is data preparation</a:t>
            </a:r>
          </a:p>
          <a:p>
            <a:pPr lvl="1"/>
            <a:r>
              <a:rPr lang="en-US" dirty="0"/>
              <a:t>How can AI be used in the grand scheme of things</a:t>
            </a:r>
          </a:p>
          <a:p>
            <a:pPr lvl="1"/>
            <a:r>
              <a:rPr lang="en-US" dirty="0"/>
              <a:t>Putting AI in production and overcoming challenges</a:t>
            </a:r>
          </a:p>
          <a:p>
            <a:r>
              <a:rPr lang="en-US" dirty="0"/>
              <a:t>Build soft skills</a:t>
            </a:r>
          </a:p>
          <a:p>
            <a:pPr lvl="1"/>
            <a:r>
              <a:rPr lang="en-US" dirty="0"/>
              <a:t>A team structure to understand how AI projects work</a:t>
            </a:r>
          </a:p>
          <a:p>
            <a:r>
              <a:rPr lang="en-US" dirty="0"/>
              <a:t>Use state-of-the-art tools in the industry</a:t>
            </a:r>
          </a:p>
          <a:p>
            <a:pPr lvl="1"/>
            <a:r>
              <a:rPr lang="en-US" dirty="0" err="1"/>
              <a:t>Github</a:t>
            </a:r>
            <a:r>
              <a:rPr lang="en-US" dirty="0"/>
              <a:t>, </a:t>
            </a:r>
            <a:r>
              <a:rPr lang="en-US" dirty="0" err="1"/>
              <a:t>Colab</a:t>
            </a:r>
            <a:r>
              <a:rPr lang="en-US" dirty="0"/>
              <a:t>, </a:t>
            </a:r>
            <a:r>
              <a:rPr lang="en-US" dirty="0" err="1"/>
              <a:t>HuggingFace</a:t>
            </a:r>
            <a:r>
              <a:rPr lang="en-US" dirty="0"/>
              <a:t> …</a:t>
            </a:r>
          </a:p>
          <a:p>
            <a:r>
              <a:rPr lang="en-US" dirty="0"/>
              <a:t>Encourage innovative and critical thinking</a:t>
            </a:r>
          </a:p>
          <a:p>
            <a:pPr lvl="1"/>
            <a:r>
              <a:rPr lang="en-US" dirty="0"/>
              <a:t>Build real-life apps, publish and use them for college admissions</a:t>
            </a:r>
          </a:p>
          <a:p>
            <a:r>
              <a:rPr lang="en-US" dirty="0"/>
              <a:t>Focused more on AI model usage vs building AI models</a:t>
            </a:r>
          </a:p>
        </p:txBody>
      </p:sp>
    </p:spTree>
    <p:extLst>
      <p:ext uri="{BB962C8B-B14F-4D97-AF65-F5344CB8AC3E}">
        <p14:creationId xmlns:p14="http://schemas.microsoft.com/office/powerpoint/2010/main" val="3105776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3526C-35A4-B5A8-125C-89B83DD89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AE5D6-C3DB-3EB7-AAFD-19613FDC9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2112264"/>
            <a:ext cx="11155680" cy="3767328"/>
          </a:xfrm>
        </p:spPr>
        <p:txBody>
          <a:bodyPr>
            <a:normAutofit/>
          </a:bodyPr>
          <a:lstStyle/>
          <a:p>
            <a:r>
              <a:rPr lang="en-US" dirty="0"/>
              <a:t>Saturday Boot Camp</a:t>
            </a:r>
          </a:p>
          <a:p>
            <a:pPr lvl="1"/>
            <a:r>
              <a:rPr lang="en-US" dirty="0"/>
              <a:t>Theory and coding (Low-code approach. Use AI for coding).</a:t>
            </a:r>
          </a:p>
          <a:p>
            <a:pPr lvl="1"/>
            <a:r>
              <a:rPr lang="en-US" dirty="0"/>
              <a:t>Boot Camp Project </a:t>
            </a:r>
          </a:p>
          <a:p>
            <a:pPr lvl="2"/>
            <a:r>
              <a:rPr lang="en-US" dirty="0"/>
              <a:t>Come up with a real-life problem. Form a team. Present to the audience. (One week duration – offline with virtual presentation)</a:t>
            </a:r>
          </a:p>
          <a:p>
            <a:pPr lvl="1"/>
            <a:r>
              <a:rPr lang="en-US" dirty="0"/>
              <a:t>” Publication-ready” project </a:t>
            </a:r>
          </a:p>
          <a:p>
            <a:pPr lvl="2"/>
            <a:r>
              <a:rPr lang="en-US" dirty="0"/>
              <a:t>Same as above, but supervised by AI experts. (Three weeks duration – offline with virtual presentation)</a:t>
            </a:r>
          </a:p>
          <a:p>
            <a:r>
              <a:rPr lang="en-US" dirty="0"/>
              <a:t>Multiple courses</a:t>
            </a:r>
          </a:p>
          <a:p>
            <a:pPr lvl="1"/>
            <a:r>
              <a:rPr lang="en-US" dirty="0"/>
              <a:t>Each course will build on top of the previous one</a:t>
            </a:r>
          </a:p>
          <a:p>
            <a:pPr lvl="1"/>
            <a:r>
              <a:rPr lang="en-US" dirty="0"/>
              <a:t>Students will take a problem statement and improve it with each iteration</a:t>
            </a:r>
          </a:p>
          <a:p>
            <a:pPr lvl="1"/>
            <a:r>
              <a:rPr lang="en-US" dirty="0"/>
              <a:t>The projects will be published on GitHub for visibility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180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C31DD-17CE-A749-3472-07D0E0E3A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9CF39-8608-AB5B-E69E-7E7FBFF55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Fall 2025 - Focus on language apps</a:t>
            </a:r>
          </a:p>
          <a:p>
            <a:pPr lvl="1"/>
            <a:r>
              <a:rPr lang="en-US" dirty="0"/>
              <a:t>Class 1: Basics of AI</a:t>
            </a:r>
          </a:p>
          <a:p>
            <a:pPr lvl="2"/>
            <a:r>
              <a:rPr lang="en-US" dirty="0"/>
              <a:t>Intuition for AI, how AI model codes intelligence, models for images and languages, the need for data, popular AI resources, how to build AI applications using </a:t>
            </a:r>
            <a:r>
              <a:rPr lang="en-US" dirty="0" err="1"/>
              <a:t>HuggingFace</a:t>
            </a:r>
            <a:endParaRPr lang="en-US" dirty="0"/>
          </a:p>
          <a:p>
            <a:pPr lvl="2"/>
            <a:r>
              <a:rPr lang="en-US" dirty="0"/>
              <a:t>A project</a:t>
            </a:r>
          </a:p>
          <a:p>
            <a:pPr lvl="1"/>
            <a:r>
              <a:rPr lang="en-US" dirty="0"/>
              <a:t>Class 2: Building language-based AI applications</a:t>
            </a:r>
          </a:p>
          <a:p>
            <a:pPr lvl="2"/>
            <a:r>
              <a:rPr lang="en-US" dirty="0"/>
              <a:t>Fundamentals of language models, intuition in creating language models AI apps, prompt engineering, build a language AI application pipeline</a:t>
            </a:r>
          </a:p>
          <a:p>
            <a:pPr lvl="2"/>
            <a:r>
              <a:rPr lang="en-US" dirty="0"/>
              <a:t>Students come up with their own projects project</a:t>
            </a:r>
          </a:p>
          <a:p>
            <a:pPr lvl="1"/>
            <a:r>
              <a:rPr lang="en-US" dirty="0"/>
              <a:t>Class 3: Building own AI models</a:t>
            </a:r>
          </a:p>
          <a:p>
            <a:pPr lvl="2"/>
            <a:r>
              <a:rPr lang="en-US" dirty="0"/>
              <a:t>Teardown of AI models, using Keras, agents, and integrating agents to build apps, </a:t>
            </a:r>
          </a:p>
          <a:p>
            <a:pPr lvl="1"/>
            <a:r>
              <a:rPr lang="en-US" dirty="0"/>
              <a:t>Class 4: Retraining and customizing AI models</a:t>
            </a:r>
          </a:p>
          <a:p>
            <a:pPr lvl="2"/>
            <a:r>
              <a:rPr lang="en-US" dirty="0"/>
              <a:t>AI Model retraining, using data, customizing for use case, CI/CD pipelines</a:t>
            </a:r>
          </a:p>
          <a:p>
            <a:pPr lvl="2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624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6B14B-451F-46A7-BC14-31EECDF45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88D1E-8D9F-3458-ABC2-0929224F0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5D15A-562C-34A8-8D85-ED9CF5EF8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Spring 2026 - Focus on multi-modality (language + computer vision)</a:t>
            </a:r>
          </a:p>
          <a:p>
            <a:pPr lvl="1"/>
            <a:r>
              <a:rPr lang="en-US" dirty="0"/>
              <a:t>Jan: Basics of computer vision</a:t>
            </a:r>
          </a:p>
          <a:p>
            <a:pPr lvl="2"/>
            <a:r>
              <a:rPr lang="en-US" dirty="0"/>
              <a:t>Computer vision vs language AI, vision/language/multimodal languages, data aspects, AI applications and use cases, application pipeline, resources </a:t>
            </a:r>
          </a:p>
          <a:p>
            <a:pPr lvl="1"/>
            <a:r>
              <a:rPr lang="en-US" dirty="0"/>
              <a:t>Feb: Building vision application pipelines</a:t>
            </a:r>
          </a:p>
          <a:p>
            <a:pPr lvl="2"/>
            <a:r>
              <a:rPr lang="en-US" dirty="0"/>
              <a:t>Text/image combination, Generative AI apps,  application pipeline, and publish AI apps </a:t>
            </a:r>
          </a:p>
          <a:p>
            <a:pPr lvl="1"/>
            <a:r>
              <a:rPr lang="en-US" dirty="0"/>
              <a:t>Mar: Multi-modal AI models and applications</a:t>
            </a:r>
          </a:p>
          <a:p>
            <a:pPr lvl="2"/>
            <a:r>
              <a:rPr lang="en-US" dirty="0"/>
              <a:t>What are Agents, how to integrate agents and AI to build apps,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832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D0411-027B-B29B-F4D9-0C1958864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FC4E9-5CC2-1718-3DA5-63CC052C7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Serious students only, please</a:t>
            </a:r>
          </a:p>
          <a:p>
            <a:pPr lvl="1"/>
            <a:r>
              <a:rPr lang="en-US" dirty="0"/>
              <a:t>Committed students with an interest in AI</a:t>
            </a:r>
          </a:p>
          <a:p>
            <a:pPr lvl="1"/>
            <a:r>
              <a:rPr lang="en-US" dirty="0"/>
              <a:t>Students with ideas on how to use or build AI</a:t>
            </a:r>
          </a:p>
          <a:p>
            <a:pPr lvl="1"/>
            <a:r>
              <a:rPr lang="en-US" dirty="0"/>
              <a:t>Students wanting to leverage AI for college admission </a:t>
            </a:r>
          </a:p>
          <a:p>
            <a:pPr lvl="1"/>
            <a:r>
              <a:rPr lang="en-US" dirty="0"/>
              <a:t>Students with ambitions to approach </a:t>
            </a:r>
            <a:r>
              <a:rPr lang="en-US" dirty="0" err="1"/>
              <a:t>YCombinator</a:t>
            </a:r>
            <a:r>
              <a:rPr lang="en-US" dirty="0"/>
              <a:t> like projects</a:t>
            </a:r>
          </a:p>
        </p:txBody>
      </p:sp>
    </p:spTree>
    <p:extLst>
      <p:ext uri="{BB962C8B-B14F-4D97-AF65-F5344CB8AC3E}">
        <p14:creationId xmlns:p14="http://schemas.microsoft.com/office/powerpoint/2010/main" val="139680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6CFC1-4649-5913-9FC3-C896130EB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Guest speakers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72682-2E03-C942-66D0-FBB026FE4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course will feature an expert guest speaker from the industry</a:t>
            </a:r>
          </a:p>
          <a:p>
            <a:r>
              <a:rPr lang="en-US" dirty="0"/>
              <a:t>The speaker will give students an overview of how AI is being used and changing their industry</a:t>
            </a:r>
          </a:p>
          <a:p>
            <a:r>
              <a:rPr lang="en-US" dirty="0"/>
              <a:t>Tentative speakers</a:t>
            </a:r>
          </a:p>
          <a:p>
            <a:pPr lvl="1"/>
            <a:r>
              <a:rPr lang="en-US" dirty="0"/>
              <a:t>Meta HR Dir – How to land an internship at Meta</a:t>
            </a:r>
          </a:p>
          <a:p>
            <a:pPr lvl="1"/>
            <a:r>
              <a:rPr lang="en-US" dirty="0"/>
              <a:t>Genentech VP Data Science: Using AI in biotech and</a:t>
            </a:r>
          </a:p>
          <a:p>
            <a:pPr lvl="1"/>
            <a:r>
              <a:rPr lang="en-US" dirty="0"/>
              <a:t>Amazon Dir: How AI is used for Rufus (Amazon’s virtual agent)</a:t>
            </a:r>
          </a:p>
          <a:p>
            <a:pPr lvl="1"/>
            <a:r>
              <a:rPr lang="en-US" dirty="0"/>
              <a:t>….</a:t>
            </a:r>
          </a:p>
          <a:p>
            <a:r>
              <a:rPr lang="en-US" dirty="0"/>
              <a:t>Students are encouraged to keep in touch with the speakers to learn more and land opportunities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425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4E42-704D-EAC6-A5D5-E6136733B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course - timetable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810B3-F06C-6636-7331-9DB701F17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Date: Oct 3, 2025</a:t>
            </a:r>
          </a:p>
          <a:p>
            <a:r>
              <a:rPr lang="en-US" dirty="0"/>
              <a:t>Time: 9 AM – 3 PM</a:t>
            </a:r>
          </a:p>
          <a:p>
            <a:r>
              <a:rPr lang="en-US" dirty="0"/>
              <a:t>Fees: $300/student</a:t>
            </a:r>
          </a:p>
          <a:p>
            <a:r>
              <a:rPr lang="en-US" dirty="0"/>
              <a:t>Optional Project: $500/student</a:t>
            </a:r>
          </a:p>
          <a:p>
            <a:pPr lvl="1"/>
            <a:r>
              <a:rPr lang="en-US" dirty="0"/>
              <a:t>Students must form a team and come up with an idea (we will support the ideation and feasibility)</a:t>
            </a:r>
          </a:p>
          <a:p>
            <a:pPr lvl="1"/>
            <a:r>
              <a:rPr lang="en-US" dirty="0"/>
              <a:t>Up to 4 students in a team who focus on different aspects of application building</a:t>
            </a:r>
          </a:p>
          <a:p>
            <a:pPr lvl="1"/>
            <a:r>
              <a:rPr lang="en-US" dirty="0"/>
              <a:t>The team will be paired with an AI expert.</a:t>
            </a:r>
          </a:p>
          <a:p>
            <a:pPr lvl="1"/>
            <a:r>
              <a:rPr lang="en-US" dirty="0"/>
              <a:t>Students should set up a weekly meeting and present updates on Sunday to the instructor and the rest of the teams</a:t>
            </a:r>
          </a:p>
          <a:p>
            <a:pPr lvl="1"/>
            <a:r>
              <a:rPr lang="en-US" dirty="0"/>
              <a:t>Limited to 4 teams each class</a:t>
            </a:r>
          </a:p>
          <a:p>
            <a:pPr lvl="1"/>
            <a:r>
              <a:rPr lang="en-US" dirty="0"/>
              <a:t>The project will renew each class and students will continue to improve till it's publication/</a:t>
            </a:r>
            <a:r>
              <a:rPr lang="en-US" dirty="0" err="1"/>
              <a:t>Github</a:t>
            </a:r>
            <a:r>
              <a:rPr lang="en-US" dirty="0"/>
              <a:t> ready</a:t>
            </a:r>
          </a:p>
          <a:p>
            <a:r>
              <a:rPr lang="en-US" dirty="0"/>
              <a:t>Guest speaker: TBD</a:t>
            </a:r>
          </a:p>
        </p:txBody>
      </p:sp>
    </p:spTree>
    <p:extLst>
      <p:ext uri="{BB962C8B-B14F-4D97-AF65-F5344CB8AC3E}">
        <p14:creationId xmlns:p14="http://schemas.microsoft.com/office/powerpoint/2010/main" val="225136526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18241</TotalTime>
  <Words>857</Words>
  <Application>Microsoft Macintosh PowerPoint</Application>
  <PresentationFormat>Widescreen</PresentationFormat>
  <Paragraphs>107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Bierstadt</vt:lpstr>
      <vt:lpstr>GestaltVTI</vt:lpstr>
      <vt:lpstr>The AI High – School of innovation</vt:lpstr>
      <vt:lpstr>Our Vision</vt:lpstr>
      <vt:lpstr>In the future (when high-schoolers graduate)….</vt:lpstr>
      <vt:lpstr>General philosophy </vt:lpstr>
      <vt:lpstr>Focus of these classes</vt:lpstr>
      <vt:lpstr>Course Plan</vt:lpstr>
      <vt:lpstr>Schedule</vt:lpstr>
      <vt:lpstr>Schedule</vt:lpstr>
      <vt:lpstr>Expectations</vt:lpstr>
      <vt:lpstr>Guest speakers</vt:lpstr>
      <vt:lpstr>First course - timetable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Joshi</dc:creator>
  <cp:lastModifiedBy>Anand Joshi</cp:lastModifiedBy>
  <cp:revision>58</cp:revision>
  <dcterms:created xsi:type="dcterms:W3CDTF">2025-08-22T23:55:51Z</dcterms:created>
  <dcterms:modified xsi:type="dcterms:W3CDTF">2025-09-05T23:34:31Z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fbee0dc-6f33-415c-b76b-0932324fc5a5_Enabled">
    <vt:lpwstr>true</vt:lpwstr>
  </property>
  <property fmtid="{D5CDD505-2E9C-101B-9397-08002B2CF9AE}" pid="3" name="MSIP_Label_dfbee0dc-6f33-415c-b76b-0932324fc5a5_SetDate">
    <vt:lpwstr>2025-08-22T23:57:26Z</vt:lpwstr>
  </property>
  <property fmtid="{D5CDD505-2E9C-101B-9397-08002B2CF9AE}" pid="4" name="MSIP_Label_dfbee0dc-6f33-415c-b76b-0932324fc5a5_Method">
    <vt:lpwstr>Standard</vt:lpwstr>
  </property>
  <property fmtid="{D5CDD505-2E9C-101B-9397-08002B2CF9AE}" pid="5" name="MSIP_Label_dfbee0dc-6f33-415c-b76b-0932324fc5a5_Name">
    <vt:lpwstr>defa4170-0d19-0005-0004-bc88714345d2</vt:lpwstr>
  </property>
  <property fmtid="{D5CDD505-2E9C-101B-9397-08002B2CF9AE}" pid="6" name="MSIP_Label_dfbee0dc-6f33-415c-b76b-0932324fc5a5_SiteId">
    <vt:lpwstr>31ef0b60-afc5-4125-80a5-2b4ee289e2d7</vt:lpwstr>
  </property>
  <property fmtid="{D5CDD505-2E9C-101B-9397-08002B2CF9AE}" pid="7" name="MSIP_Label_dfbee0dc-6f33-415c-b76b-0932324fc5a5_ActionId">
    <vt:lpwstr>0e9acb47-9517-460c-b674-e04b1e1c2c04</vt:lpwstr>
  </property>
  <property fmtid="{D5CDD505-2E9C-101B-9397-08002B2CF9AE}" pid="8" name="MSIP_Label_dfbee0dc-6f33-415c-b76b-0932324fc5a5_ContentBits">
    <vt:lpwstr>0</vt:lpwstr>
  </property>
  <property fmtid="{D5CDD505-2E9C-101B-9397-08002B2CF9AE}" pid="9" name="MSIP_Label_dfbee0dc-6f33-415c-b76b-0932324fc5a5_Tag">
    <vt:lpwstr>50, 3, 0, 1</vt:lpwstr>
  </property>
</Properties>
</file>